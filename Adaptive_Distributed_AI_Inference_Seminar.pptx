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548640"/>
            <a:ext cx="11640312" cy="1905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831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6EDF3"/>
                </a:solidFill>
                <a:latin typeface="Calibri"/>
              </a:rPr>
              <a:t>ADAPTIVE DISTRIBUTED AI INFERENCE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58A6FF"/>
                </a:solidFill>
                <a:latin typeface="Calibri"/>
              </a:rPr>
              <a:t>IN HETEROGENEOUS EDGE NETWORKS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06040"/>
            <a:ext cx="111831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Calibri"/>
              </a:rPr>
              <a:t>Three research directions  ·  One problem space  ·  From scheduling to orchestration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349240"/>
            <a:ext cx="11640312" cy="1905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58A6FF"/>
                </a:solidFill>
                <a:latin typeface="Calibri"/>
              </a:rPr>
              <a:t>PAPER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564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ASET — Adaptive 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2004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3FB950"/>
                </a:solidFill>
                <a:latin typeface="Calibri"/>
              </a:rPr>
              <a:t>PAPER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45643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Flocky — Decentralized Orchestration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2004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78166"/>
                </a:solidFill>
                <a:latin typeface="Calibri"/>
              </a:rPr>
              <a:t>PAPER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4564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DATOR — Dynamic Inference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4256" y="3108960"/>
            <a:ext cx="18288" cy="8229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57616" y="3108960"/>
            <a:ext cx="18288" cy="8229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5595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  <a:latin typeface="Calibri"/>
              </a:rPr>
              <a:t>Presented 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77900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EDF3"/>
                </a:solidFill>
                <a:latin typeface="Calibri"/>
              </a:rPr>
              <a:t>Arjun A S  ·  SCT23CS017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71616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Dept. of Computer Science &amp; Engineering  ·  Sree Chitra Thirunal College of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577900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3B341"/>
                </a:solidFill>
                <a:latin typeface="Calibri"/>
              </a:rPr>
              <a:t>Guide: Prof. Arun 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6EDF3"/>
                </a:solidFill>
                <a:latin typeface="Calibri"/>
              </a:rPr>
              <a:t>Why does edge AI need smarter coordination?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78992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2004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alibri"/>
              </a:rPr>
              <a:t>Variable 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1790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Nodes range from microcontrollers to GPUs — no uniform capacity.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29968"/>
            <a:ext cx="32004" cy="502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02996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  <a:latin typeface="Calibri"/>
              </a:rPr>
              <a:t>Changing 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2677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Network delay shifts constantly across edge hops.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79776"/>
            <a:ext cx="32004" cy="50292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7797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78166"/>
                </a:solidFill>
                <a:latin typeface="Calibri"/>
              </a:rPr>
              <a:t>Node Overload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0175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Hot-spots form; nearby resources saturate under burst traffic.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9584"/>
            <a:ext cx="32004" cy="50292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95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3B341"/>
                </a:solidFill>
                <a:latin typeface="Calibri"/>
              </a:rPr>
              <a:t>Disconnections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Edge nodes drop off; inference pipelines must survive failure.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79392"/>
            <a:ext cx="32004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793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alibri"/>
              </a:rPr>
              <a:t>Real-time Demands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1713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AI inference must meet strict end-to-end latency targets.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1280160"/>
            <a:ext cx="5120640" cy="4389120"/>
          </a:xfrm>
          <a:prstGeom prst="rect">
            <a:avLst/>
          </a:prstGeom>
          <a:solidFill>
            <a:srgbClr val="161B22"/>
          </a:solidFill>
          <a:ln w="1524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15087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THE CENTRAL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182880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"Who should process
this workload right now?"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38328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As the environment changes — load, latency, node state —
the answer changes too. A fixed rule cannot keep up.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080760"/>
            <a:ext cx="11183112" cy="50292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172200"/>
            <a:ext cx="10817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EDF3"/>
                </a:solidFill>
                <a:latin typeface="Calibri"/>
              </a:rPr>
              <a:t>Edge environments require coordination strategies that are state-aware, decentralized, and resilient.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B341"/>
                </a:solidFill>
                <a:latin typeface="Calibri"/>
              </a:rP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6EDF3"/>
                </a:solidFill>
                <a:latin typeface="Calibri"/>
              </a:rPr>
              <a:t>The Edge Inference Coordination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77840" cy="84124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" cy="8412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5331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alibri"/>
              </a:rPr>
              <a:t>HETEROGENEITY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5212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Edge nodes vary in CPU/GPU, memory, OS, and connectivity. A single scheduling rule cannot suit all device types.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31136"/>
            <a:ext cx="5577840" cy="84124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231136"/>
            <a:ext cx="54864" cy="8412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0428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  <a:latin typeface="Calibri"/>
              </a:rPr>
              <a:t>SCHEDULING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60320"/>
            <a:ext cx="5212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Deciding which model variant runs on which resource cluster to meet latency, accuracy, and throughput constraints.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182112"/>
            <a:ext cx="5577840" cy="84124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182112"/>
            <a:ext cx="54864" cy="841248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5526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78166"/>
                </a:solidFill>
                <a:latin typeface="Calibri"/>
              </a:rPr>
              <a:t>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511296"/>
            <a:ext cx="5212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Coordinating the deployment, placement, and lifecycle of application components across a distributed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33088"/>
            <a:ext cx="5577840" cy="84124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33088"/>
            <a:ext cx="54864" cy="84124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062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3B341"/>
                </a:solidFill>
                <a:latin typeface="Calibri"/>
              </a:rPr>
              <a:t>ADAPTATION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462272"/>
            <a:ext cx="5212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Continuously revising coordination decisions as workload, resource state, and network conditions change over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1280160"/>
            <a:ext cx="4297680" cy="566928"/>
          </a:xfrm>
          <a:prstGeom prst="rect">
            <a:avLst/>
          </a:prstGeom>
          <a:solidFill>
            <a:srgbClr val="1C2331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1280160"/>
            <a:ext cx="4297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8A6FF"/>
                </a:solidFill>
                <a:latin typeface="Calibri"/>
              </a:rPr>
              <a:t>DISCOVER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8470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148840"/>
            <a:ext cx="4297680" cy="566928"/>
          </a:xfrm>
          <a:prstGeom prst="rect">
            <a:avLst/>
          </a:prstGeom>
          <a:solidFill>
            <a:srgbClr val="1C2331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148840"/>
            <a:ext cx="4297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FB950"/>
                </a:solidFill>
                <a:latin typeface="Calibri"/>
              </a:rPr>
              <a:t>SCHEDULE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7157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3017520"/>
            <a:ext cx="4297680" cy="566928"/>
          </a:xfrm>
          <a:prstGeom prst="rect">
            <a:avLst/>
          </a:prstGeom>
          <a:solidFill>
            <a:srgbClr val="1C2331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3017520"/>
            <a:ext cx="4297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78166"/>
                </a:solidFill>
                <a:latin typeface="Calibri"/>
              </a:rPr>
              <a:t>DEPLOY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584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886200"/>
            <a:ext cx="4297680" cy="566928"/>
          </a:xfrm>
          <a:prstGeom prst="rect">
            <a:avLst/>
          </a:prstGeom>
          <a:solidFill>
            <a:srgbClr val="1C2331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0" y="3886200"/>
            <a:ext cx="4297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3B341"/>
                </a:solidFill>
                <a:latin typeface="Calibri"/>
              </a:rPr>
              <a:t>EXECUTE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4531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4754880"/>
            <a:ext cx="4297680" cy="566928"/>
          </a:xfrm>
          <a:prstGeom prst="rect">
            <a:avLst/>
          </a:prstGeom>
          <a:solidFill>
            <a:srgbClr val="58A6FF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4754880"/>
            <a:ext cx="4297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117"/>
                </a:solidFill>
                <a:latin typeface="Calibri"/>
              </a:rPr>
              <a:t>ADAPT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571500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  <a:latin typeface="Calibri"/>
              </a:rPr>
              <a:t>Coordination lifecycle at the edge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6EDF3"/>
                </a:solidFill>
                <a:latin typeface="Calibri"/>
              </a:rPr>
              <a:t>SEMINAR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6EDF3"/>
                </a:solidFill>
                <a:latin typeface="Calibri"/>
              </a:rPr>
              <a:t>Three Papers · One Problem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51560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11183112" cy="254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28832" y="2322576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0363D"/>
                </a:solidFill>
                <a:latin typeface="Calibri"/>
              </a:rPr>
              <a:t>►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3474720" cy="507492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347472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71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PAPER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6002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Calibri"/>
              </a:rPr>
              <a:t>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Calibri"/>
              </a:rPr>
              <a:t>Adaptive Scheduling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487168"/>
            <a:ext cx="3108960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06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Calibri"/>
              </a:rPr>
              <a:t>"Which scheduling policy
should I use right now?"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3108960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DQN · Meta-scheduler · Policy selection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069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58A6FF"/>
                </a:solidFill>
                <a:latin typeface="Calibri"/>
              </a:rPr>
              <a:t>ADAPTIVE
DECISION MAKING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34440"/>
            <a:ext cx="3474720" cy="507492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34440"/>
            <a:ext cx="347472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1371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PAPER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16002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Calibri"/>
              </a:rPr>
              <a:t>Flocky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Decentralized Orchestration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2487168"/>
            <a:ext cx="3108960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606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Calibri"/>
              </a:rPr>
              <a:t>"How can nodes coordinate
without a central controller?"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3456432"/>
            <a:ext cx="3108960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3566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Intent · OAM · Metadata · Discovery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069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3FB950"/>
                </a:solidFill>
                <a:latin typeface="Calibri"/>
              </a:rPr>
              <a:t>DECENTRALIZED
COORDINATION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1234440"/>
            <a:ext cx="3474720" cy="5074920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01000" y="1234440"/>
            <a:ext cx="3474720" cy="54864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1371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PAPER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16002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Calibri"/>
              </a:rPr>
              <a:t>DATOR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21488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78166"/>
                </a:solidFill>
                <a:latin typeface="Calibri"/>
              </a:rPr>
              <a:t>Dynamic Distributed Inference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80" y="2487168"/>
            <a:ext cx="3108960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260604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Calibri"/>
              </a:rPr>
              <a:t>"How can inference survive
node and link changes?"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83880" y="3456432"/>
            <a:ext cx="3108960" cy="9525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83880" y="3566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Multi-stage · Rerouting · Self-organization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80" y="4069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78166"/>
                </a:solidFill>
                <a:latin typeface="Calibri"/>
              </a:rPr>
              <a:t>DYNAMIC EXECUTION
&amp; 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0080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8B949E"/>
                </a:solidFill>
                <a:latin typeface="Calibri"/>
              </a:rPr>
              <a:t>SCHEDULING  →  ORCHESTRATION  →  RESILIENT INFERENCE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PAPER 1 OF 3  ·  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58A6FF"/>
                </a:solidFill>
                <a:latin typeface="Calibri"/>
              </a:rPr>
              <a:t>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Calibri"/>
              </a:rPr>
              <a:t>Adaptive Scheduling for Edge &amp; Cloud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7772400" cy="1920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58A6FF"/>
                </a:solidFill>
                <a:latin typeface="Calibri"/>
              </a:rPr>
              <a:t>FULL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10312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"Scheduling Inference Workloads in the Computing Continuum with Reinforcement Learning"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2374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58A6FF"/>
                </a:solidFill>
                <a:latin typeface="Calibri"/>
              </a:rPr>
              <a:t>AUTHORS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523744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G. Castellano, J-J. Nieto, A. Angi, F. Á. Terribas, J. Luque, F. D. Andilla, A. Sacco, F. Esposito, F. Risso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443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58A6FF"/>
                </a:solidFill>
                <a:latin typeface="Calibri"/>
              </a:rPr>
              <a:t>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94436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IEEE ICDCS Workshops 2025  ·  pp. 297–302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6499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58A6FF"/>
                </a:solidFill>
                <a:latin typeface="Calibri"/>
              </a:rPr>
              <a:t>DOI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364992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10.1109/ICDCSW63273.2025.00056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2011680"/>
            <a:ext cx="3429000" cy="1920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1031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D1117"/>
                </a:solidFill>
                <a:latin typeface="Calibri"/>
              </a:rPr>
              <a:t>ROLE IN SEMINAR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35915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1117"/>
                </a:solidFill>
                <a:latin typeface="Calibri"/>
              </a:rPr>
              <a:t>LAYER 1
Adaptive
Decision Making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11183112" cy="155448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793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CORE IDEA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72000"/>
            <a:ext cx="108173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Instead of fixing one scheduling rule, ASET uses Deep Reinforcement Learning to select the most appropriate scheduling policy for the current system state. It is a meta-scheduler: the RL agent chooses which policy to apply; the chosen policy performs the actual mapping of inference streams to model variants and cluster resources.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ASET  ·  PROBLEM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Scheduling DNN Inference Across the Continuum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3291840" cy="34747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6128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D1117"/>
                </a:solidFill>
                <a:latin typeface="Calibri"/>
              </a:rPr>
              <a:t>INFERENCE STREAM
REQUIREMENTS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90472"/>
            <a:ext cx="3291840" cy="228600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" y="1664208"/>
            <a:ext cx="54864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1600200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Max end-to-end delay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084832"/>
            <a:ext cx="54864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2020824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Min accuracy (mAP)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" y="2505456"/>
            <a:ext cx="54864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441448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Input / data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" y="2926080"/>
            <a:ext cx="54864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2862072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Input size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1143000"/>
            <a:ext cx="3291840" cy="347472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116128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D1117"/>
                </a:solidFill>
                <a:latin typeface="Calibri"/>
              </a:rPr>
              <a:t>MODEL VARIANTS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1490472"/>
            <a:ext cx="3291840" cy="2286000"/>
          </a:xfrm>
          <a:prstGeom prst="rect">
            <a:avLst/>
          </a:prstGeom>
          <a:solidFill>
            <a:srgbClr val="161B22"/>
          </a:solidFill>
          <a:ln w="9525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87952" y="1664208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34256" y="1600200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Accuracy / mAP level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87952" y="2084832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6" y="2020824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Processing delay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87952" y="2505456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2441448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Throughput capacity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7952" y="2926080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2862072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CPU/GPU config · batch size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87952" y="3346704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34256" y="3282696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Number of replicas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1143000"/>
            <a:ext cx="3291840" cy="34747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116128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D1117"/>
                </a:solidFill>
                <a:latin typeface="Calibri"/>
              </a:rPr>
              <a:t>RESOURCE CLUSTERS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1490472"/>
            <a:ext cx="3291840" cy="2286000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8392" y="1664208"/>
            <a:ext cx="54864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54696" y="1600200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Edge / access network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08392" y="2084832"/>
            <a:ext cx="54864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54696" y="2020824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Central-office resources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08392" y="2505456"/>
            <a:ext cx="54864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54696" y="2441448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ISP / data-centre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08392" y="2926080"/>
            <a:ext cx="54864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54696" y="2862072"/>
            <a:ext cx="2880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Cloud resources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37947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40680" y="37947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37947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60520"/>
            <a:ext cx="11183112" cy="685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178808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D1117"/>
                </a:solidFill>
                <a:latin typeface="Calibri"/>
              </a:rPr>
              <a:t>SCHEDULING DECISION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40740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117"/>
                </a:solidFill>
                <a:latin typeface="Calibri"/>
              </a:rPr>
              <a:t>Select a feasible model variant  +  target cluster  such that all application constraints are satisfied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0" y="4892040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5257800"/>
            <a:ext cx="7680960" cy="566928"/>
          </a:xfrm>
          <a:prstGeom prst="rect">
            <a:avLst/>
          </a:prstGeom>
          <a:solidFill>
            <a:srgbClr val="1C2331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68880" y="53035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E3B341"/>
                </a:solidFill>
                <a:latin typeface="Calibri"/>
              </a:rPr>
              <a:t>OBJECTIVE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11880" y="5303520"/>
            <a:ext cx="6172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Maximize the fraction of successfully served inference queries while meeting stream constraints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ASET  ·  STATIC SCHEDULING POLICIES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Why a Single Fixed Policy Is Insufficient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394960" cy="71323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36576" cy="7132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4358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Calibri"/>
              </a:rPr>
              <a:t>CLOSEST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243584"/>
            <a:ext cx="3017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Choose the resource minimising network distance / delay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11680"/>
            <a:ext cx="5394960" cy="71323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36576" cy="71323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665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LOAD BALANCING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066544"/>
            <a:ext cx="3017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Prefer the resource with the lowest current load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34640"/>
            <a:ext cx="5394960" cy="71323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834640"/>
            <a:ext cx="36576" cy="713232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8950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78166"/>
                </a:solidFill>
                <a:latin typeface="Calibri"/>
              </a:rPr>
              <a:t>FARTHEST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889504"/>
            <a:ext cx="3017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Prefer farther resources to preserve nearby edge capacity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5394960" cy="71323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657600"/>
            <a:ext cx="36576" cy="713232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124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  <a:latin typeface="Calibri"/>
              </a:rPr>
              <a:t>CHEAPER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712464"/>
            <a:ext cx="3017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Cost-oriented selection within the available delay budget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480560"/>
            <a:ext cx="5394960" cy="713232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480560"/>
            <a:ext cx="36576" cy="713232"/>
          </a:xfrm>
          <a:prstGeom prst="rect">
            <a:avLst/>
          </a:prstGeom>
          <a:solidFill>
            <a:srgbClr val="E6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354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EDF3"/>
                </a:solidFill>
                <a:latin typeface="Calibri"/>
              </a:rPr>
              <a:t>LEAST IMPEDANCE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535424"/>
            <a:ext cx="3017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Prefer the option with minimum end-to-end latency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1188720"/>
            <a:ext cx="5257800" cy="5074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132588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THE LIMITATION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16916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B949E"/>
                </a:solidFill>
                <a:latin typeface="Calibri"/>
              </a:rPr>
              <a:t>LOW 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19659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FB950"/>
                </a:solidFill>
                <a:latin typeface="Calibri"/>
              </a:rPr>
              <a:t>Nearby edge node → ✓ ideal (low latency)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2331720"/>
            <a:ext cx="4663440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246888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B949E"/>
                </a:solidFill>
                <a:latin typeface="Calibri"/>
              </a:rPr>
              <a:t>HIGH LOAD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7432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78166"/>
                </a:solidFill>
                <a:latin typeface="Calibri"/>
              </a:rPr>
              <a:t>Same node → ✗ overloaded, QoS violated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3108960"/>
            <a:ext cx="4663440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0" y="32461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8B949E"/>
                </a:solidFill>
                <a:latin typeface="Calibri"/>
              </a:rPr>
              <a:t>CHANGING CONDITIONS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5204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Network delay shifts · arrival rates vary · best
policy can change within minutes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0" y="4206240"/>
            <a:ext cx="4663440" cy="9144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66560" y="4297680"/>
            <a:ext cx="448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Calibri"/>
              </a:rPr>
              <a:t>No single static policy remains optimal
across all workload and topology conditions.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ASET  · 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Reinforcement Learning as a Meta-Scheduler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1143000"/>
            <a:ext cx="3749039" cy="1463040"/>
          </a:xfrm>
          <a:prstGeom prst="rect">
            <a:avLst/>
          </a:prstGeom>
          <a:solidFill>
            <a:srgbClr val="1C2331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234440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KEY DISTINCTION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508760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ASET does NOT directly
learn which node to use.
It learns WHICH POLICY to
apply given the current state.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170432"/>
            <a:ext cx="4206240" cy="658368"/>
          </a:xfrm>
          <a:prstGeom prst="rect">
            <a:avLst/>
          </a:prstGeom>
          <a:solidFill>
            <a:srgbClr val="1C2331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16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alibri"/>
              </a:rPr>
              <a:t>SYSTEM 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49961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Applications · network · arrivals · 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457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38528"/>
            <a:ext cx="4206240" cy="658368"/>
          </a:xfrm>
          <a:prstGeom prst="rect">
            <a:avLst/>
          </a:prstGeom>
          <a:solidFill>
            <a:srgbClr val="58A6FF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98424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1117"/>
                </a:solidFill>
                <a:latin typeface="Calibri"/>
              </a:rPr>
              <a:t>RL AGENT (DQN)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6771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Estimates Q-values for each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596896"/>
            <a:ext cx="457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706624"/>
            <a:ext cx="4206240" cy="658368"/>
          </a:xfrm>
          <a:prstGeom prst="rect">
            <a:avLst/>
          </a:prstGeom>
          <a:solidFill>
            <a:srgbClr val="1C2331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5234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alibri"/>
              </a:rPr>
              <a:t>SELECT POLICY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035808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e.g. Load Balancing / Closest / Farthest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364992"/>
            <a:ext cx="457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4206240" cy="658368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204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EDF3"/>
                </a:solidFill>
                <a:latin typeface="Calibri"/>
              </a:rPr>
              <a:t>POLICY EXECUTES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03904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Maps streams → model variants → clusters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133088"/>
            <a:ext cx="457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42816"/>
            <a:ext cx="4206240" cy="658368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28853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EDF3"/>
                </a:solidFill>
                <a:latin typeface="Calibri"/>
              </a:rPr>
              <a:t>OUTCOME OBSERVED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57200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QoS success/failure · service 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4901184"/>
            <a:ext cx="4572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010912"/>
            <a:ext cx="4206240" cy="658368"/>
          </a:xfrm>
          <a:prstGeom prst="rect">
            <a:avLst/>
          </a:prstGeom>
          <a:solidFill>
            <a:srgbClr val="3FB950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5663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1117"/>
                </a:solidFill>
                <a:latin typeface="Calibri"/>
              </a:rPr>
              <a:t>REWARD SIGNAL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4009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Successful query ratio · constraint adherence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83480" y="1499616"/>
            <a:ext cx="18288" cy="38404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09160" y="1499616"/>
            <a:ext cx="292608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09160" y="5340096"/>
            <a:ext cx="292608" cy="1828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32004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FEEDBACK
LOOP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1271016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8A6FF"/>
                </a:solidFill>
                <a:latin typeface="Calibri"/>
              </a:rPr>
              <a:t>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15000" y="2651760"/>
            <a:ext cx="6126480" cy="33375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97880" y="278892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B341"/>
                </a:solidFill>
                <a:latin typeface="Calibri"/>
              </a:rPr>
              <a:t>SCHEDULING TIME WINDOW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304495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3B341"/>
                </a:solidFill>
                <a:latin typeface="Calibri"/>
              </a:rPr>
              <a:t>T = 25 seconds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354787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Policy selected at each interval
and held for the duration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97880" y="4133087"/>
            <a:ext cx="5577840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97880" y="427024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MODEL VARIANTS PROFILED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4572000"/>
            <a:ext cx="1645920" cy="365760"/>
          </a:xfrm>
          <a:prstGeom prst="rect">
            <a:avLst/>
          </a:prstGeom>
          <a:solidFill>
            <a:srgbClr val="1C2331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9788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E6EDF3"/>
                </a:solidFill>
                <a:latin typeface="Calibri"/>
              </a:rPr>
              <a:t>MobileNet-SSD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26680" y="4572000"/>
            <a:ext cx="1645920" cy="365760"/>
          </a:xfrm>
          <a:prstGeom prst="rect">
            <a:avLst/>
          </a:prstGeom>
          <a:solidFill>
            <a:srgbClr val="1C2331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2668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E6EDF3"/>
                </a:solidFill>
                <a:latin typeface="Calibri"/>
              </a:rPr>
              <a:t>YOLO-v3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55480" y="4572000"/>
            <a:ext cx="1645920" cy="365760"/>
          </a:xfrm>
          <a:prstGeom prst="rect">
            <a:avLst/>
          </a:prstGeom>
          <a:solidFill>
            <a:srgbClr val="1C2331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55480" y="4572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E6EDF3"/>
                </a:solidFill>
                <a:latin typeface="Calibri"/>
              </a:rPr>
              <a:t>Tiny-YOLO-v2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ASET  ·  DEEP REINFORCEMENT LEARNING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MDP Formulation &amp; Deep Q-Network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303520" cy="7498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5720" cy="7498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435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Calibri"/>
              </a:rPr>
              <a:t>STATE  S_t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1790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Applications · network topology · workload arrivals · current system conditions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48256"/>
            <a:ext cx="5303520" cy="7498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48256"/>
            <a:ext cx="45720" cy="7498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031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ACTION  A_t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3774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Choice of scheduling policy (Closest / Load-Balancing / Farthest / Cheaper / Least Impedance …)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07792"/>
            <a:ext cx="5303520" cy="7498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07792"/>
            <a:ext cx="45720" cy="74980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9626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  <a:latin typeface="Calibri"/>
              </a:rPr>
              <a:t>REWARD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3697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Reflects successful query servicing and quality of the resulting scheduling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67328"/>
            <a:ext cx="5303520" cy="7498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767328"/>
            <a:ext cx="45720" cy="749808"/>
          </a:xfrm>
          <a:prstGeom prst="rect">
            <a:avLst/>
          </a:prstGeom>
          <a:solidFill>
            <a:srgbClr val="E6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8221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EDF3"/>
                </a:solidFill>
                <a:latin typeface="Calibri"/>
              </a:rPr>
              <a:t>TRANSITION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0965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System evolves after policy is applied for one time window; next state S_{t+1} is observed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143000"/>
            <a:ext cx="5212080" cy="53035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12801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DEEP Q-NETWORK ARCHITECTURE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1664208"/>
            <a:ext cx="4800600" cy="658368"/>
          </a:xfrm>
          <a:prstGeom prst="rect">
            <a:avLst/>
          </a:prstGeom>
          <a:solidFill>
            <a:srgbClr val="1C2331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6642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  <a:latin typeface="Calibri"/>
              </a:rPr>
              <a:t>State Representation
(temporal stack)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29700" y="2322576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2578608"/>
            <a:ext cx="4800600" cy="658368"/>
          </a:xfrm>
          <a:prstGeom prst="rect">
            <a:avLst/>
          </a:prstGeom>
          <a:solidFill>
            <a:srgbClr val="58A6FF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25786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117"/>
                </a:solidFill>
                <a:latin typeface="Calibri"/>
              </a:rPr>
              <a:t>Conv Layers
(temporal correlations)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3236976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3493008"/>
            <a:ext cx="4800600" cy="658368"/>
          </a:xfrm>
          <a:prstGeom prst="rect">
            <a:avLst/>
          </a:prstGeom>
          <a:solidFill>
            <a:srgbClr val="1C2331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34930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  <a:latin typeface="Calibri"/>
              </a:rPr>
              <a:t>Fully Connected
Layers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29700" y="4151376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0" y="4407408"/>
            <a:ext cx="4800600" cy="658368"/>
          </a:xfrm>
          <a:prstGeom prst="rect">
            <a:avLst/>
          </a:prstGeom>
          <a:solidFill>
            <a:srgbClr val="3FB950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0" y="4407408"/>
            <a:ext cx="4800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117"/>
                </a:solidFill>
                <a:latin typeface="Calibri"/>
              </a:rPr>
              <a:t>Q-value Output
(one per policy)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66560" y="5413248"/>
            <a:ext cx="4800600" cy="502920"/>
          </a:xfrm>
          <a:prstGeom prst="rect">
            <a:avLst/>
          </a:prstGeom>
          <a:solidFill>
            <a:srgbClr val="1C2331"/>
          </a:solidFill>
          <a:ln w="9525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3720" y="5486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6EDF3"/>
                </a:solidFill>
                <a:latin typeface="Calibri"/>
              </a:rPr>
              <a:t>Q(s,a) estimates: "how good is policy a when system is in state s?"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230368"/>
            <a:ext cx="11183112" cy="91440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3218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B341"/>
                </a:solidFill>
                <a:latin typeface="Calibri"/>
              </a:rPr>
              <a:t>EXPLORATION STRATEGY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577840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ε-greedy with dynamic epsilon update  ·  Balance exploration of policies vs. exploitation of learned Q-values  ·  Trained across multiple workload and topology episodes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8A6FF"/>
                </a:solidFill>
                <a:latin typeface="Calibri"/>
              </a:rPr>
              <a:t>ASET  ·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Results Across Topologies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361188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3611880" cy="45720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949E"/>
                </a:solidFill>
                <a:latin typeface="Calibri"/>
              </a:rPr>
              <a:t>DC-CLOUD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3246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ASET does not uniformly outperform static baselines.
In some higher-load cases it can underperform certain static alternatives.
Performance is configuration-dependent.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170432"/>
            <a:ext cx="361188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170432"/>
            <a:ext cx="3611880" cy="457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FB950"/>
                </a:solidFill>
                <a:latin typeface="Calibri"/>
              </a:rPr>
              <a:t>CO-DC-CLOUD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691640"/>
            <a:ext cx="3246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ASET improves over evaluated baselines for tested arrival-rate conditions,
even though the model was trained at a particular arrival rate.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170432"/>
            <a:ext cx="361188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170432"/>
            <a:ext cx="3611880" cy="457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261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8A6FF"/>
                </a:solidFill>
                <a:latin typeface="Calibri"/>
              </a:rPr>
              <a:t>FULL-EDGE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691640"/>
            <a:ext cx="3246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Strongest improvement over static policies.
Improves successful-query ratio.
Reduces QoS violations while maintaining comparable rejection rate.
Generalises to additional workload conditions.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26280"/>
            <a:ext cx="11183112" cy="86868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64515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B341"/>
                </a:solidFill>
                <a:latin typeface="Calibri"/>
              </a:rPr>
              <a:t>DYNAMIC WORKLOAD EXPERIMENT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919472"/>
            <a:ext cx="10817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ASET was evaluated under changing input arrival rates. The agent generalised to dynamic workload conditions — selecting policies adaptively as load varied across the scheduling interval.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504688"/>
            <a:ext cx="11183112" cy="10972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5961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D1117"/>
                </a:solidFill>
                <a:latin typeface="Calibri"/>
              </a:rPr>
              <a:t>KEY TAKEAWAY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852160"/>
            <a:ext cx="10817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D1117"/>
                </a:solidFill>
                <a:latin typeface="Calibri"/>
              </a:rPr>
              <a:t>A state-aware policy selector can adapt between different scheduling strategies when workload, topology, and system conditions change — performance gains depend on the environment and are topology-specific.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PAPER 2 OF 3  ·  FLOCKY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3657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3FB950"/>
                </a:solidFill>
                <a:latin typeface="Calibri"/>
              </a:rPr>
              <a:t>Flocky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6EDF3"/>
                </a:solidFill>
                <a:latin typeface="Calibri"/>
              </a:rPr>
              <a:t>Decentralized Intent-based Edge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385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29968"/>
            <a:ext cx="7772400" cy="1920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2140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3FB950"/>
                </a:solidFill>
                <a:latin typeface="Calibri"/>
              </a:rPr>
              <a:t>FULL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121408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"Flocky: Decentralized Intent-based Edge Orchestration Using Open Application Model"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4203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3FB950"/>
                </a:solidFill>
                <a:latin typeface="Calibri"/>
              </a:rPr>
              <a:t>AUTHORS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542032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T. Goethals, M. Sebrechts, M. Al-Naday, F. De Turck, B. Volckaert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6265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3FB950"/>
                </a:solidFill>
                <a:latin typeface="Calibri"/>
              </a:rPr>
              <a:t>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962656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IEEE Transactions on Services Computing, vol. 19, no. 1, pp. 380–395,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8328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3FB950"/>
                </a:solidFill>
                <a:latin typeface="Calibri"/>
              </a:rPr>
              <a:t>DOI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383280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10.1109/TSC.2025.3631387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2029968"/>
            <a:ext cx="3429000" cy="192024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1214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D1117"/>
                </a:solidFill>
                <a:latin typeface="Calibri"/>
              </a:rPr>
              <a:t>ROLE IN SEMINAR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3774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1117"/>
                </a:solidFill>
                <a:latin typeface="Calibri"/>
              </a:rPr>
              <a:t>LAYER 2
Decentralized
Coordination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11183112" cy="155448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793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CORE IDEA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72000"/>
            <a:ext cx="108173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Flocky enables edge orchestration without a central orchestrator. Applications are described as structured intents using the Open Application Model (OAM). Nodes expose capability metadata, and decentralized discovery allows nodes to find and match suitable neighbours — placing workloads without global coordination overhead.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FLOCKY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Cloud Assumptions vs. Edge Reality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5120640" cy="384048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117"/>
                </a:solidFill>
                <a:latin typeface="Calibri"/>
              </a:rPr>
              <a:t>CLOUD ASSUMPTIONS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91640"/>
            <a:ext cx="73152" cy="73152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  <a:latin typeface="Calibri"/>
              </a:rPr>
              <a:t>A small number of powerful, homogeneous machines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167128"/>
            <a:ext cx="73152" cy="73152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07568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  <a:latin typeface="Calibri"/>
              </a:rPr>
              <a:t>Centralized orchestrator (e.g. Kubernetes) has global visibility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642616"/>
            <a:ext cx="73152" cy="73152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5117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  <a:latin typeface="Calibri"/>
              </a:rPr>
              <a:t>High-capacity resources and fast networking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18104"/>
            <a:ext cx="73152" cy="73152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0266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  <a:latin typeface="Calibri"/>
              </a:rPr>
              <a:t>Relatively stable, predictable infrastructure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593592"/>
            <a:ext cx="73152" cy="73152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50215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  <a:latin typeface="Calibri"/>
              </a:rPr>
              <a:t>Scaling by adding uniform compute capacity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1170432"/>
            <a:ext cx="36576" cy="493776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0363D"/>
                </a:solidFill>
                <a:latin typeface="Calibri"/>
              </a:rPr>
              <a:t>VS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170432"/>
            <a:ext cx="5806440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1188720"/>
            <a:ext cx="5806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117"/>
                </a:solidFill>
                <a:latin typeface="Calibri"/>
              </a:rPr>
              <a:t>EDGE REALITY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691640"/>
            <a:ext cx="73152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60020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Many heterogeneous nodes — diverse hardware and 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167128"/>
            <a:ext cx="73152" cy="73152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075688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Limited memory, CPU, and storage per device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642616"/>
            <a:ext cx="73152" cy="73152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551176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Changing connectivity and dynamic topology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118104"/>
            <a:ext cx="73152" cy="73152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3026664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Resource-constrained, intermittently available nodes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3593592"/>
            <a:ext cx="73152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3502152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No single entity has a complete global 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160520"/>
            <a:ext cx="5120640" cy="1051560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279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CENTRALIZED BOTTLENECK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5720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A centralized orchestrator becomes a scalability bottleneck and requires too much global information in large, dynamic edge deployments.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4160520"/>
            <a:ext cx="5806440" cy="105156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343400"/>
            <a:ext cx="5440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1117"/>
                </a:solidFill>
                <a:latin typeface="Calibri"/>
              </a:rPr>
              <a:t>Can orchestration itself become decentralized?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349240"/>
            <a:ext cx="11183112" cy="59436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468112"/>
            <a:ext cx="108173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  <a:latin typeface="Calibri"/>
              </a:rPr>
              <a:t>Flocky answers YES — using intent descriptions, node capability metadata, and decentralized local discovery.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FLOCKY  ·  INTENT &amp; CAPABILITY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From Workload Intent to Placement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594360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45720" cy="6858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3444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  <a:latin typeface="Calibri"/>
              </a:rPr>
              <a:t>WORKLOAD INTENT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0876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Application requirements expressed declaratively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856232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20824"/>
            <a:ext cx="594360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020824"/>
            <a:ext cx="45720" cy="68580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08483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3B341"/>
                </a:solidFill>
                <a:latin typeface="Calibri"/>
              </a:rPr>
              <a:t>OPEN APPLICATION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359152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Structured component description + edge-specific traits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706624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71216"/>
            <a:ext cx="594360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871216"/>
            <a:ext cx="45720" cy="6858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35224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alibri"/>
              </a:rPr>
              <a:t>NODE METADATA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209544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Per-node capability advertisement — updated dynamically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55701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721608"/>
            <a:ext cx="594360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721608"/>
            <a:ext cx="45720" cy="6858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78561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78166"/>
                </a:solidFill>
                <a:latin typeface="Calibri"/>
              </a:rPr>
              <a:t>CAPABILITY MATCHING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059936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Requirements ↔ metadata comparison per candidate node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440740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72000"/>
            <a:ext cx="5943600" cy="6858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572000"/>
            <a:ext cx="45720" cy="6858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63600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  <a:latin typeface="Calibri"/>
              </a:rPr>
              <a:t>PLACEMENT DECISION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910328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Best-matching node(s) selected for deployment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1170432"/>
            <a:ext cx="5029200" cy="498348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12984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OAM EDGE-SPECIFIC TRAITS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157276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Flocky extends the Open Application Model with additional traits relevant to heterogeneous edge environments: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49440" y="2212848"/>
            <a:ext cx="4389120" cy="475488"/>
          </a:xfrm>
          <a:prstGeom prst="rect">
            <a:avLst/>
          </a:prstGeom>
          <a:solidFill>
            <a:srgbClr val="1C2331"/>
          </a:solidFill>
          <a:ln w="63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0" y="227685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  ✦  Network encryption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2779776"/>
            <a:ext cx="4389120" cy="475488"/>
          </a:xfrm>
          <a:prstGeom prst="rect">
            <a:avLst/>
          </a:prstGeom>
          <a:solidFill>
            <a:srgbClr val="1C2331"/>
          </a:solidFill>
          <a:ln w="63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0" y="284378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  ✦  Attestation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3346704"/>
            <a:ext cx="4389120" cy="475488"/>
          </a:xfrm>
          <a:prstGeom prst="rect">
            <a:avLst/>
          </a:prstGeom>
          <a:solidFill>
            <a:srgbClr val="1C2331"/>
          </a:solidFill>
          <a:ln w="63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341071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  ✦  Green energy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9440" y="3913632"/>
            <a:ext cx="4389120" cy="475488"/>
          </a:xfrm>
          <a:prstGeom prst="rect">
            <a:avLst/>
          </a:prstGeom>
          <a:solidFill>
            <a:srgbClr val="1C2331"/>
          </a:solidFill>
          <a:ln w="63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0" y="397764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  ✦  Secure runtime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49440" y="4480560"/>
            <a:ext cx="4389120" cy="475488"/>
          </a:xfrm>
          <a:prstGeom prst="rect">
            <a:avLst/>
          </a:prstGeom>
          <a:solidFill>
            <a:srgbClr val="1C2331"/>
          </a:solidFill>
          <a:ln w="63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80" y="45445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  ✦  Distance constraints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5138928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8B949E"/>
                </a:solidFill>
                <a:latin typeface="Calibri"/>
              </a:rPr>
              <a:t>These traits allow orchestration decisions to consider far more than raw CPU capacity — matching application security, energy, and locality requirements.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FLOCKY  ·  DECENTRALIZED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Building Local Topology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0" y="2674620"/>
            <a:ext cx="1097280" cy="5029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26746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117"/>
                </a:solidFill>
                <a:latin typeface="Calibri"/>
              </a:rPr>
              <a:t>NODE 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85900"/>
            <a:ext cx="1097280" cy="502920"/>
          </a:xfrm>
          <a:prstGeom prst="rect">
            <a:avLst/>
          </a:prstGeom>
          <a:solidFill>
            <a:srgbClr val="161B22"/>
          </a:solidFill>
          <a:ln w="1524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8590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  <a:latin typeface="Calibri"/>
              </a:rPr>
              <a:t>NODE 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1783080"/>
            <a:ext cx="18288" cy="201168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485900"/>
            <a:ext cx="1097280" cy="502920"/>
          </a:xfrm>
          <a:prstGeom prst="rect">
            <a:avLst/>
          </a:prstGeom>
          <a:solidFill>
            <a:srgbClr val="161B22"/>
          </a:solidFill>
          <a:ln w="1524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48590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  <a:latin typeface="Calibri"/>
              </a:rPr>
              <a:t>NODE 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783080"/>
            <a:ext cx="18288" cy="16459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63340"/>
            <a:ext cx="1097280" cy="502920"/>
          </a:xfrm>
          <a:prstGeom prst="rect">
            <a:avLst/>
          </a:prstGeom>
          <a:solidFill>
            <a:srgbClr val="161B22"/>
          </a:solidFill>
          <a:ln w="15240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633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alibri"/>
              </a:rPr>
              <a:t>NODE 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2971800"/>
            <a:ext cx="18288" cy="201168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3863340"/>
            <a:ext cx="1097280" cy="502920"/>
          </a:xfrm>
          <a:prstGeom prst="rect">
            <a:avLst/>
          </a:prstGeom>
          <a:solidFill>
            <a:srgbClr val="161B22"/>
          </a:solidFill>
          <a:ln w="1524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38633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  <a:latin typeface="Calibri"/>
              </a:rPr>
              <a:t>NODE 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2971800"/>
            <a:ext cx="18288" cy="16459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77440" y="4777740"/>
            <a:ext cx="1097280" cy="502920"/>
          </a:xfrm>
          <a:prstGeom prst="rect">
            <a:avLst/>
          </a:prstGeom>
          <a:solidFill>
            <a:srgbClr val="161B22"/>
          </a:solidFill>
          <a:ln w="15240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47777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alibri"/>
              </a:rPr>
              <a:t>NODE 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71800"/>
            <a:ext cx="18288" cy="210312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0" y="1143000"/>
            <a:ext cx="5257800" cy="50292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12801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FB950"/>
                </a:solidFill>
                <a:latin typeface="Calibri"/>
              </a:rPr>
              <a:t>DISCOVERY MECHANISM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1664208"/>
            <a:ext cx="4754880" cy="658368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171907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Local Node Info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19842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Each node maintains its own capability metadata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2432304"/>
            <a:ext cx="4754880" cy="658368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248716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Reachability Check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75234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Determine which neighbours are currently reachable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3200400"/>
            <a:ext cx="4754880" cy="658368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3255264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PING-based Latency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5204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Measure round-trip time to candidate nodes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3968496"/>
            <a:ext cx="4754880" cy="658368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402336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Metadata Repository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28853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Cache and share capability information locally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66560" y="4736592"/>
            <a:ext cx="4754880" cy="658368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4791456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Neighbour Knowledge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50566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Build a useful local view without full global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5550408"/>
            <a:ext cx="4754880" cy="47548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561441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117"/>
                </a:solidFill>
                <a:latin typeface="Calibri"/>
              </a:rPr>
              <a:t>A node does not need a perfect global view — local knowledge suffices.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897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B949E"/>
                </a:solidFill>
                <a:latin typeface="Calibri"/>
              </a:rPr>
              <a:t>■ Reachable  ■ Unreachable / limited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FLOCKY  ·  ORCHESTRATION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Five-Stage Decentralized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205740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2057400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07592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FB950"/>
                </a:solidFill>
                <a:latin typeface="Calibri"/>
              </a:rPr>
              <a:t>1
DISCOVERY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76272"/>
            <a:ext cx="1691640" cy="635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13432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Find neighbouring nodes using local broadcast and metadata caches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5877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170432"/>
            <a:ext cx="205740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1170432"/>
            <a:ext cx="2057400" cy="73152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307592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3B341"/>
                </a:solidFill>
                <a:latin typeface="Calibri"/>
              </a:rPr>
              <a:t>2
METADATA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2176272"/>
            <a:ext cx="1691640" cy="635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2313432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Learn node capabilities: hardware, traits, available resources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5877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83480" y="1170432"/>
            <a:ext cx="205740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83480" y="1170432"/>
            <a:ext cx="205740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1307592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8A6FF"/>
                </a:solidFill>
                <a:latin typeface="Calibri"/>
              </a:rPr>
              <a:t>3
SCHEDULING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66360" y="2176272"/>
            <a:ext cx="1691640" cy="635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2313432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Match application requirements against available node metadata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5877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60" y="1170432"/>
            <a:ext cx="205740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23760" y="1170432"/>
            <a:ext cx="2057400" cy="73152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1307592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8166"/>
                </a:solidFill>
                <a:latin typeface="Calibri"/>
              </a:rPr>
              <a:t>4
CONSTRUCTION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06640" y="2176272"/>
            <a:ext cx="1691640" cy="635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0" y="2313432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Compose application components into a deployable structure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25877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B949E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64040" y="1170432"/>
            <a:ext cx="205740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64040" y="1170432"/>
            <a:ext cx="2057400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64040" y="1307592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FB950"/>
                </a:solidFill>
                <a:latin typeface="Calibri"/>
              </a:rPr>
              <a:t>5
DEPLOYMENT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6920" y="2176272"/>
            <a:ext cx="1691640" cy="635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55480" y="2313432"/>
            <a:ext cx="1874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Place and launch workload; activate monitoring and lifecycle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26280"/>
            <a:ext cx="11183112" cy="109728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64515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ARCHITECTURAL DISTINCTION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937760"/>
            <a:ext cx="108173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Orchestration decisions are distributed across participating edge nodes. There is no single global scheduler. Each node maintains local knowledge and participates in placement collectively — scaling naturally as the network grows.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FLOCKY  ·  REPORTED EVALUATION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Key Findings (as reported in the paper)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5394960" cy="3474720"/>
          </a:xfrm>
          <a:prstGeom prst="rect">
            <a:avLst/>
          </a:prstGeom>
          <a:solidFill>
            <a:srgbClr val="161B22"/>
          </a:solidFill>
          <a:ln w="1524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3FB950"/>
                </a:solidFill>
                <a:latin typeface="Calibri"/>
              </a:rPr>
              <a:t>&gt;97%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6EDF3"/>
                </a:solidFill>
                <a:latin typeface="Calibri"/>
              </a:rPr>
              <a:t>of viable neighbours discovered on average
within two discovery rounds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  <a:latin typeface="Calibri"/>
              </a:rPr>
              <a:t>(as reported by the paper)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862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FB950"/>
                </a:solidFill>
                <a:latin typeface="Calibri"/>
              </a:rPr>
              <a:t>DISCOVERY EFFICIENCY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5577840" cy="3474720"/>
          </a:xfrm>
          <a:prstGeom prst="rect">
            <a:avLst/>
          </a:prstGeom>
          <a:solidFill>
            <a:srgbClr val="161B22"/>
          </a:solidFill>
          <a:ln w="1524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3B341"/>
                </a:solidFill>
                <a:latin typeface="Calibri"/>
              </a:rPr>
              <a:t>84%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803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6EDF3"/>
                </a:solidFill>
                <a:latin typeface="Calibri"/>
              </a:rPr>
              <a:t>less memory usage than centralized Kubernetes
in the reported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5661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B949E"/>
                </a:solidFill>
                <a:latin typeface="Calibri"/>
              </a:rPr>
              <a:t>(as reported by the paper)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8862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3B341"/>
                </a:solidFill>
                <a:latin typeface="Calibri"/>
              </a:rPr>
              <a:t>RESOURCE 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892040"/>
            <a:ext cx="11183112" cy="123444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109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FB950"/>
                </a:solidFill>
                <a:latin typeface="Calibri"/>
              </a:rPr>
              <a:t>ARCHITECTURAL CONTRIBUTION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85232"/>
            <a:ext cx="108173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The central contribution is architectural: Flocky demonstrates that edge orchestration can leverage decentralized local knowledge, intent-based workload descriptions, and metadata-driven placement — without requiring a global central scheduler.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PAPER 3 OF 3  ·  DATOR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3657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F78166"/>
                </a:solidFill>
                <a:latin typeface="Calibri"/>
              </a:rPr>
              <a:t>DATOR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6EDF3"/>
                </a:solidFill>
                <a:latin typeface="Calibri"/>
              </a:rPr>
              <a:t>Self-Organized Neural Network Inference in Dynamic Edge Networks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385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29968"/>
            <a:ext cx="7772400" cy="19202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2140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78166"/>
                </a:solidFill>
                <a:latin typeface="Calibri"/>
              </a:rPr>
              <a:t>FULL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121408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"Self-Organized Neural Network Inference in Dynamic Edge Networks"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4203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78166"/>
                </a:solidFill>
                <a:latin typeface="Calibri"/>
              </a:rPr>
              <a:t>AUTHORS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542032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M. Schrauth, M. Thome, T. Ohlenforst, F. Kreyß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6265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78166"/>
                </a:solidFill>
                <a:latin typeface="Calibri"/>
              </a:rPr>
              <a:t>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962656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Applied Sciences, vol. 15, no. 23, Article 12615,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8328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78166"/>
                </a:solidFill>
                <a:latin typeface="Calibri"/>
              </a:rPr>
              <a:t>DOI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383280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6EDF3"/>
                </a:solidFill>
                <a:latin typeface="Calibri"/>
              </a:rPr>
              <a:t>10.3390/app152312615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2029968"/>
            <a:ext cx="3429000" cy="192024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1214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D1117"/>
                </a:solidFill>
                <a:latin typeface="Calibri"/>
              </a:rPr>
              <a:t>ROLE IN SEMINAR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3774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1117"/>
                </a:solidFill>
                <a:latin typeface="Calibri"/>
              </a:rPr>
              <a:t>LAYER 3
Dynamic Execution
&amp; Resilience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11183112" cy="155448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793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CORE IDEA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72000"/>
            <a:ext cx="108173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DATOR distributes a neural network across multiple edge nodes as a pipeline of inference stages. When the environment changes — nodes disconnect, links degrade — the system reroutes inference through available nodes without requiring a central recovery controller. Resilience is integrated into the inference architecture itself.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DATOR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Dynamic Edge Environments vs. Static Placement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5349240" cy="1691640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349240" cy="54864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98448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78166"/>
                </a:solidFill>
                <a:latin typeface="Calibri"/>
              </a:rPr>
              <a:t>Node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4983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Edge nodes disconnect unexpectedly,
breaking inference pipelines.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70432"/>
            <a:ext cx="5349240" cy="1691640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170432"/>
            <a:ext cx="5349240" cy="54864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298448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78166"/>
                </a:solidFill>
                <a:latin typeface="Calibri"/>
              </a:rPr>
              <a:t>Intermittent Connectivity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45920"/>
            <a:ext cx="4983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Links between nodes flicker,
causing packet loss and delays.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108960"/>
            <a:ext cx="5349240" cy="169164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108960"/>
            <a:ext cx="534924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36976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8A6FF"/>
                </a:solidFill>
                <a:latin typeface="Calibri"/>
              </a:rPr>
              <a:t>Heterogeneous 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584448"/>
            <a:ext cx="4983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Nodes vary in compute capability;
one model does not fit all.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108960"/>
            <a:ext cx="5349240" cy="169164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108960"/>
            <a:ext cx="5349240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236976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3B341"/>
                </a:solidFill>
                <a:latin typeface="Calibri"/>
              </a:rPr>
              <a:t>Changing Workload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584448"/>
            <a:ext cx="4983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Inference demand varies over time;
fixed allocations under- or over-serve.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30363D"/>
                </a:solidFill>
                <a:latin typeface="Calibri"/>
              </a:rPr>
              <a:t>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956048"/>
            <a:ext cx="11183112" cy="105156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04748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D1117"/>
                </a:solidFill>
                <a:latin typeface="Calibri"/>
              </a:rPr>
              <a:t>DESIGN GOAL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321808"/>
            <a:ext cx="108173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117"/>
                </a:solidFill>
                <a:latin typeface="Calibri"/>
              </a:rPr>
              <a:t>Continue distributed AI inference without depending on a central orchestration unit or creating a single point of failure — even as the edge environment changes.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DATOR  ·  MULTI-STAGE DISTRIBUTED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Splitting the Model Across Edge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53312"/>
            <a:ext cx="1691640" cy="1417320"/>
          </a:xfrm>
          <a:prstGeom prst="rect">
            <a:avLst/>
          </a:prstGeom>
          <a:solidFill>
            <a:srgbClr val="1C2331"/>
          </a:solidFill>
          <a:ln w="15240">
            <a:solidFill>
              <a:srgbClr val="E6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EDF3"/>
                </a:solidFill>
                <a:latin typeface="Calibri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5623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  <a:latin typeface="Calibri"/>
              </a:rPr>
              <a:t>Raw data
arrives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952244"/>
            <a:ext cx="502920" cy="36576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200710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8B949E"/>
                </a:solidFill>
                <a:latin typeface="Calibri"/>
              </a:rPr>
              <a:t>activation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353312"/>
            <a:ext cx="1691640" cy="1417320"/>
          </a:xfrm>
          <a:prstGeom prst="rect">
            <a:avLst/>
          </a:prstGeom>
          <a:solidFill>
            <a:srgbClr val="161B22"/>
          </a:solidFill>
          <a:ln w="1524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4447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78166"/>
                </a:solidFill>
                <a:latin typeface="Calibri"/>
              </a:rPr>
              <a:t>STAGE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5623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  <a:latin typeface="Calibri"/>
              </a:rPr>
              <a:t>Layer group 1
Node 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952244"/>
            <a:ext cx="502920" cy="36576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00710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8B949E"/>
                </a:solidFill>
                <a:latin typeface="Calibri"/>
              </a:rPr>
              <a:t>activation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1353312"/>
            <a:ext cx="1691640" cy="1417320"/>
          </a:xfrm>
          <a:prstGeom prst="rect">
            <a:avLst/>
          </a:prstGeom>
          <a:solidFill>
            <a:srgbClr val="161B22"/>
          </a:solidFill>
          <a:ln w="1524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2040" y="14447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78166"/>
                </a:solidFill>
                <a:latin typeface="Calibri"/>
              </a:rPr>
              <a:t>STAGE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185623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  <a:latin typeface="Calibri"/>
              </a:rPr>
              <a:t>Layer group 2
Node 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952244"/>
            <a:ext cx="502920" cy="36576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00710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8B949E"/>
                </a:solidFill>
                <a:latin typeface="Calibri"/>
              </a:rPr>
              <a:t>activation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1353312"/>
            <a:ext cx="1691640" cy="1417320"/>
          </a:xfrm>
          <a:prstGeom prst="rect">
            <a:avLst/>
          </a:prstGeom>
          <a:solidFill>
            <a:srgbClr val="161B22"/>
          </a:solidFill>
          <a:ln w="1524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14447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78166"/>
                </a:solidFill>
                <a:latin typeface="Calibri"/>
              </a:rPr>
              <a:t>STAGE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185623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  <a:latin typeface="Calibri"/>
              </a:rPr>
              <a:t>Layer group 3
Node 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0" y="1952244"/>
            <a:ext cx="502920" cy="36576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0" y="200710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8B949E"/>
                </a:solidFill>
                <a:latin typeface="Calibri"/>
              </a:rPr>
              <a:t>activation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81160" y="1353312"/>
            <a:ext cx="1691640" cy="1417320"/>
          </a:xfrm>
          <a:prstGeom prst="rect">
            <a:avLst/>
          </a:prstGeom>
          <a:solidFill>
            <a:srgbClr val="1C2331"/>
          </a:solidFill>
          <a:ln w="1524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14447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FB950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185623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B949E"/>
                </a:solidFill>
                <a:latin typeface="Calibri"/>
              </a:rPr>
              <a:t>Inference
result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97480" y="2935224"/>
            <a:ext cx="1691640" cy="347472"/>
          </a:xfrm>
          <a:prstGeom prst="rect">
            <a:avLst/>
          </a:prstGeom>
          <a:solidFill>
            <a:srgbClr val="1C2331"/>
          </a:solidFill>
          <a:ln w="635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97480" y="2935224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8166"/>
                </a:solidFill>
                <a:latin typeface="Calibri"/>
              </a:rPr>
              <a:t>Node 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92040" y="2935224"/>
            <a:ext cx="1691640" cy="347472"/>
          </a:xfrm>
          <a:prstGeom prst="rect">
            <a:avLst/>
          </a:prstGeom>
          <a:solidFill>
            <a:srgbClr val="1C2331"/>
          </a:solidFill>
          <a:ln w="635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92040" y="2935224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8166"/>
                </a:solidFill>
                <a:latin typeface="Calibri"/>
              </a:rPr>
              <a:t>Node 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6600" y="2935224"/>
            <a:ext cx="1691640" cy="347472"/>
          </a:xfrm>
          <a:prstGeom prst="rect">
            <a:avLst/>
          </a:prstGeom>
          <a:solidFill>
            <a:srgbClr val="1C2331"/>
          </a:solidFill>
          <a:ln w="635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6600" y="2935224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78166"/>
                </a:solidFill>
                <a:latin typeface="Calibri"/>
              </a:rPr>
              <a:t>Node 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291840"/>
            <a:ext cx="11183112" cy="7498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34015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HOW IT WORKS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3675887"/>
            <a:ext cx="10817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The DNN is partitioned into groups of layers (stages). Each stage is mapped to a suitable edge node. Intermediate activations flow between nodes after each stage completes. The system coordinates: which node handles a stage, whether it is capable and available, how activations are transmitted, and what happens if a node becomes unavailable.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60520"/>
            <a:ext cx="11183112" cy="6858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270248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117"/>
                </a:solidFill>
                <a:latin typeface="Calibri"/>
              </a:rPr>
              <a:t>The inference pipeline itself becomes distributed — the DNN executes across the edge network, not on one device.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29200"/>
            <a:ext cx="2560320" cy="129844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166360"/>
            <a:ext cx="2286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Stage-to-node assignment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5029200"/>
            <a:ext cx="2560320" cy="129844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37560" y="5166360"/>
            <a:ext cx="2286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Node capability &amp; availability check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5029200"/>
            <a:ext cx="2560320" cy="129844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5166360"/>
            <a:ext cx="2286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Intermediate activation transmission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0" y="5029200"/>
            <a:ext cx="2560320" cy="129844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23960" y="5166360"/>
            <a:ext cx="2286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Handling node unavailability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DATOR  ·  LOCAL ORCHESTRATION &amp; NEGOTIATION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Work Package Assignment Without Central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5257800" cy="658368"/>
          </a:xfrm>
          <a:prstGeom prst="rect">
            <a:avLst/>
          </a:prstGeom>
          <a:solidFill>
            <a:srgbClr val="161B22"/>
          </a:solidFill>
          <a:ln w="9525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45720" cy="658368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6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78166"/>
                </a:solidFill>
                <a:latin typeface="Calibri"/>
              </a:rPr>
              <a:t>NEW WORK PACKAGE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499616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A new inference stage needs assignment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2092" y="1828800"/>
            <a:ext cx="2560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38528"/>
            <a:ext cx="5257800" cy="658368"/>
          </a:xfrm>
          <a:prstGeom prst="rect">
            <a:avLst/>
          </a:prstGeom>
          <a:solidFill>
            <a:srgbClr val="161B22"/>
          </a:solidFill>
          <a:ln w="9525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938528"/>
            <a:ext cx="45720" cy="65836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1993392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  <a:latin typeface="Calibri"/>
              </a:rPr>
              <a:t>BROADCAST 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2267712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Current node announces the task to neighbours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2092" y="2596896"/>
            <a:ext cx="2560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706624"/>
            <a:ext cx="5257800" cy="658368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706624"/>
            <a:ext cx="45720" cy="65836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2761488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ELIGIBLE NODES RESPOND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3035808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Nodes with capacity &amp; the required module reply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2092" y="3364992"/>
            <a:ext cx="2560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5257800" cy="658368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45720" cy="65836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529584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NODE ACCEPTS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3803904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Best candidate accepts the stage dispatch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2092" y="4133088"/>
            <a:ext cx="2560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242816"/>
            <a:ext cx="5257800" cy="658368"/>
          </a:xfrm>
          <a:prstGeom prst="rect">
            <a:avLst/>
          </a:prstGeom>
          <a:solidFill>
            <a:srgbClr val="161B22"/>
          </a:solidFill>
          <a:ln w="9525">
            <a:solidFill>
              <a:srgbClr val="E6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242816"/>
            <a:ext cx="45720" cy="658368"/>
          </a:xfrm>
          <a:prstGeom prst="rect">
            <a:avLst/>
          </a:prstGeom>
          <a:solidFill>
            <a:srgbClr val="E6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" y="4297680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EDF3"/>
                </a:solidFill>
                <a:latin typeface="Calibri"/>
              </a:rPr>
              <a:t>COMPUTATION OCCURS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4572000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Stage executes; result forwarded to next stage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22092" y="4901184"/>
            <a:ext cx="25603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  <a:latin typeface="Calibri"/>
              </a:rPr>
              <a:t>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10912"/>
            <a:ext cx="5257800" cy="658368"/>
          </a:xfrm>
          <a:prstGeom prst="rect">
            <a:avLst/>
          </a:prstGeom>
          <a:solidFill>
            <a:srgbClr val="161B22"/>
          </a:solidFill>
          <a:ln w="9525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10912"/>
            <a:ext cx="45720" cy="658368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5065776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78166"/>
                </a:solidFill>
                <a:latin typeface="Calibri"/>
              </a:rPr>
              <a:t>NEXT STAGE REPEATS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340096"/>
            <a:ext cx="4983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Process repeats for subsequent pipeline stages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1143000"/>
            <a:ext cx="5669280" cy="493776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12801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LOCAL DECISION CRITERIA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1627632"/>
            <a:ext cx="5120640" cy="64008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166420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EDF3"/>
                </a:solidFill>
                <a:latin typeface="Calibri"/>
              </a:rPr>
              <a:t>Required module present?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192024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Does this node hold the needed layer group?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2377440"/>
            <a:ext cx="5120640" cy="64008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2414016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EDF3"/>
                </a:solidFill>
                <a:latin typeface="Calibri"/>
              </a:rPr>
              <a:t>Utilization acceptable?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267004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Is current load within threshold to accept work?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3127248"/>
            <a:ext cx="5120640" cy="64008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3163824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EDF3"/>
                </a:solidFill>
                <a:latin typeface="Calibri"/>
              </a:rPr>
              <a:t>Capable hardware?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3419856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Calibri"/>
              </a:rPr>
              <a:t>Can this node execute the stage efficiently?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3968496"/>
            <a:ext cx="5120640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07822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B341"/>
                </a:solidFill>
                <a:latin typeface="Calibri"/>
              </a:rPr>
              <a:t>WEIGHTED AUCTION APPROACH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46520" y="4480560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29400" y="4407408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Computational capability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4846320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29400" y="4773168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Network latency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46520" y="5212080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29400" y="5138928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Energy consumption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46520" y="5577840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29400" y="5504688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Resource utilization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55080" y="5961888"/>
            <a:ext cx="5120640" cy="502920"/>
          </a:xfrm>
          <a:prstGeom prst="rect">
            <a:avLst/>
          </a:prstGeom>
          <a:solidFill>
            <a:srgbClr val="1C2331"/>
          </a:solidFill>
          <a:ln w="635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92240" y="603504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78166"/>
                </a:solidFill>
                <a:latin typeface="Calibri"/>
              </a:rPr>
              <a:t>Conceptual foundation: Contract Net Protocol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DATOR  ·  DYNAMIC REROUTING &amp; RESILIENCE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Inference Continues Despite Node Failures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FB950"/>
                </a:solidFill>
                <a:latin typeface="Calibri"/>
              </a:rPr>
              <a:t>NORMAL OPERATION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73152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FB950"/>
                </a:solidFill>
                <a:latin typeface="Calibri"/>
              </a:rPr>
              <a:t>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554480"/>
            <a:ext cx="73152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7373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FB950"/>
                </a:solidFill>
                <a:latin typeface="Calibri"/>
              </a:rPr>
              <a:t>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554480"/>
            <a:ext cx="73152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7373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FB950"/>
                </a:solidFill>
                <a:latin typeface="Calibri"/>
              </a:rPr>
              <a:t>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1901952"/>
            <a:ext cx="1005840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901952"/>
            <a:ext cx="1005840" cy="36576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171907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3FB950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171907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3FB950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1737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  <a:latin typeface="Calibri"/>
              </a:rPr>
              <a:t>A  →  B  →  C  (normal path)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57860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78166"/>
                </a:solidFill>
                <a:latin typeface="Calibri"/>
              </a:rPr>
              <a:t>NODE FAILURE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63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8B949E"/>
                </a:solidFill>
                <a:latin typeface="Calibri"/>
              </a:rPr>
              <a:t>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2880360"/>
            <a:ext cx="73152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3063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78166"/>
                </a:solidFill>
                <a:latin typeface="Calibri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743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78166"/>
                </a:solidFill>
                <a:latin typeface="Calibri"/>
              </a:rPr>
              <a:t>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2880360"/>
            <a:ext cx="73152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8B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063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8B949E"/>
                </a:solidFill>
                <a:latin typeface="Calibri"/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63040" y="3227832"/>
            <a:ext cx="1005840" cy="36576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20240" y="3044952"/>
            <a:ext cx="365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78166"/>
                </a:solidFill>
                <a:latin typeface="Calibri"/>
              </a:rPr>
              <a:t>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78166"/>
                </a:solidFill>
                <a:latin typeface="Calibri"/>
              </a:rPr>
              <a:t>B unavailable — normal path broken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95020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3B341"/>
                </a:solidFill>
                <a:latin typeface="Calibri"/>
              </a:rPr>
              <a:t>DYNAMIC REROUTING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206240"/>
            <a:ext cx="73152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3891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FB950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4206240"/>
            <a:ext cx="73152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43891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FB950"/>
                </a:solidFill>
                <a:latin typeface="Calibri"/>
              </a:rPr>
              <a:t>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0" y="4206240"/>
            <a:ext cx="731520" cy="731520"/>
          </a:xfrm>
          <a:prstGeom prst="rect">
            <a:avLst/>
          </a:prstGeom>
          <a:solidFill>
            <a:srgbClr val="161B22"/>
          </a:solidFill>
          <a:ln w="1905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0" y="43891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3B341"/>
                </a:solidFill>
                <a:latin typeface="Calibri"/>
              </a:rPr>
              <a:t>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63040" y="4553712"/>
            <a:ext cx="1005840" cy="3657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91840" y="4553712"/>
            <a:ext cx="1005840" cy="36576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0" y="437083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3B341"/>
                </a:solidFill>
                <a:latin typeface="Calibri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437083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3B341"/>
                </a:solidFill>
                <a:latin typeface="Calibr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3B341"/>
                </a:solidFill>
                <a:latin typeface="Calibri"/>
              </a:rPr>
              <a:t>A  →  D  →  C  (alternate route via D)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440680"/>
            <a:ext cx="11183112" cy="1143000"/>
          </a:xfrm>
          <a:prstGeom prst="rect">
            <a:avLst/>
          </a:prstGeom>
          <a:solidFill>
            <a:srgbClr val="1C2331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55955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ARCHITECTURAL PRINCIPLE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833872"/>
            <a:ext cx="108173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6EDF3"/>
                </a:solidFill>
                <a:latin typeface="Calibri"/>
              </a:rPr>
              <a:t>Resilience is not an afterthought — the architecture itself reacts to changing node and link conditions. Fault handling is integrated into the inference path; no centralized recovery controller is required.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78166"/>
                </a:solidFill>
                <a:latin typeface="Calibri"/>
              </a:rPr>
              <a:t>DATOR  ·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Performance Across Network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269748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269748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801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B950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  <a:latin typeface="Calibri"/>
              </a:rPr>
              <a:t>STABLE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No node failures or link degradation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1170432"/>
            <a:ext cx="269748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40" y="1170432"/>
            <a:ext cx="2697480" cy="54864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12801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78166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7373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8166"/>
                </a:solidFill>
                <a:latin typeface="Calibri"/>
              </a:rPr>
              <a:t>UNSTABLE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76272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Intermittent node failures during operation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1170432"/>
            <a:ext cx="269748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E3B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7960" y="1170432"/>
            <a:ext cx="2697480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2801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3B341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7373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3B341"/>
                </a:solidFill>
                <a:latin typeface="Calibri"/>
              </a:rPr>
              <a:t>IMPAIRED COMM.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176272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5% message loss in the network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55480" y="1170432"/>
            <a:ext cx="269748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55480" y="1170432"/>
            <a:ext cx="2697480" cy="54864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12801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78166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17373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78166"/>
                </a:solidFill>
                <a:latin typeface="Calibri"/>
              </a:rPr>
              <a:t>SEVERE COMM.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2176272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Transmission times increased ~10×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273552"/>
            <a:ext cx="11183112" cy="214884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4015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78166"/>
                </a:solidFill>
                <a:latin typeface="Calibri"/>
              </a:rPr>
              <a:t>OBSERVED PERFORMANCE PATTERN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3749039"/>
            <a:ext cx="45720" cy="47548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3767327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Calibri"/>
              </a:rPr>
              <a:t>Low Arrival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3767327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Latency remains relatively low; fewer distributed nodes involved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343399"/>
            <a:ext cx="45720" cy="475488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361687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3B341"/>
                </a:solidFill>
                <a:latin typeface="Calibri"/>
              </a:rPr>
              <a:t>Increasing Load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4361687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More edge nodes participate in distributed stage execution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4937759"/>
            <a:ext cx="45720" cy="475488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956047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78166"/>
                </a:solidFill>
                <a:latin typeface="Calibri"/>
              </a:rPr>
              <a:t>Near-Saturation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956047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Throughput and latency approach system capacity limits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577840"/>
            <a:ext cx="11183112" cy="100584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6692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D1117"/>
                </a:solidFill>
                <a:latin typeface="Calibri"/>
              </a:rPr>
              <a:t>KEY TAKEAWAY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925312"/>
            <a:ext cx="10817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1117"/>
                </a:solidFill>
                <a:latin typeface="Calibri"/>
              </a:rPr>
              <a:t>DATOR is designed to maintain operation under dynamic conditions — it does not assume all nodes and links remain permanently available.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6EDF3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Three Papers · Side by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2286000" cy="41148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70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6EDF3"/>
                </a:solidFill>
                <a:latin typeface="Calibri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170432"/>
            <a:ext cx="2834640" cy="4114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17043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117"/>
                </a:solidFill>
                <a:latin typeface="Calibri"/>
              </a:rPr>
              <a:t>ASET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170432"/>
            <a:ext cx="2834640" cy="4114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3560" y="117043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117"/>
                </a:solidFill>
                <a:latin typeface="Calibri"/>
              </a:rPr>
              <a:t>FLOCKY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58200" y="1170432"/>
            <a:ext cx="2834640" cy="41148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17043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1117"/>
                </a:solidFill>
                <a:latin typeface="Calibri"/>
              </a:rPr>
              <a:t>DATOR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581912"/>
            <a:ext cx="228600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1581912"/>
            <a:ext cx="36576" cy="804672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1655064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6EDF3"/>
                </a:solidFill>
                <a:latin typeface="Calibri"/>
              </a:rPr>
              <a:t>Main Question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1581912"/>
            <a:ext cx="283464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1655064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  <a:latin typeface="Calibri"/>
              </a:rPr>
              <a:t>Which scheduling policy
for the current state?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23560" y="1581912"/>
            <a:ext cx="283464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1655064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3FB950"/>
                </a:solidFill>
                <a:latin typeface="Calibri"/>
              </a:rPr>
              <a:t>How can orchestration
be decentralized?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1581912"/>
            <a:ext cx="283464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1655064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78166"/>
                </a:solidFill>
                <a:latin typeface="Calibri"/>
              </a:rPr>
              <a:t>How can inference survive
dynamic nodes &amp; links?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386584"/>
            <a:ext cx="2286000" cy="804672"/>
          </a:xfrm>
          <a:prstGeom prst="rect">
            <a:avLst/>
          </a:prstGeom>
          <a:solidFill>
            <a:srgbClr val="1C2331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386584"/>
            <a:ext cx="36576" cy="804672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59736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6EDF3"/>
                </a:solidFill>
                <a:latin typeface="Calibri"/>
              </a:rPr>
              <a:t>Method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88920" y="2386584"/>
            <a:ext cx="2834640" cy="804672"/>
          </a:xfrm>
          <a:prstGeom prst="rect">
            <a:avLst/>
          </a:prstGeom>
          <a:solidFill>
            <a:srgbClr val="1C2331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2459736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  <a:latin typeface="Calibri"/>
              </a:rPr>
              <a:t>Deep Q-Learning
DQN-based policy selection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60" y="2386584"/>
            <a:ext cx="2834640" cy="804672"/>
          </a:xfrm>
          <a:prstGeom prst="rect">
            <a:avLst/>
          </a:prstGeom>
          <a:solidFill>
            <a:srgbClr val="1C2331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15000" y="2459736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3FB950"/>
                </a:solidFill>
                <a:latin typeface="Calibri"/>
              </a:rPr>
              <a:t>Intent + OAM
Metadata · discovery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58200" y="2386584"/>
            <a:ext cx="2834640" cy="804672"/>
          </a:xfrm>
          <a:prstGeom prst="rect">
            <a:avLst/>
          </a:prstGeom>
          <a:solidFill>
            <a:srgbClr val="1C2331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459736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78166"/>
                </a:solidFill>
                <a:latin typeface="Calibri"/>
              </a:rPr>
              <a:t>Multi-stage inference
Local negotiation · rerouting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191256"/>
            <a:ext cx="228600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191256"/>
            <a:ext cx="36576" cy="804672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264408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6EDF3"/>
                </a:solidFill>
                <a:latin typeface="Calibri"/>
              </a:rPr>
              <a:t>Decision Level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88920" y="3191256"/>
            <a:ext cx="283464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80360" y="3264408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  <a:latin typeface="Calibri"/>
              </a:rPr>
              <a:t>Scheduling policy
selection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3191256"/>
            <a:ext cx="283464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15000" y="3264408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3FB950"/>
                </a:solidFill>
                <a:latin typeface="Calibri"/>
              </a:rPr>
              <a:t>Application/component
placement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3191256"/>
            <a:ext cx="283464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9640" y="3264408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78166"/>
                </a:solidFill>
                <a:latin typeface="Calibri"/>
              </a:rPr>
              <a:t>Inference-stage assignment
&amp; dynamic routing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95928"/>
            <a:ext cx="2286000" cy="804672"/>
          </a:xfrm>
          <a:prstGeom prst="rect">
            <a:avLst/>
          </a:prstGeom>
          <a:solidFill>
            <a:srgbClr val="1C2331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3995928"/>
            <a:ext cx="36576" cy="804672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4069080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6EDF3"/>
                </a:solidFill>
                <a:latin typeface="Calibri"/>
              </a:rPr>
              <a:t>Key Strength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88920" y="3995928"/>
            <a:ext cx="2834640" cy="804672"/>
          </a:xfrm>
          <a:prstGeom prst="rect">
            <a:avLst/>
          </a:prstGeom>
          <a:solidFill>
            <a:srgbClr val="1C2331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80360" y="4069080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  <a:latin typeface="Calibri"/>
              </a:rPr>
              <a:t>Workload / network
adaptation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23560" y="3995928"/>
            <a:ext cx="2834640" cy="804672"/>
          </a:xfrm>
          <a:prstGeom prst="rect">
            <a:avLst/>
          </a:prstGeom>
          <a:solidFill>
            <a:srgbClr val="1C2331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15000" y="4069080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3FB950"/>
                </a:solidFill>
                <a:latin typeface="Calibri"/>
              </a:rPr>
              <a:t>Decentralized coordination
&amp; local knowledge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8200" y="3995928"/>
            <a:ext cx="2834640" cy="804672"/>
          </a:xfrm>
          <a:prstGeom prst="rect">
            <a:avLst/>
          </a:prstGeom>
          <a:solidFill>
            <a:srgbClr val="1C2331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49640" y="4069080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78166"/>
                </a:solidFill>
                <a:latin typeface="Calibri"/>
              </a:rPr>
              <a:t>Self-organization
&amp; resilience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800600"/>
            <a:ext cx="228600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4800600"/>
            <a:ext cx="36576" cy="804672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487375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6EDF3"/>
                </a:solidFill>
                <a:latin typeface="Calibri"/>
              </a:rPr>
              <a:t>Challenge Addressed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88920" y="4800600"/>
            <a:ext cx="283464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80360" y="4873752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8A6FF"/>
                </a:solidFill>
                <a:latin typeface="Calibri"/>
              </a:rPr>
              <a:t>Changing system
conditions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23560" y="4800600"/>
            <a:ext cx="283464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15000" y="4873752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3FB950"/>
                </a:solidFill>
                <a:latin typeface="Calibri"/>
              </a:rPr>
              <a:t>Scalable decentralized
orchestration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200" y="4800600"/>
            <a:ext cx="2834640" cy="80467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49640" y="4873752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78166"/>
                </a:solidFill>
                <a:latin typeface="Calibri"/>
              </a:rPr>
              <a:t>Node / link failures
&amp; dynamic environments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6EDF3"/>
                </a:solidFill>
                <a:latin typeface="Calibri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Three Papers · One Problem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3520440" cy="2011680"/>
          </a:xfrm>
          <a:prstGeom prst="rect">
            <a:avLst/>
          </a:prstGeom>
          <a:solidFill>
            <a:srgbClr val="161B22"/>
          </a:solidFill>
          <a:ln w="1524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352044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07592"/>
            <a:ext cx="3154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58A6FF"/>
                </a:solidFill>
                <a:latin typeface="Calibri"/>
              </a:rPr>
              <a:t>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8A6FF"/>
                </a:solidFill>
                <a:latin typeface="Calibri"/>
              </a:rPr>
              <a:t>ADAPTIVE 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30552"/>
            <a:ext cx="3154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State-aware policy selection
using Deep Reinforcement Learning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170432"/>
            <a:ext cx="3520440" cy="2011680"/>
          </a:xfrm>
          <a:prstGeom prst="rect">
            <a:avLst/>
          </a:prstGeom>
          <a:solidFill>
            <a:srgbClr val="161B22"/>
          </a:solidFill>
          <a:ln w="1524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1170432"/>
            <a:ext cx="3520440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1307592"/>
            <a:ext cx="3154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FB950"/>
                </a:solidFill>
                <a:latin typeface="Calibri"/>
              </a:rPr>
              <a:t>Flocky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18288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FB950"/>
                </a:solidFill>
                <a:latin typeface="Calibri"/>
              </a:rPr>
              <a:t>DECENTRALIZED ORCHESTRATION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2130552"/>
            <a:ext cx="3154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Intent-based node matching
using OAM and local discovery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1170432"/>
            <a:ext cx="3520440" cy="2011680"/>
          </a:xfrm>
          <a:prstGeom prst="rect">
            <a:avLst/>
          </a:prstGeom>
          <a:solidFill>
            <a:srgbClr val="161B22"/>
          </a:solidFill>
          <a:ln w="1524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37576" y="1170432"/>
            <a:ext cx="3520440" cy="64008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0456" y="1307592"/>
            <a:ext cx="3154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78166"/>
                </a:solidFill>
                <a:latin typeface="Calibri"/>
              </a:rPr>
              <a:t>DATOR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182880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78166"/>
                </a:solidFill>
                <a:latin typeface="Calibri"/>
              </a:rPr>
              <a:t>DYNAMIC 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2130552"/>
            <a:ext cx="3154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Self-organized multi-stage pipeline
with rerouting and resilience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324612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30363D"/>
                </a:solidFill>
                <a:latin typeface="Calibri"/>
              </a:rPr>
              <a:t>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9592" y="324612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30363D"/>
                </a:solidFill>
                <a:latin typeface="Calibri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324612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30363D"/>
                </a:solidFill>
                <a:latin typeface="Calibri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657600"/>
            <a:ext cx="11183112" cy="1143000"/>
          </a:xfrm>
          <a:prstGeom prst="rect">
            <a:avLst/>
          </a:prstGeom>
          <a:solidFill>
            <a:srgbClr val="1C2331"/>
          </a:solidFill>
          <a:ln w="12700">
            <a:solidFill>
              <a:srgbClr val="E6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76732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6EDF3"/>
                </a:solidFill>
                <a:latin typeface="Calibri"/>
              </a:rPr>
              <a:t>COMPLEMENTARY COORDINATION LAYERS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041648"/>
            <a:ext cx="108173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49E"/>
                </a:solidFill>
                <a:latin typeface="Calibri"/>
              </a:rPr>
              <a:t>These papers address complementary layers of the same broader problem: intelligent coordination of AI workloads across heterogeneous edge resources. They are not competing — each operates at a different level of the coordination stack.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486460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30363D"/>
                </a:solidFill>
                <a:latin typeface="Calibri"/>
              </a:rPr>
              <a:t>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5285232"/>
            <a:ext cx="9445752" cy="12984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5413248"/>
            <a:ext cx="94457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D1117"/>
                </a:solidFill>
                <a:latin typeface="Calibri"/>
              </a:rPr>
              <a:t>INTELLIGENT DISTRIBUTED EDGE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870448"/>
            <a:ext cx="94457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D1117"/>
                </a:solidFill>
                <a:latin typeface="Calibri"/>
              </a:rPr>
              <a:t>Observe  →  Decide  →  Coordinate  →  Execute  →  Adapt  →  Recover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B341"/>
                </a:solidFill>
                <a:latin typeface="Calibri"/>
              </a:rPr>
              <a:t>RESEARCH GAPS &amp; FUTURE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Open Questions and Broader Directions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5303520" cy="30175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B341"/>
                </a:solidFill>
                <a:latin typeface="Calibri"/>
              </a:rPr>
              <a:t>WHAT THE PAPERS DEMONSTRATE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64208"/>
            <a:ext cx="45720" cy="5943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8249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alibri"/>
              </a:rPr>
              <a:t>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956816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Adaptive scheduling through policy selection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68880"/>
            <a:ext cx="45720" cy="59436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4871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  <a:latin typeface="Calibri"/>
              </a:rPr>
              <a:t>Flocky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6148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Decentralized orchestration via local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273552"/>
            <a:ext cx="45720" cy="59436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291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78166"/>
                </a:solidFill>
                <a:latin typeface="Calibri"/>
              </a:rPr>
              <a:t>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56616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Dynamic self-organization and resilient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15384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A broader research direction is to investigate how these ideas can be integrated into a unified edge inference framework.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170432"/>
            <a:ext cx="5669280" cy="30175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2984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B341"/>
                </a:solidFill>
                <a:latin typeface="Calibri"/>
              </a:rPr>
              <a:t>POSSIBLE FUTURE DIRECTIONS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755648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6642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Richer state-aware scheduling for diverse edge topologies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231136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13969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Decentralized resource discovery at scale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2706624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6151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Dynamic inference routing with energy awareness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3182112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090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Multimodal AI inference at the edge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3657600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Fault tolerance in large heterogeneous clusters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4133088"/>
            <a:ext cx="54864" cy="54864"/>
          </a:xfrm>
          <a:prstGeom prst="rect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40416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6EDF3"/>
                </a:solidFill>
                <a:latin typeface="Calibri"/>
              </a:rPr>
              <a:t>Integration of scheduling, orchestration &amp; inference layers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43400"/>
            <a:ext cx="11183112" cy="1737360"/>
          </a:xfrm>
          <a:prstGeom prst="rect">
            <a:avLst/>
          </a:prstGeom>
          <a:solidFill>
            <a:srgbClr val="1C23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46227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B341"/>
                </a:solidFill>
                <a:latin typeface="Calibri"/>
              </a:rPr>
              <a:t>INTEGRATION VISION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736592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B949E"/>
                </a:solidFill>
                <a:latin typeface="Calibri"/>
              </a:rPr>
              <a:t>A heterogeneous edge inference system that can simultaneously: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047488"/>
            <a:ext cx="2011680" cy="475488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04748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A6FF"/>
                </a:solidFill>
                <a:latin typeface="Calibri"/>
              </a:rPr>
              <a:t>Observe resource state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98648" y="5047488"/>
            <a:ext cx="2011680" cy="475488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90088" y="504748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8A6FF"/>
                </a:solidFill>
                <a:latin typeface="Calibri"/>
              </a:rPr>
              <a:t>Select suitable resources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11496" y="5047488"/>
            <a:ext cx="2011680" cy="475488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02936" y="504748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3FB950"/>
                </a:solidFill>
                <a:latin typeface="Calibri"/>
              </a:rPr>
              <a:t>Coordinate distributed nodes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24344" y="5047488"/>
            <a:ext cx="2011680" cy="475488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15784" y="504748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3FB950"/>
                </a:solidFill>
                <a:latin typeface="Calibri"/>
              </a:rPr>
              <a:t>Adapt to workload changes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37192" y="5047488"/>
            <a:ext cx="2011680" cy="475488"/>
          </a:xfrm>
          <a:prstGeom prst="rect">
            <a:avLst/>
          </a:prstGeom>
          <a:solidFill>
            <a:srgbClr val="161B22"/>
          </a:solidFill>
          <a:ln w="9525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28632" y="504748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F78166"/>
                </a:solidFill>
                <a:latin typeface="Calibri"/>
              </a:rPr>
              <a:t>Recover from failures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6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6EDF3"/>
                </a:solidFill>
                <a:latin typeface="Calibri"/>
              </a:rPr>
              <a:t>SUMMARY &amp;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EDF3"/>
                </a:solidFill>
                <a:latin typeface="Calibri"/>
              </a:rPr>
              <a:t>Three Layers · One Coherent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24128"/>
            <a:ext cx="11091672" cy="127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3566160" cy="141732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356616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8A6FF"/>
                </a:solidFill>
                <a:latin typeface="Calibri"/>
              </a:rPr>
              <a:t>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73352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8B949E"/>
                </a:solidFill>
                <a:latin typeface="Calibri"/>
              </a:rPr>
              <a:t>Adaptive scheduling using reinforcement learning.
A DQN meta-scheduler selects the most appropriate static
policy given the current system state.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1170432"/>
            <a:ext cx="3566160" cy="1417320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170432"/>
            <a:ext cx="356616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2801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FB950"/>
                </a:solidFill>
                <a:latin typeface="Calibri"/>
              </a:rPr>
              <a:t>Flocky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1673352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8B949E"/>
                </a:solidFill>
                <a:latin typeface="Calibri"/>
              </a:rPr>
              <a:t>Decentralized orchestration using intent and node metadata.
OAM-based capability matching and local discovery enable
placement without a central controller.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1170432"/>
            <a:ext cx="3566160" cy="1417320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9016" y="1170432"/>
            <a:ext cx="3566160" cy="54864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2801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78166"/>
                </a:solidFill>
                <a:latin typeface="Calibri"/>
              </a:rPr>
              <a:t>DATOR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1673352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8B949E"/>
                </a:solidFill>
                <a:latin typeface="Calibri"/>
              </a:rPr>
              <a:t>Self-organized distributed inference with dynamic rerouting.
Multi-stage pipelines adapt to node/link failures through
local negotiation and alternate routing.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97480"/>
            <a:ext cx="11183112" cy="65836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74320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117"/>
                </a:solidFill>
                <a:latin typeface="Calibri"/>
              </a:rPr>
              <a:t>Adaptive Scheduling  +  Decentralized Orchestration  +  Resilient Distributed 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17520"/>
            <a:ext cx="10817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D1117"/>
                </a:solidFill>
                <a:latin typeface="Calibri"/>
              </a:rPr>
              <a:t>=  A broader framework for intelligent coordination of AI workloads across heterogeneous edge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93008"/>
            <a:ext cx="11183112" cy="303580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118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B341"/>
                </a:solidFill>
                <a:latin typeface="Calibri"/>
              </a:rPr>
              <a:t>REFERENCES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950208"/>
            <a:ext cx="36576" cy="7315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950208"/>
            <a:ext cx="106344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B949E"/>
                </a:solidFill>
                <a:latin typeface="Calibri"/>
              </a:rPr>
              <a:t>[1]  G. Castellano et al., "Scheduling Inference Workloads in the Computing Continuum with Reinforcement Learning," IEEE ICDCS Workshops, 2025, pp. 297–302. DOI: 10.1109/ICDCSW63273.2025.00056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864608"/>
            <a:ext cx="36576" cy="73152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64608"/>
            <a:ext cx="106344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B949E"/>
                </a:solidFill>
                <a:latin typeface="Calibri"/>
              </a:rPr>
              <a:t>[2]  T. Goethals, M. Sebrechts, M. Al-Naday, F. De Turck, and B. Volckaert, "Flocky: Decentralized Intent-based Edge Orchestration Using Open Application Model," IEEE Trans. Serv. Comput., vol. 19, no. 1, pp. 380–395, 2026. DOI: 10.1109/TSC.2025.3631387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779008"/>
            <a:ext cx="36576" cy="73152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779008"/>
            <a:ext cx="1063447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B949E"/>
                </a:solidFill>
                <a:latin typeface="Calibri"/>
              </a:rPr>
              <a:t>[3]  M. Schrauth, M. Thome, T. Ohlenforst, and F. Kreyß, "Self-Organized Neural Network Inference in Dynamic Edge Networks," Applied Sciences, vol. 15, no. 23, 12615, 2025. DOI: 10.3390/app152312615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48872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49E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