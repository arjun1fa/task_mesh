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ASET: reinforcement learning-based adaptive scheduler for DNN inference across edge-cloud continuum.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Flocky: intent-based decentralized edge orchestration using the Open Application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DATOR: self-organized distributed inference in dynamic edge networks with rerouting.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DATOR uses broadcast-and-accept negotiation. Weighted auction can consider capability, latency,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4415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4415" cy="9601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800" b="1" i="0">
                <a:solidFill>
                  <a:srgbClr val="1A1A1A"/>
                </a:solidFill>
                <a:latin typeface="Calibri"/>
              </a:rPr>
              <a:t>ADAPTIVE DISTRIBUTED AI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94415" cy="7772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600" b="1" i="0">
                <a:solidFill>
                  <a:srgbClr val="1F4E8C"/>
                </a:solidFill>
                <a:latin typeface="Calibri"/>
              </a:rPr>
              <a:t>IN HETEROGENEOUS EDGE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95728"/>
            <a:ext cx="11094415" cy="5029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Three research directions  ·  One problem space  ·  From scheduling to orchestration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0896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3474720" cy="54864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18688"/>
            <a:ext cx="3474720" cy="25603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1F4E8C"/>
                </a:solidFill>
                <a:latin typeface="Calibri"/>
              </a:rPr>
              <a:t>Paper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56432"/>
            <a:ext cx="3474720" cy="5029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50208"/>
            <a:ext cx="3474720" cy="5029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Adaptive Scheduling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310896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3108960"/>
            <a:ext cx="3474720" cy="54864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3218688"/>
            <a:ext cx="3474720" cy="25603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0F6B6B"/>
                </a:solidFill>
                <a:latin typeface="Calibri"/>
              </a:rPr>
              <a:t>Paper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3456432"/>
            <a:ext cx="3474720" cy="5029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Flocky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3950208"/>
            <a:ext cx="3474720" cy="5029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Decentralized Orchestration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1856" y="310896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3108960"/>
            <a:ext cx="3474720" cy="54864"/>
          </a:xfrm>
          <a:prstGeom prst="rect">
            <a:avLst/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9016" y="3218688"/>
            <a:ext cx="3474720" cy="25603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C9772E"/>
                </a:solidFill>
                <a:latin typeface="Calibri"/>
              </a:rPr>
              <a:t>Paper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9016" y="3456432"/>
            <a:ext cx="3474720" cy="5029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DATOR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3950208"/>
            <a:ext cx="3474720" cy="5029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Dynamic Distributed Inference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46320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7315200" cy="4572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Presented by  Arjun A S  ·  SCT23CS017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40680"/>
            <a:ext cx="11094415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Dept. of Computer Science &amp; Engineering  ·  Sree Chitra Thirunal College of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2655" y="5440680"/>
            <a:ext cx="320040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1" i="0">
                <a:solidFill>
                  <a:srgbClr val="6B6B6B"/>
                </a:solidFill>
                <a:latin typeface="Calibri"/>
              </a:rPr>
              <a:t>Guide: Prof. Arun 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Why Does Edge AI Need Smarter Coordination?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5120640" cy="141732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475488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Variable Compute &amp; 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4754880" cy="59436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Nodes: microcontrollers to GPUs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Hot-spots form; edge saturates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99816"/>
            <a:ext cx="5120640" cy="141732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82696"/>
            <a:ext cx="475488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Dynamic Network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9896"/>
            <a:ext cx="4754880" cy="59436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Delay shifts across edge hops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Routes change continuously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26864"/>
            <a:ext cx="5120640" cy="141732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09744"/>
            <a:ext cx="475488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Real-Time Inference Needs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66944"/>
            <a:ext cx="4754880" cy="59436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Strict end-to-end latency targets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Node failures break pipelines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572768"/>
            <a:ext cx="5516575" cy="464515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254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01368"/>
            <a:ext cx="505937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1F4E8C"/>
                </a:solidFill>
                <a:latin typeface="Calibri"/>
              </a:rPr>
              <a:t>THE CENTRAL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12848"/>
            <a:ext cx="5059375" cy="219456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"Who processes
this workload
right now?"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590288"/>
            <a:ext cx="5059375" cy="7772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As load, latency, and node state change —
the answer changes too.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Core Concepts in Edge AI Coordination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5455767" cy="2253996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5090007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Heterogeneity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5090007" cy="1431036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Nodes vary: CPU, GPU, OS, memory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No uniform scheduling rule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7287" y="1572768"/>
            <a:ext cx="5455767" cy="2253996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167" y="1755648"/>
            <a:ext cx="5090007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Scheduling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212848"/>
            <a:ext cx="5090007" cy="1431036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Select: model variant + resource cluster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Meet delay, accuracy, throughput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63924"/>
            <a:ext cx="5455767" cy="2253996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46804"/>
            <a:ext cx="5090007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Orchestration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04004"/>
            <a:ext cx="5090007" cy="1431036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Coordinate deployment across nodes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Lifecycle and placement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7287" y="3963924"/>
            <a:ext cx="5455767" cy="2253996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4146804"/>
            <a:ext cx="5090007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Adaptation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4604004"/>
            <a:ext cx="5090007" cy="1431036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Revise decisions as conditions change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Workload, topology, availability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Calibri"/>
              </a:rPr>
              <a:t>SEMINAR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Three Papers · Three Lenses on One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576218" cy="464515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3576218" cy="54864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9928"/>
            <a:ext cx="3210458" cy="6858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600" b="1" i="0">
                <a:solidFill>
                  <a:srgbClr val="1F4E8C"/>
                </a:solidFill>
                <a:latin typeface="Calibri"/>
              </a:rPr>
              <a:t>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41448"/>
            <a:ext cx="3210458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"Which scheduling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25496"/>
            <a:ext cx="3210458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should I use right now?"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00984"/>
            <a:ext cx="3210458" cy="1270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85032"/>
            <a:ext cx="3210458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Adaptive scheduling via DRL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50792"/>
            <a:ext cx="3210458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Policy selection meta-scheduler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7738" y="1572768"/>
            <a:ext cx="3576218" cy="464515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7738" y="1572768"/>
            <a:ext cx="3576218" cy="54864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0618" y="1709928"/>
            <a:ext cx="3210458" cy="6858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600" b="1" i="0">
                <a:solidFill>
                  <a:srgbClr val="0F6B6B"/>
                </a:solidFill>
                <a:latin typeface="Calibri"/>
              </a:rPr>
              <a:t>Flocky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441448"/>
            <a:ext cx="3210458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"How can nodes coordinate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2825496"/>
            <a:ext cx="3210458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without a central controller?"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0618" y="3300984"/>
            <a:ext cx="3210458" cy="1270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0618" y="3685032"/>
            <a:ext cx="3210458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Intent-based orchestration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4050792"/>
            <a:ext cx="3210458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Decentralized discovery + OAM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6836" y="1572768"/>
            <a:ext cx="3576218" cy="464515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6836" y="1572768"/>
            <a:ext cx="3576218" cy="54864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9716" y="1709928"/>
            <a:ext cx="3210458" cy="6858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600" b="1" i="0">
                <a:solidFill>
                  <a:srgbClr val="C9772E"/>
                </a:solidFill>
                <a:latin typeface="Calibri"/>
              </a:rPr>
              <a:t>DATOR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9716" y="2441448"/>
            <a:ext cx="3210458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"How can inference survive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9716" y="2825496"/>
            <a:ext cx="3210458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node and link failures?"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49716" y="3300984"/>
            <a:ext cx="3210458" cy="1270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9716" y="3685032"/>
            <a:ext cx="3210458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Self-organized multi-stage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9716" y="4050792"/>
            <a:ext cx="3210458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Dynamic rerouting + resilience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1" i="0">
                <a:solidFill>
                  <a:srgbClr val="6B6B6B"/>
                </a:solidFill>
                <a:latin typeface="Calibri"/>
              </a:rPr>
              <a:t>Scheduling  →  Orchestration  →  Resilient Inference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22860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1000" b="1" i="0">
                <a:solidFill>
                  <a:srgbClr val="1F4E8C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7315200" cy="11887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8229600" cy="6400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0" i="0">
                <a:solidFill>
                  <a:srgbClr val="6B6B6B"/>
                </a:solidFill>
                <a:latin typeface="Calibri"/>
              </a:rPr>
              <a:t>Adaptive Scheduling for Edge &amp; Cloud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1463040"/>
            <a:ext cx="365760" cy="365760"/>
          </a:xfrm>
          <a:prstGeom prst="ellipse">
            <a:avLst/>
          </a:prstGeom>
          <a:noFill/>
          <a:ln w="1905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914400"/>
            <a:ext cx="365760" cy="365760"/>
          </a:xfrm>
          <a:prstGeom prst="ellipse">
            <a:avLst/>
          </a:prstGeom>
          <a:noFill/>
          <a:ln w="1905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47120" y="2194560"/>
            <a:ext cx="365760" cy="365760"/>
          </a:xfrm>
          <a:prstGeom prst="ellipse">
            <a:avLst/>
          </a:prstGeom>
          <a:noFill/>
          <a:ln w="1905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0" y="2926080"/>
            <a:ext cx="365760" cy="365760"/>
          </a:xfrm>
          <a:prstGeom prst="ellipse">
            <a:avLst/>
          </a:prstGeom>
          <a:noFill/>
          <a:ln w="1905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2560320"/>
            <a:ext cx="365760" cy="365760"/>
          </a:xfrm>
          <a:prstGeom prst="ellipse">
            <a:avLst/>
          </a:prstGeom>
          <a:noFill/>
          <a:ln w="1905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64240" y="3931920"/>
            <a:ext cx="365760" cy="365760"/>
          </a:xfrm>
          <a:prstGeom prst="ellipse">
            <a:avLst/>
          </a:prstGeom>
          <a:noFill/>
          <a:ln w="1905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9418320" y="1097280"/>
            <a:ext cx="1371600" cy="54864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789920" y="1097280"/>
            <a:ext cx="640080" cy="1280160"/>
          </a:xfrm>
          <a:prstGeom prst="line">
            <a:avLst/>
          </a:prstGeom>
          <a:ln w="9525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058400" y="2377440"/>
            <a:ext cx="1371600" cy="731520"/>
          </a:xfrm>
          <a:prstGeom prst="line">
            <a:avLst/>
          </a:prstGeom>
          <a:ln w="9525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8778240" y="2743200"/>
            <a:ext cx="1280160" cy="36576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778240" y="1645920"/>
            <a:ext cx="640080" cy="109728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1247120" y="2377440"/>
            <a:ext cx="182880" cy="173736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58400" y="3108960"/>
            <a:ext cx="1188720" cy="1005840"/>
          </a:xfrm>
          <a:prstGeom prst="line">
            <a:avLst/>
          </a:prstGeom>
          <a:ln w="9525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1F4E8C"/>
                </a:solidFill>
                <a:latin typeface="Calibri"/>
              </a:rPr>
              <a:t>PAPER 1 OF 3  · 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Scheduling Inference Workloads in the Computing Continuum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6858000" cy="464515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64008" cy="4645152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55648"/>
            <a:ext cx="6428232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F4E8C"/>
                </a:solidFill>
                <a:latin typeface="Calibri"/>
              </a:rPr>
              <a:t>Paper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12848"/>
            <a:ext cx="6428232" cy="382219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Authors: G. Castellano, J-J. Nieto, A. Angi,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   F. Á. Terribas, J. Luque, F. D. Andilla,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   A. Sacco, F. Esposito, F. Risso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Venue: IEEE ICDCS Workshops 2025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Pages: 297–302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DOI: 10.1109/ICDCSW63273.2025.00056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572768"/>
            <a:ext cx="4053535" cy="4645152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755648"/>
            <a:ext cx="3687775" cy="82296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ROLE IN
SEMINAR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70048"/>
            <a:ext cx="3687775" cy="4572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LAYER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172968"/>
            <a:ext cx="3687775" cy="18288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Adaptive
Decision
Making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1F4E8C"/>
                </a:solidFill>
                <a:latin typeface="Calibri"/>
              </a:rPr>
              <a:t>ASET  ·  PROBLEM FORMULATION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Scheduling DNN Inference Across the Continuum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3576218" cy="292608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64008" cy="292608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55648"/>
            <a:ext cx="314645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F4E8C"/>
                </a:solidFill>
                <a:latin typeface="Calibri"/>
              </a:rPr>
              <a:t>Stream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12848"/>
            <a:ext cx="3146450" cy="21031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Max end-to-end delay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Min accuracy (mAP)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Input / data rate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Input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7738" y="1572768"/>
            <a:ext cx="3576218" cy="292608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7738" y="1572768"/>
            <a:ext cx="64008" cy="292608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626" y="1755648"/>
            <a:ext cx="314645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F4E8C"/>
                </a:solidFill>
                <a:latin typeface="Calibri"/>
              </a:rPr>
              <a:t>Model Variants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4626" y="2212848"/>
            <a:ext cx="3146450" cy="21031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Accuracy · delay · throughput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CPU/GPU · batch size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Number of replicas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Deployment config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6836" y="1572768"/>
            <a:ext cx="3576218" cy="292608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72768"/>
            <a:ext cx="64008" cy="292608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3724" y="1755648"/>
            <a:ext cx="314645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F4E8C"/>
                </a:solidFill>
                <a:latin typeface="Calibri"/>
              </a:rPr>
              <a:t>Resource Clusters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3724" y="2212848"/>
            <a:ext cx="3146450" cy="21031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Edge / access network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Central-office resources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ISP / data-centre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Cloud resources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5847" y="4498848"/>
            <a:ext cx="0" cy="502920"/>
          </a:xfrm>
          <a:prstGeom prst="line">
            <a:avLst/>
          </a:prstGeom>
          <a:ln w="31750">
            <a:solidFill>
              <a:srgbClr val="1F4E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48640" y="5020056"/>
            <a:ext cx="11094415" cy="822960"/>
          </a:xfrm>
          <a:prstGeom prst="roundRect">
            <a:avLst>
              <a:gd name="adj" fmla="val 6000"/>
            </a:avLst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93208"/>
            <a:ext cx="10545775" cy="676656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Select: feasible model variant  +  resource cluster  →  all constraints satisfied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025896"/>
            <a:ext cx="11094415" cy="50292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905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089904"/>
            <a:ext cx="10545775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  <a:latin typeface="Calibri"/>
              </a:rPr>
              <a:t>Objective: maximise the fraction of successfully served inference queries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1F4E8C"/>
                </a:solidFill>
                <a:latin typeface="Calibri"/>
              </a:rPr>
              <a:t>ASET  ·  STATIC SCHEDULING POLICIES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Why One Fixed Policy Is Insufficient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5212080" cy="84124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84632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Closest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4846320" cy="2743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Minimise network distance / delay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5212080" cy="84124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484632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Load 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4846320" cy="2743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Prefer resource with lowest current 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56432"/>
            <a:ext cx="5212080" cy="84124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39312"/>
            <a:ext cx="484632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Farthest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96512"/>
            <a:ext cx="4846320" cy="2743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Preserve nearby capacity; use distant nodes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98264"/>
            <a:ext cx="5212080" cy="84124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81144"/>
            <a:ext cx="484632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Cheaper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38344"/>
            <a:ext cx="4846320" cy="2743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Cost-oriented within available delay budget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40096"/>
            <a:ext cx="5212080" cy="84124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522976"/>
            <a:ext cx="484632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Least Impedance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0176"/>
            <a:ext cx="4846320" cy="2743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Minimise end-to-end latency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572768"/>
            <a:ext cx="5562295" cy="464515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25400">
            <a:solidFill>
              <a:srgbClr val="B0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755648"/>
            <a:ext cx="519653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B04A4A"/>
                </a:solidFill>
                <a:latin typeface="Calibri"/>
              </a:rPr>
              <a:t>THE LIMITATION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167128"/>
            <a:ext cx="5196535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Low load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514600"/>
            <a:ext cx="5196535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nearby edge is ideal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990088"/>
            <a:ext cx="5196535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High load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337560"/>
            <a:ext cx="5196535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same node overloads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813048"/>
            <a:ext cx="5196535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Changing rates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160520"/>
            <a:ext cx="5196535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best policy shifts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727448"/>
            <a:ext cx="519653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864608"/>
            <a:ext cx="5196535" cy="10058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200" b="1" i="0">
                <a:solidFill>
                  <a:srgbClr val="B04A4A"/>
                </a:solidFill>
                <a:latin typeface="Calibri"/>
              </a:rPr>
              <a:t>No single policy stays
optimal across all conditions.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1F4E8C"/>
                </a:solidFill>
                <a:latin typeface="Calibri"/>
              </a:rPr>
              <a:t>ASET  ·  RL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ASET as a Meta-Scheduler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82496"/>
            <a:ext cx="5084064" cy="241401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System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23897"/>
            <a:ext cx="5084064" cy="17556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Apps · network · load · arrivals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22576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 w="1905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432304"/>
            <a:ext cx="5084064" cy="241401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RL Agent (DQN)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73705"/>
            <a:ext cx="5084064" cy="17556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Estimates Q-values for each policy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72384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182112"/>
            <a:ext cx="5084064" cy="241401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Select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423513"/>
            <a:ext cx="5084064" cy="17556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e.g. Load Balance / Closest / 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22192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0"/>
            <a:ext cx="5084064" cy="241401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Policy Executes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173321"/>
            <a:ext cx="5084064" cy="17556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Maps streams → variants → clusters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681728"/>
            <a:ext cx="5084064" cy="241401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Outcome Observed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23129"/>
            <a:ext cx="5084064" cy="17556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QoS success / service quality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21808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431536"/>
            <a:ext cx="5084064" cy="241401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Reward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672937"/>
            <a:ext cx="5084064" cy="17556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Successful query ratio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00400" y="2231136"/>
            <a:ext cx="0" cy="91440"/>
          </a:xfrm>
          <a:prstGeom prst="line">
            <a:avLst/>
          </a:prstGeom>
          <a:ln w="25400">
            <a:solidFill>
              <a:srgbClr val="1F4E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00400" y="2980944"/>
            <a:ext cx="0" cy="91440"/>
          </a:xfrm>
          <a:prstGeom prst="line">
            <a:avLst/>
          </a:prstGeom>
          <a:ln w="25400">
            <a:solidFill>
              <a:srgbClr val="1F4E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00400" y="3730752"/>
            <a:ext cx="0" cy="91440"/>
          </a:xfrm>
          <a:prstGeom prst="line">
            <a:avLst/>
          </a:prstGeom>
          <a:ln w="25400">
            <a:solidFill>
              <a:srgbClr val="1F4E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200400" y="4480560"/>
            <a:ext cx="0" cy="91440"/>
          </a:xfrm>
          <a:prstGeom prst="line">
            <a:avLst/>
          </a:prstGeom>
          <a:ln w="25400">
            <a:solidFill>
              <a:srgbClr val="1F4E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00400" y="5230368"/>
            <a:ext cx="0" cy="91440"/>
          </a:xfrm>
          <a:prstGeom prst="line">
            <a:avLst/>
          </a:prstGeom>
          <a:ln w="25400">
            <a:solidFill>
              <a:srgbClr val="1F4E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80760" y="1901952"/>
            <a:ext cx="27432" cy="374904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52160" y="1901952"/>
            <a:ext cx="256032" cy="27432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52160" y="5650992"/>
            <a:ext cx="256032" cy="27432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584448"/>
            <a:ext cx="914400" cy="59436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1F4E8C"/>
                </a:solidFill>
                <a:latin typeface="Calibri"/>
              </a:rPr>
              <a:t>Feedback
Loop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1572768"/>
            <a:ext cx="5196535" cy="464515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1755648"/>
            <a:ext cx="483077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1F4E8C"/>
                </a:solidFill>
                <a:latin typeface="Calibri"/>
              </a:rPr>
              <a:t>KEY DISTINCTION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167128"/>
            <a:ext cx="4830775" cy="8686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ASET does NOT learn
which node to use.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081528"/>
            <a:ext cx="4830775" cy="8686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F4E8C"/>
                </a:solidFill>
                <a:latin typeface="Calibri"/>
              </a:rPr>
              <a:t>It learns WHICH POLICY
to apply for the current state.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133088"/>
            <a:ext cx="4830775" cy="4114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T = 25 s scheduling window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590288"/>
            <a:ext cx="4830775" cy="7772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Trained: multiple topologies
and workload configurations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1F4E8C"/>
                </a:solidFill>
                <a:latin typeface="Calibri"/>
              </a:rPr>
              <a:t>ASET  ·  DEEP Q-NETWORK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MDP Formulation &amp; DQN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5486400" cy="896112"/>
          </a:xfrm>
          <a:prstGeom prst="rect">
            <a:avLst/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54864" cy="896112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1645920" cy="74980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1F4E8C"/>
                </a:solidFill>
                <a:latin typeface="Calibri"/>
              </a:rPr>
              <a:t>State  S_t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645920"/>
            <a:ext cx="3383280" cy="74980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Apps · network topology · arrivals · 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5486400" cy="896112"/>
          </a:xfrm>
          <a:prstGeom prst="rect">
            <a:avLst/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54864" cy="896112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33472"/>
            <a:ext cx="1645920" cy="74980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1F4E8C"/>
                </a:solidFill>
                <a:latin typeface="Calibri"/>
              </a:rPr>
              <a:t>Action  A_t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633472"/>
            <a:ext cx="3383280" cy="74980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Choice of scheduling policy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47872"/>
            <a:ext cx="5486400" cy="896112"/>
          </a:xfrm>
          <a:prstGeom prst="rect">
            <a:avLst/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47872"/>
            <a:ext cx="54864" cy="896112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21024"/>
            <a:ext cx="1645920" cy="74980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1F4E8C"/>
                </a:solidFill>
                <a:latin typeface="Calibri"/>
              </a:rPr>
              <a:t>Reward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621024"/>
            <a:ext cx="3383280" cy="74980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Successful query servicing quality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35424"/>
            <a:ext cx="5486400" cy="896112"/>
          </a:xfrm>
          <a:prstGeom prst="rect">
            <a:avLst/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535424"/>
            <a:ext cx="54864" cy="896112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608576"/>
            <a:ext cx="1645920" cy="74980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1F4E8C"/>
                </a:solidFill>
                <a:latin typeface="Calibri"/>
              </a:rPr>
              <a:t>Transition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608576"/>
            <a:ext cx="3383280" cy="74980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Next state after policy applied for T=25s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572768"/>
            <a:ext cx="5150815" cy="74980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1682496"/>
            <a:ext cx="4931359" cy="53035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State Input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505456"/>
            <a:ext cx="5150815" cy="749808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 w="1905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2615184"/>
            <a:ext cx="4931359" cy="53035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Conv Layers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438144"/>
            <a:ext cx="5150815" cy="74980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3547872"/>
            <a:ext cx="4931359" cy="53035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Fully Connected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370832"/>
            <a:ext cx="5150815" cy="749808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 w="1905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4480560"/>
            <a:ext cx="4931359" cy="53035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Q-values (per policy)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67647" y="2322576"/>
            <a:ext cx="0" cy="182880"/>
          </a:xfrm>
          <a:prstGeom prst="line">
            <a:avLst/>
          </a:prstGeom>
          <a:ln w="25400">
            <a:solidFill>
              <a:srgbClr val="1F4E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067647" y="3255264"/>
            <a:ext cx="0" cy="182880"/>
          </a:xfrm>
          <a:prstGeom prst="line">
            <a:avLst/>
          </a:prstGeom>
          <a:ln w="25400">
            <a:solidFill>
              <a:srgbClr val="1F4E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067647" y="4187952"/>
            <a:ext cx="0" cy="182880"/>
          </a:xfrm>
          <a:prstGeom prst="line">
            <a:avLst/>
          </a:prstGeom>
          <a:ln w="25400">
            <a:solidFill>
              <a:srgbClr val="1F4E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92240" y="5376672"/>
            <a:ext cx="5150815" cy="4114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000" b="0" i="0">
                <a:solidFill>
                  <a:srgbClr val="6B6B6B"/>
                </a:solidFill>
                <a:latin typeface="Calibri"/>
              </a:rPr>
              <a:t>Q(state, policy) = expected return for selecting that policy now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806440"/>
            <a:ext cx="5150815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000" b="0" i="0">
                <a:solidFill>
                  <a:srgbClr val="6B6B6B"/>
                </a:solidFill>
                <a:latin typeface="Calibri"/>
              </a:rPr>
              <a:t>ε-greedy exploration · dynamic epsilon update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1F4E8C"/>
                </a:solidFill>
                <a:latin typeface="Calibri"/>
              </a:rPr>
              <a:t>ASET  · 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Results Across Topologies &amp;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3576218" cy="292608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64008" cy="292608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55648"/>
            <a:ext cx="314645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F4E8C"/>
                </a:solidFill>
                <a:latin typeface="Calibri"/>
              </a:rPr>
              <a:t>dc-cloud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12848"/>
            <a:ext cx="3146450" cy="21031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ASET not uniformly best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Performance is topology-dependent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Can underperform some statics in higher 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7738" y="1572768"/>
            <a:ext cx="3576218" cy="292608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7738" y="1572768"/>
            <a:ext cx="64008" cy="292608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626" y="1755648"/>
            <a:ext cx="314645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F4E8C"/>
                </a:solidFill>
                <a:latin typeface="Calibri"/>
              </a:rPr>
              <a:t>co-dc-cloud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4626" y="2212848"/>
            <a:ext cx="3146450" cy="21031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Improves over evaluated baselines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Holds even outside training arrival rate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Moderate generalization gains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6836" y="1572768"/>
            <a:ext cx="3576218" cy="292608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72768"/>
            <a:ext cx="64008" cy="292608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3724" y="1755648"/>
            <a:ext cx="314645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F4E8C"/>
                </a:solidFill>
                <a:latin typeface="Calibri"/>
              </a:rPr>
              <a:t>full-edge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3724" y="2212848"/>
            <a:ext cx="3146450" cy="21031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Strongest improvement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↑ successful-query ratio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Generalises to dynamic workloads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81728"/>
            <a:ext cx="11094415" cy="1536192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18888"/>
            <a:ext cx="10545775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84648"/>
            <a:ext cx="10545775" cy="89611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State-aware policy selection adapts across conditions.
Performance gains are topology-specific — not universal.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22860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1000" b="1" i="0">
                <a:solidFill>
                  <a:srgbClr val="0F6B6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7315200" cy="11887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Flocky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8229600" cy="6400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0" i="0">
                <a:solidFill>
                  <a:srgbClr val="6B6B6B"/>
                </a:solidFill>
                <a:latin typeface="Calibri"/>
              </a:rPr>
              <a:t>Decentralized Intent-based Edge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1463040"/>
            <a:ext cx="365760" cy="365760"/>
          </a:xfrm>
          <a:prstGeom prst="ellipse">
            <a:avLst/>
          </a:prstGeom>
          <a:noFill/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914400"/>
            <a:ext cx="365760" cy="365760"/>
          </a:xfrm>
          <a:prstGeom prst="ellipse">
            <a:avLst/>
          </a:prstGeom>
          <a:noFill/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47120" y="2194560"/>
            <a:ext cx="365760" cy="365760"/>
          </a:xfrm>
          <a:prstGeom prst="ellipse">
            <a:avLst/>
          </a:prstGeom>
          <a:noFill/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0" y="2926080"/>
            <a:ext cx="365760" cy="365760"/>
          </a:xfrm>
          <a:prstGeom prst="ellipse">
            <a:avLst/>
          </a:prstGeom>
          <a:noFill/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2560320"/>
            <a:ext cx="365760" cy="365760"/>
          </a:xfrm>
          <a:prstGeom prst="ellipse">
            <a:avLst/>
          </a:prstGeom>
          <a:noFill/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64240" y="3931920"/>
            <a:ext cx="365760" cy="365760"/>
          </a:xfrm>
          <a:prstGeom prst="ellipse">
            <a:avLst/>
          </a:prstGeom>
          <a:noFill/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9418320" y="1097280"/>
            <a:ext cx="1371600" cy="54864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789920" y="1097280"/>
            <a:ext cx="640080" cy="1280160"/>
          </a:xfrm>
          <a:prstGeom prst="line">
            <a:avLst/>
          </a:prstGeom>
          <a:ln w="9525">
            <a:solidFill>
              <a:srgbClr val="0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058400" y="2377440"/>
            <a:ext cx="1371600" cy="731520"/>
          </a:xfrm>
          <a:prstGeom prst="line">
            <a:avLst/>
          </a:prstGeom>
          <a:ln w="9525">
            <a:solidFill>
              <a:srgbClr val="0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8778240" y="2743200"/>
            <a:ext cx="1280160" cy="36576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778240" y="1645920"/>
            <a:ext cx="640080" cy="109728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1247120" y="2377440"/>
            <a:ext cx="182880" cy="173736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58400" y="3108960"/>
            <a:ext cx="1188720" cy="1005840"/>
          </a:xfrm>
          <a:prstGeom prst="line">
            <a:avLst/>
          </a:prstGeom>
          <a:ln w="9525">
            <a:solidFill>
              <a:srgbClr val="0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0F6B6B"/>
                </a:solidFill>
                <a:latin typeface="Calibri"/>
              </a:rPr>
              <a:t>PAPER 2 OF 3  ·  FLOCKY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Decentralized Intent-based Edge Orchestration Using OAM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6858000" cy="464515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64008" cy="4645152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55648"/>
            <a:ext cx="6428232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0F6B6B"/>
                </a:solidFill>
                <a:latin typeface="Calibri"/>
              </a:rPr>
              <a:t>Paper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12848"/>
            <a:ext cx="6428232" cy="382219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Authors: T. Goethals, M. Sebrechts, M. Al-Naday,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   F. De Turck, B. Volckaert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Venue: IEEE Trans. Services Computing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Volume 19, Issue 1, pp. 380–395, 2026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DOI: 10.1109/TSC.2025.3631387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572768"/>
            <a:ext cx="4053535" cy="4645152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755648"/>
            <a:ext cx="3687775" cy="82296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ROLE IN
SEMINAR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70048"/>
            <a:ext cx="3687775" cy="4572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LAYER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172968"/>
            <a:ext cx="3687775" cy="18288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Decentralized
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Calibri"/>
              </a:rPr>
              <a:t>FLOCKY  ·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Cloud Assumptions Don't Hold at the 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5318607" cy="4645152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4952847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Cloud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4952847" cy="382219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Small set of powerful machines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Centralized orchestrator (Kubernetes)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High-capacity, stable infrastructure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Fast, reliable networking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2967" y="3666744"/>
            <a:ext cx="365760" cy="4572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200" b="1" i="0">
                <a:solidFill>
                  <a:srgbClr val="CFCBC2"/>
                </a:solidFill>
                <a:latin typeface="Calibri"/>
              </a:rPr>
              <a:t>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7" y="1572768"/>
            <a:ext cx="5318607" cy="464515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4447" y="1572768"/>
            <a:ext cx="64008" cy="4645152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1335" y="1755648"/>
            <a:ext cx="4888839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0F6B6B"/>
                </a:solidFill>
                <a:latin typeface="Calibri"/>
              </a:rPr>
              <a:t>Edge Reality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1335" y="2212848"/>
            <a:ext cx="4888839" cy="382219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Many heterogeneous, limited nodes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No single entity has global view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Changing topology and connectivity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Resource-constrained devices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199632"/>
            <a:ext cx="11094415" cy="19050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000" b="1" i="0">
                <a:solidFill>
                  <a:srgbClr val="0F6B6B"/>
                </a:solidFill>
                <a:latin typeface="Calibri"/>
              </a:rPr>
              <a:t>Can orchestration itself become decentralized?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0F6B6B"/>
                </a:solidFill>
                <a:latin typeface="Calibri"/>
              </a:rPr>
              <a:t>FLOCKY  · 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From Workload Intent to Placement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82496"/>
            <a:ext cx="5449824" cy="291693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Workload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74189"/>
            <a:ext cx="5449824" cy="2121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Requirements expressed declaratively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14016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523744"/>
            <a:ext cx="5449824" cy="291693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Open Application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15437"/>
            <a:ext cx="5449824" cy="2121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Structured component description + edge traits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55264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364992"/>
            <a:ext cx="5449824" cy="291693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Node Metadata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656685"/>
            <a:ext cx="5449824" cy="2121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Per-node capability advertisement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96512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206240"/>
            <a:ext cx="5449824" cy="291693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Capability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497933"/>
            <a:ext cx="5449824" cy="2121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Requirements ↔ metadata per candidate node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37760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047488"/>
            <a:ext cx="5449824" cy="291693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Placement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339181"/>
            <a:ext cx="5449824" cy="2121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Best-matching node(s) selected &amp; deployed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83280" y="2322576"/>
            <a:ext cx="0" cy="91440"/>
          </a:xfrm>
          <a:prstGeom prst="line">
            <a:avLst/>
          </a:prstGeom>
          <a:ln w="25400">
            <a:solidFill>
              <a:srgbClr val="0F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83280" y="3163824"/>
            <a:ext cx="0" cy="91440"/>
          </a:xfrm>
          <a:prstGeom prst="line">
            <a:avLst/>
          </a:prstGeom>
          <a:ln w="25400">
            <a:solidFill>
              <a:srgbClr val="0F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383280" y="4005072"/>
            <a:ext cx="0" cy="91440"/>
          </a:xfrm>
          <a:prstGeom prst="line">
            <a:avLst/>
          </a:prstGeom>
          <a:ln w="25400">
            <a:solidFill>
              <a:srgbClr val="0F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383280" y="4846320"/>
            <a:ext cx="0" cy="91440"/>
          </a:xfrm>
          <a:prstGeom prst="line">
            <a:avLst/>
          </a:prstGeom>
          <a:ln w="25400">
            <a:solidFill>
              <a:srgbClr val="0F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675120" y="1572768"/>
            <a:ext cx="4967935" cy="464515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755648"/>
            <a:ext cx="460217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0F6B6B"/>
                </a:solidFill>
                <a:latin typeface="Calibri"/>
              </a:rPr>
              <a:t>OAM EDGE TRAITS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167128"/>
            <a:ext cx="4602175" cy="6400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Orchestration considers
more than raw CPU: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852928"/>
            <a:ext cx="4602175" cy="475488"/>
          </a:xfrm>
          <a:prstGeom prst="roundRect">
            <a:avLst>
              <a:gd name="adj" fmla="val 6000"/>
            </a:avLst>
          </a:prstGeom>
          <a:solidFill>
            <a:srgbClr val="F7F5F0"/>
          </a:solidFill>
          <a:ln w="9525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2898648"/>
            <a:ext cx="4419295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  ✦  Network encryption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447288"/>
            <a:ext cx="4602175" cy="475488"/>
          </a:xfrm>
          <a:prstGeom prst="roundRect">
            <a:avLst>
              <a:gd name="adj" fmla="val 6000"/>
            </a:avLst>
          </a:prstGeom>
          <a:solidFill>
            <a:srgbClr val="F7F5F0"/>
          </a:solidFill>
          <a:ln w="9525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3493008"/>
            <a:ext cx="4419295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  ✦  Attestation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041648"/>
            <a:ext cx="4602175" cy="475488"/>
          </a:xfrm>
          <a:prstGeom prst="roundRect">
            <a:avLst>
              <a:gd name="adj" fmla="val 6000"/>
            </a:avLst>
          </a:prstGeom>
          <a:solidFill>
            <a:srgbClr val="F7F5F0"/>
          </a:solidFill>
          <a:ln w="9525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087368"/>
            <a:ext cx="4419295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  ✦  Green energy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36008"/>
            <a:ext cx="4602175" cy="475488"/>
          </a:xfrm>
          <a:prstGeom prst="roundRect">
            <a:avLst>
              <a:gd name="adj" fmla="val 6000"/>
            </a:avLst>
          </a:prstGeom>
          <a:solidFill>
            <a:srgbClr val="F7F5F0"/>
          </a:solidFill>
          <a:ln w="9525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4681728"/>
            <a:ext cx="4419295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  ✦  Secure runtime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230368"/>
            <a:ext cx="4602175" cy="475488"/>
          </a:xfrm>
          <a:prstGeom prst="roundRect">
            <a:avLst>
              <a:gd name="adj" fmla="val 6000"/>
            </a:avLst>
          </a:prstGeom>
          <a:solidFill>
            <a:srgbClr val="F7F5F0"/>
          </a:solidFill>
          <a:ln w="9525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5276088"/>
            <a:ext cx="4419295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  ✦  Distance constraints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0F6B6B"/>
                </a:solidFill>
                <a:latin typeface="Calibri"/>
              </a:rPr>
              <a:t>FLOCKY  ·  DECENTRALIZED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Building Local Topology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1828800" y="2560320"/>
            <a:ext cx="1280160" cy="731520"/>
          </a:xfrm>
          <a:prstGeom prst="line">
            <a:avLst/>
          </a:prstGeom>
          <a:ln w="25400">
            <a:solidFill>
              <a:srgbClr val="0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108960" y="2286000"/>
            <a:ext cx="1280160" cy="1005840"/>
          </a:xfrm>
          <a:prstGeom prst="line">
            <a:avLst/>
          </a:prstGeom>
          <a:ln w="25400">
            <a:solidFill>
              <a:srgbClr val="0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560320" y="3291840"/>
            <a:ext cx="548640" cy="1280160"/>
          </a:xfrm>
          <a:prstGeom prst="line">
            <a:avLst/>
          </a:prstGeom>
          <a:ln w="9525">
            <a:solidFill>
              <a:srgbClr val="CFC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108960" y="1920240"/>
            <a:ext cx="91440" cy="1371600"/>
          </a:xfrm>
          <a:prstGeom prst="line">
            <a:avLst/>
          </a:prstGeom>
          <a:ln w="9525">
            <a:solidFill>
              <a:srgbClr val="CFC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280160" y="2560320"/>
            <a:ext cx="548640" cy="1463040"/>
          </a:xfrm>
          <a:prstGeom prst="line">
            <a:avLst/>
          </a:prstGeom>
          <a:ln w="9525">
            <a:solidFill>
              <a:srgbClr val="CFC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0" y="2560320"/>
            <a:ext cx="731520" cy="2011680"/>
          </a:xfrm>
          <a:prstGeom prst="line">
            <a:avLst/>
          </a:prstGeom>
          <a:ln w="9525">
            <a:solidFill>
              <a:srgbClr val="CFC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389120" y="2286000"/>
            <a:ext cx="640080" cy="457200"/>
          </a:xfrm>
          <a:prstGeom prst="line">
            <a:avLst/>
          </a:prstGeom>
          <a:ln w="25400">
            <a:solidFill>
              <a:srgbClr val="0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200400" y="1920240"/>
            <a:ext cx="1188720" cy="365760"/>
          </a:xfrm>
          <a:prstGeom prst="line">
            <a:avLst/>
          </a:prstGeom>
          <a:ln w="25400">
            <a:solidFill>
              <a:srgbClr val="0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80160" y="4023360"/>
            <a:ext cx="1280160" cy="548640"/>
          </a:xfrm>
          <a:prstGeom prst="line">
            <a:avLst/>
          </a:prstGeom>
          <a:ln w="9525">
            <a:solidFill>
              <a:srgbClr val="CFC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572000" y="2743200"/>
            <a:ext cx="457200" cy="1554480"/>
          </a:xfrm>
          <a:prstGeom prst="line">
            <a:avLst/>
          </a:prstGeom>
          <a:ln w="9525">
            <a:solidFill>
              <a:srgbClr val="CFC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560320" y="4297680"/>
            <a:ext cx="2011680" cy="274320"/>
          </a:xfrm>
          <a:prstGeom prst="line">
            <a:avLst/>
          </a:prstGeom>
          <a:ln w="9525">
            <a:solidFill>
              <a:srgbClr val="CFC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834640" y="3017520"/>
            <a:ext cx="548640" cy="548640"/>
          </a:xfrm>
          <a:prstGeom prst="ellipse">
            <a:avLst/>
          </a:prstGeom>
          <a:solidFill>
            <a:srgbClr val="0F6B6B"/>
          </a:solidFill>
          <a:ln w="2540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3099816"/>
            <a:ext cx="548640" cy="384048"/>
          </a:xfrm>
          <a:prstGeom prst="rect">
            <a:avLst/>
          </a:prstGeom>
          <a:noFill/>
        </p:spPr>
        <p:txBody>
          <a:bodyPr wrap="none" autofit="noAutofit" lIns="0" rIns="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2286000"/>
            <a:ext cx="548640" cy="548640"/>
          </a:xfrm>
          <a:prstGeom prst="ellipse">
            <a:avLst/>
          </a:prstGeom>
          <a:solidFill>
            <a:srgbClr val="0F6B6B"/>
          </a:solidFill>
          <a:ln w="2540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2368296"/>
            <a:ext cx="548640" cy="384048"/>
          </a:xfrm>
          <a:prstGeom prst="rect">
            <a:avLst/>
          </a:prstGeom>
          <a:noFill/>
        </p:spPr>
        <p:txBody>
          <a:bodyPr wrap="none" autofit="noAutofit" lIns="0" rIns="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2011680"/>
            <a:ext cx="548640" cy="548640"/>
          </a:xfrm>
          <a:prstGeom prst="ellipse">
            <a:avLst/>
          </a:prstGeom>
          <a:solidFill>
            <a:srgbClr val="0F6B6B"/>
          </a:solidFill>
          <a:ln w="2540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2093976"/>
            <a:ext cx="548640" cy="384048"/>
          </a:xfrm>
          <a:prstGeom prst="rect">
            <a:avLst/>
          </a:prstGeom>
          <a:noFill/>
        </p:spPr>
        <p:txBody>
          <a:bodyPr wrap="none" autofit="noAutofit" lIns="0" rIns="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3749040"/>
            <a:ext cx="548640" cy="548640"/>
          </a:xfrm>
          <a:prstGeom prst="ellipse">
            <a:avLst/>
          </a:prstGeom>
          <a:solidFill>
            <a:srgbClr val="F7F5F0"/>
          </a:solidFill>
          <a:ln w="254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831336"/>
            <a:ext cx="548640" cy="384048"/>
          </a:xfrm>
          <a:prstGeom prst="rect">
            <a:avLst/>
          </a:prstGeom>
          <a:noFill/>
        </p:spPr>
        <p:txBody>
          <a:bodyPr wrap="none" autofit="noAutofit" lIns="0" rIns="0" tIns="25400" bIns="25400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2468880"/>
            <a:ext cx="548640" cy="548640"/>
          </a:xfrm>
          <a:prstGeom prst="ellipse">
            <a:avLst/>
          </a:prstGeom>
          <a:solidFill>
            <a:srgbClr val="ECEAE4"/>
          </a:solidFill>
          <a:ln w="254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2551176"/>
            <a:ext cx="548640" cy="384048"/>
          </a:xfrm>
          <a:prstGeom prst="rect">
            <a:avLst/>
          </a:prstGeom>
          <a:noFill/>
        </p:spPr>
        <p:txBody>
          <a:bodyPr wrap="none" autofit="noAutofit" lIns="0" rIns="0" tIns="25400" bIns="25400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4297680"/>
            <a:ext cx="548640" cy="548640"/>
          </a:xfrm>
          <a:prstGeom prst="ellipse">
            <a:avLst/>
          </a:prstGeom>
          <a:solidFill>
            <a:srgbClr val="F7F5F0"/>
          </a:solidFill>
          <a:ln w="254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4379976"/>
            <a:ext cx="548640" cy="384048"/>
          </a:xfrm>
          <a:prstGeom prst="rect">
            <a:avLst/>
          </a:prstGeom>
          <a:noFill/>
        </p:spPr>
        <p:txBody>
          <a:bodyPr wrap="none" autofit="noAutofit" lIns="0" rIns="0" tIns="25400" bIns="25400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4023360"/>
            <a:ext cx="548640" cy="548640"/>
          </a:xfrm>
          <a:prstGeom prst="ellipse">
            <a:avLst/>
          </a:prstGeom>
          <a:solidFill>
            <a:srgbClr val="F7F5F0"/>
          </a:solidFill>
          <a:ln w="254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4105656"/>
            <a:ext cx="548640" cy="384048"/>
          </a:xfrm>
          <a:prstGeom prst="rect">
            <a:avLst/>
          </a:prstGeom>
          <a:noFill/>
        </p:spPr>
        <p:txBody>
          <a:bodyPr wrap="none" autofit="noAutofit" lIns="0" rIns="0" tIns="25400" bIns="25400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1645920"/>
            <a:ext cx="548640" cy="548640"/>
          </a:xfrm>
          <a:prstGeom prst="ellipse">
            <a:avLst/>
          </a:prstGeom>
          <a:solidFill>
            <a:srgbClr val="ECEAE4"/>
          </a:solidFill>
          <a:ln w="254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1728216"/>
            <a:ext cx="548640" cy="384048"/>
          </a:xfrm>
          <a:prstGeom prst="rect">
            <a:avLst/>
          </a:prstGeom>
          <a:noFill/>
        </p:spPr>
        <p:txBody>
          <a:bodyPr wrap="none" autofit="noAutofit" lIns="0" rIns="0" tIns="25400" bIns="25400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1572768"/>
            <a:ext cx="5150815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0F6B6B"/>
                </a:solidFill>
                <a:latin typeface="Calibri"/>
              </a:rPr>
              <a:t>DISCOVERY STEPS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1984248"/>
            <a:ext cx="5150815" cy="47548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1.  Local node broadcasts capability info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551176"/>
            <a:ext cx="5150815" cy="47548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2.  Nearby nodes respond with metadata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118104"/>
            <a:ext cx="5150815" cy="47548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3.  PING measures round-trip latency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685032"/>
            <a:ext cx="5150815" cy="47548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4.  Metadata cached for placement decisions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251960"/>
            <a:ext cx="5150815" cy="47548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5.  Local topology view built — no global state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4910328"/>
            <a:ext cx="5150815" cy="82296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956048"/>
            <a:ext cx="4876495" cy="59436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1" i="1">
                <a:solidFill>
                  <a:srgbClr val="0F6B6B"/>
                </a:solidFill>
                <a:latin typeface="Calibri"/>
              </a:rPr>
              <a:t>&gt;97% of neighbours
discovered in 2 rounds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263640"/>
            <a:ext cx="5943600" cy="29260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■ Teal = selected node + local links   ■ Grey = distant / unvisited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As reported by the paper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0F6B6B"/>
                </a:solidFill>
                <a:latin typeface="Calibri"/>
              </a:rPr>
              <a:t>FLOCKY  ·  ORCHESTRATION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Five-Stage Decentralized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2072579" cy="2560320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82496"/>
            <a:ext cx="1853123" cy="1287475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
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69971"/>
            <a:ext cx="1853123" cy="936345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Find nearby nodes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4099" y="1572768"/>
            <a:ext cx="2072579" cy="2560320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3827" y="1682496"/>
            <a:ext cx="1853123" cy="1287475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
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3827" y="2969971"/>
            <a:ext cx="1853123" cy="936345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Learn capabilities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9558" y="1572768"/>
            <a:ext cx="2072579" cy="2560320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9286" y="1682496"/>
            <a:ext cx="1853123" cy="1287475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
Scheduling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9286" y="2969971"/>
            <a:ext cx="1853123" cy="936345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Match requirements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017" y="1572768"/>
            <a:ext cx="2072579" cy="2560320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4745" y="1682496"/>
            <a:ext cx="1853123" cy="1287475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
Construct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745" y="2969971"/>
            <a:ext cx="1853123" cy="936345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Compose workload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70476" y="1572768"/>
            <a:ext cx="2072579" cy="2560320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80204" y="1682496"/>
            <a:ext cx="1853123" cy="1287475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
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0204" y="2969971"/>
            <a:ext cx="1853123" cy="936345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Place and launch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21219" y="2852928"/>
            <a:ext cx="182880" cy="0"/>
          </a:xfrm>
          <a:prstGeom prst="line">
            <a:avLst/>
          </a:prstGeom>
          <a:ln w="31750">
            <a:solidFill>
              <a:srgbClr val="0F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876678" y="2852928"/>
            <a:ext cx="182880" cy="0"/>
          </a:xfrm>
          <a:prstGeom prst="line">
            <a:avLst/>
          </a:prstGeom>
          <a:ln w="31750">
            <a:solidFill>
              <a:srgbClr val="0F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32137" y="2852928"/>
            <a:ext cx="182880" cy="0"/>
          </a:xfrm>
          <a:prstGeom prst="line">
            <a:avLst/>
          </a:prstGeom>
          <a:ln w="31750">
            <a:solidFill>
              <a:srgbClr val="0F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387596" y="2852928"/>
            <a:ext cx="182880" cy="0"/>
          </a:xfrm>
          <a:prstGeom prst="line">
            <a:avLst/>
          </a:prstGeom>
          <a:ln w="31750">
            <a:solidFill>
              <a:srgbClr val="0F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48640" y="4407408"/>
            <a:ext cx="11094415" cy="181051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72000"/>
            <a:ext cx="10545775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200" b="1" i="0">
                <a:solidFill>
                  <a:srgbClr val="0F6B6B"/>
                </a:solidFill>
                <a:latin typeface="Calibri"/>
              </a:rPr>
              <a:t>Orchestration decisions are distributed across participating nodes.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01768"/>
            <a:ext cx="10545775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000" b="0" i="0">
                <a:solidFill>
                  <a:srgbClr val="6B6B6B"/>
                </a:solidFill>
                <a:latin typeface="Calibri"/>
              </a:rPr>
              <a:t>No single global scheduler — each node participates in placement collectively.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0F6B6B"/>
                </a:solidFill>
                <a:latin typeface="Calibri"/>
              </a:rPr>
              <a:t>FLOCKY  ·  REPORTED EVALUATION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Key Findings from the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5364327" cy="13716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7200" b="1" i="0">
                <a:solidFill>
                  <a:srgbClr val="0F6B6B"/>
                </a:solidFill>
                <a:latin typeface="Calibri"/>
              </a:rPr>
              <a:t>&gt;97%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45536"/>
            <a:ext cx="5364327" cy="5029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  <a:latin typeface="Calibri"/>
              </a:rPr>
              <a:t>of viable neighbours discovered
in two discovery rounds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21608"/>
            <a:ext cx="5364327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1">
                <a:solidFill>
                  <a:srgbClr val="6B6B6B"/>
                </a:solidFill>
                <a:latin typeface="Calibri"/>
              </a:rPr>
              <a:t>as reported by the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755648"/>
            <a:ext cx="5364327" cy="13716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7200" b="1" i="0">
                <a:solidFill>
                  <a:srgbClr val="0F6B6B"/>
                </a:solidFill>
                <a:latin typeface="Calibri"/>
              </a:rPr>
              <a:t>84%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3145536"/>
            <a:ext cx="5364327" cy="5029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  <a:latin typeface="Calibri"/>
              </a:rPr>
              <a:t>less memory than centralized
Kubernetes (reported evaluation)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721608"/>
            <a:ext cx="5364327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1">
                <a:solidFill>
                  <a:srgbClr val="6B6B6B"/>
                </a:solidFill>
                <a:latin typeface="Calibri"/>
              </a:rPr>
              <a:t>as reported by the paper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77559" y="1847088"/>
            <a:ext cx="19050" cy="265176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590288"/>
            <a:ext cx="11094415" cy="162763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73168"/>
            <a:ext cx="10545775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0F6B6B"/>
                </a:solidFill>
                <a:latin typeface="Calibri"/>
              </a:rPr>
              <a:t>Architectural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84648"/>
            <a:ext cx="10545775" cy="82296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200" b="0" i="0">
                <a:solidFill>
                  <a:srgbClr val="1A1A1A"/>
                </a:solidFill>
                <a:latin typeface="Calibri"/>
              </a:rPr>
              <a:t>Flocky demonstrates decentralized edge orchestration without a global controller.
Intent + node metadata + local discovery enables informed placement at scale.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As reported by Goethals et al., IEEE TSC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22860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1000" b="1" i="0">
                <a:solidFill>
                  <a:srgbClr val="C9772E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7315200" cy="11887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DATOR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8229600" cy="6400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0" i="0">
                <a:solidFill>
                  <a:srgbClr val="6B6B6B"/>
                </a:solidFill>
                <a:latin typeface="Calibri"/>
              </a:rPr>
              <a:t>Self-Organized Neural Network Inference in Dynamic Edges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1463040"/>
            <a:ext cx="365760" cy="365760"/>
          </a:xfrm>
          <a:prstGeom prst="ellipse">
            <a:avLst/>
          </a:prstGeom>
          <a:noFill/>
          <a:ln w="19050">
            <a:solidFill>
              <a:srgbClr val="C97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914400"/>
            <a:ext cx="365760" cy="365760"/>
          </a:xfrm>
          <a:prstGeom prst="ellipse">
            <a:avLst/>
          </a:prstGeom>
          <a:noFill/>
          <a:ln w="19050">
            <a:solidFill>
              <a:srgbClr val="C97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47120" y="2194560"/>
            <a:ext cx="365760" cy="365760"/>
          </a:xfrm>
          <a:prstGeom prst="ellipse">
            <a:avLst/>
          </a:prstGeom>
          <a:noFill/>
          <a:ln w="19050">
            <a:solidFill>
              <a:srgbClr val="C97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0" y="2926080"/>
            <a:ext cx="365760" cy="365760"/>
          </a:xfrm>
          <a:prstGeom prst="ellipse">
            <a:avLst/>
          </a:prstGeom>
          <a:noFill/>
          <a:ln w="19050">
            <a:solidFill>
              <a:srgbClr val="C97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2560320"/>
            <a:ext cx="365760" cy="365760"/>
          </a:xfrm>
          <a:prstGeom prst="ellipse">
            <a:avLst/>
          </a:prstGeom>
          <a:noFill/>
          <a:ln w="19050">
            <a:solidFill>
              <a:srgbClr val="C97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64240" y="3931920"/>
            <a:ext cx="365760" cy="365760"/>
          </a:xfrm>
          <a:prstGeom prst="ellipse">
            <a:avLst/>
          </a:prstGeom>
          <a:noFill/>
          <a:ln w="19050">
            <a:solidFill>
              <a:srgbClr val="C97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9418320" y="1097280"/>
            <a:ext cx="1371600" cy="54864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789920" y="1097280"/>
            <a:ext cx="640080" cy="1280160"/>
          </a:xfrm>
          <a:prstGeom prst="line">
            <a:avLst/>
          </a:prstGeom>
          <a:ln w="9525">
            <a:solidFill>
              <a:srgbClr val="C97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058400" y="2377440"/>
            <a:ext cx="1371600" cy="731520"/>
          </a:xfrm>
          <a:prstGeom prst="line">
            <a:avLst/>
          </a:prstGeom>
          <a:ln w="9525">
            <a:solidFill>
              <a:srgbClr val="C97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8778240" y="2743200"/>
            <a:ext cx="1280160" cy="36576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778240" y="1645920"/>
            <a:ext cx="640080" cy="109728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1247120" y="2377440"/>
            <a:ext cx="182880" cy="173736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58400" y="3108960"/>
            <a:ext cx="1188720" cy="1005840"/>
          </a:xfrm>
          <a:prstGeom prst="line">
            <a:avLst/>
          </a:prstGeom>
          <a:ln w="9525">
            <a:solidFill>
              <a:srgbClr val="C97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C9772E"/>
                </a:solidFill>
                <a:latin typeface="Calibri"/>
              </a:rPr>
              <a:t>PAPER 3 OF 3  ·  DATOR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Self-Organized Neural Network Inference in Dynamic Edge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6858000" cy="464515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64008" cy="4645152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55648"/>
            <a:ext cx="6428232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C9772E"/>
                </a:solidFill>
                <a:latin typeface="Calibri"/>
              </a:rPr>
              <a:t>Paper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12848"/>
            <a:ext cx="6428232" cy="382219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Authors: M. Schrauth, M. Thome,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   T. Ohlenforst, F. Kreyß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Venue: Applied Sciences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Volume 15, Issue 23, Article 12615, 2025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DOI: 10.3390/app152312615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572768"/>
            <a:ext cx="4053535" cy="4645152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755648"/>
            <a:ext cx="3687775" cy="82296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ROLE IN
SEMINAR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70048"/>
            <a:ext cx="3687775" cy="4572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LAYER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172968"/>
            <a:ext cx="3687775" cy="19202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Dynamic
Execution &amp;
Resilience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C9772E"/>
                </a:solidFill>
                <a:latin typeface="Calibri"/>
              </a:rPr>
              <a:t>DATOR  · 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Static Placement Cannot Survive Dynamic Edges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5455767" cy="1728216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64008" cy="1728216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55648"/>
            <a:ext cx="5025999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C9772E"/>
                </a:solidFill>
                <a:latin typeface="Calibri"/>
              </a:rPr>
              <a:t>Node Dropout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12848"/>
            <a:ext cx="5025999" cy="905256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Nodes disconnect unexpectedly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Inference pipeline breaks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1572768"/>
            <a:ext cx="5455767" cy="1728216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572768"/>
            <a:ext cx="64008" cy="1728216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4175" y="1755648"/>
            <a:ext cx="5025999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C9772E"/>
                </a:solidFill>
                <a:latin typeface="Calibri"/>
              </a:rPr>
              <a:t>Intermittent Connectivity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4175" y="2212848"/>
            <a:ext cx="5025999" cy="905256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Links flicker; packets lost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Transmission times spike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92424"/>
            <a:ext cx="5455767" cy="1728216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92424"/>
            <a:ext cx="64008" cy="1728216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575304"/>
            <a:ext cx="5025999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C9772E"/>
                </a:solidFill>
                <a:latin typeface="Calibri"/>
              </a:rPr>
              <a:t>Heterogeneous 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032504"/>
            <a:ext cx="5025999" cy="905256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Nodes vary in compute power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One model does not fit 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3392424"/>
            <a:ext cx="5455767" cy="1728216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287" y="3392424"/>
            <a:ext cx="64008" cy="1728216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4175" y="3575304"/>
            <a:ext cx="5025999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C9772E"/>
                </a:solidFill>
                <a:latin typeface="Calibri"/>
              </a:rPr>
              <a:t>Changing Workload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4175" y="4032504"/>
            <a:ext cx="5025999" cy="905256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Inference demand shifts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Fixed allocation under/over-serves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12080"/>
            <a:ext cx="11094415" cy="1005840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47360"/>
            <a:ext cx="10545775" cy="9144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Design Goal: maintain distributed inference without a central controller or single point of failure.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C9772E"/>
                </a:solidFill>
                <a:latin typeface="Calibri"/>
              </a:rPr>
              <a:t>DATOR  ·  MULTI-STAGE INFERENCE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Splitting the Neural Network Across Edge Nodes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9427" y="1847088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9155" y="1956816"/>
            <a:ext cx="1563624" cy="101498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26867" y="1847088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 w="19050">
            <a:solidFill>
              <a:srgbClr val="C97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6595" y="1956816"/>
            <a:ext cx="1563624" cy="558241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6595" y="2515057"/>
            <a:ext cx="1563624" cy="405993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Node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04307" y="1847088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 w="19050">
            <a:solidFill>
              <a:srgbClr val="C97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14035" y="1956816"/>
            <a:ext cx="1563624" cy="558241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4035" y="2515057"/>
            <a:ext cx="1563624" cy="405993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Node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1747" y="1847088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 w="19050">
            <a:solidFill>
              <a:srgbClr val="C97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1475" y="1956816"/>
            <a:ext cx="1563624" cy="558241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1475" y="2515057"/>
            <a:ext cx="1563624" cy="405993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Node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59187" y="1847088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68915" y="1956816"/>
            <a:ext cx="1563624" cy="101498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32507" y="2464308"/>
            <a:ext cx="594360" cy="0"/>
          </a:xfrm>
          <a:prstGeom prst="line">
            <a:avLst/>
          </a:prstGeom>
          <a:ln w="31750">
            <a:solidFill>
              <a:srgbClr val="C97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118207" y="1435608"/>
            <a:ext cx="8229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activation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09947" y="2464308"/>
            <a:ext cx="594360" cy="0"/>
          </a:xfrm>
          <a:prstGeom prst="line">
            <a:avLst/>
          </a:prstGeom>
          <a:ln w="31750">
            <a:solidFill>
              <a:srgbClr val="C97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95647" y="1435608"/>
            <a:ext cx="8229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activation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87387" y="2464308"/>
            <a:ext cx="594360" cy="0"/>
          </a:xfrm>
          <a:prstGeom prst="line">
            <a:avLst/>
          </a:prstGeom>
          <a:ln w="31750">
            <a:solidFill>
              <a:srgbClr val="C97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73087" y="1435608"/>
            <a:ext cx="8229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activation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64827" y="2464308"/>
            <a:ext cx="594360" cy="0"/>
          </a:xfrm>
          <a:prstGeom prst="line">
            <a:avLst/>
          </a:prstGeom>
          <a:ln w="31750">
            <a:solidFill>
              <a:srgbClr val="C97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250527" y="1435608"/>
            <a:ext cx="8229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activation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47288"/>
            <a:ext cx="11094415" cy="272491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447288"/>
            <a:ext cx="64008" cy="2724912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3630168"/>
            <a:ext cx="10664647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C9772E"/>
                </a:solidFill>
                <a:latin typeface="Calibri"/>
              </a:rPr>
              <a:t>How It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087368"/>
            <a:ext cx="10664647" cy="190195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The DNN is partitioned into layer groups (stages).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Each stage maps to a suitable edge node.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Intermediate activations flow between nodes.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If a node fails — the system finds an alternate path.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C9772E"/>
                </a:solidFill>
                <a:latin typeface="Calibri"/>
              </a:rPr>
              <a:t>DATOR  ·  LOCAL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Work Assignment Without Central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5303520" cy="71323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82496"/>
            <a:ext cx="5084064" cy="271576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New Work 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54072"/>
            <a:ext cx="5084064" cy="19751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Inference stage needs assignment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303520" cy="71323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487168"/>
            <a:ext cx="5084064" cy="271576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Broadcast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58744"/>
            <a:ext cx="5084064" cy="19751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Current node announces task to neighbours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82112"/>
            <a:ext cx="5303520" cy="71323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91840"/>
            <a:ext cx="5084064" cy="271576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Eligible Nodes Respond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563416"/>
            <a:ext cx="5084064" cy="19751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Nodes with capacity + module reply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86784"/>
            <a:ext cx="5303520" cy="71323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096512"/>
            <a:ext cx="5084064" cy="271576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Node Accepts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368088"/>
            <a:ext cx="5084064" cy="19751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Best candidate dispatched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91456"/>
            <a:ext cx="5303520" cy="71323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901184"/>
            <a:ext cx="5084064" cy="271576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Stage Executes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172760"/>
            <a:ext cx="5084064" cy="19751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Result forwarded to next stage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00400" y="2286000"/>
            <a:ext cx="0" cy="91440"/>
          </a:xfrm>
          <a:prstGeom prst="line">
            <a:avLst/>
          </a:prstGeom>
          <a:ln w="25400">
            <a:solidFill>
              <a:srgbClr val="C97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200400" y="3090672"/>
            <a:ext cx="0" cy="91440"/>
          </a:xfrm>
          <a:prstGeom prst="line">
            <a:avLst/>
          </a:prstGeom>
          <a:ln w="25400">
            <a:solidFill>
              <a:srgbClr val="C97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00400" y="3895344"/>
            <a:ext cx="0" cy="91440"/>
          </a:xfrm>
          <a:prstGeom prst="line">
            <a:avLst/>
          </a:prstGeom>
          <a:ln w="25400">
            <a:solidFill>
              <a:srgbClr val="C97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00400" y="4700016"/>
            <a:ext cx="0" cy="91440"/>
          </a:xfrm>
          <a:prstGeom prst="line">
            <a:avLst/>
          </a:prstGeom>
          <a:ln w="25400">
            <a:solidFill>
              <a:srgbClr val="C97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63640" y="1572768"/>
            <a:ext cx="5379415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C9772E"/>
                </a:solidFill>
                <a:latin typeface="Calibri"/>
              </a:rPr>
              <a:t>NODE DECISION CRITERIA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984248"/>
            <a:ext cx="5379415" cy="77724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029968"/>
            <a:ext cx="510509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C9772E"/>
                </a:solidFill>
                <a:latin typeface="Calibri"/>
              </a:rPr>
              <a:t>Module present?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331720"/>
            <a:ext cx="510509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Does node hold the needed layer group?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852928"/>
            <a:ext cx="5379415" cy="77724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898648"/>
            <a:ext cx="510509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C9772E"/>
                </a:solidFill>
                <a:latin typeface="Calibri"/>
              </a:rPr>
              <a:t>Utilization OK?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200400"/>
            <a:ext cx="510509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Load within acceptance threshold?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721608"/>
            <a:ext cx="5379415" cy="77724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67328"/>
            <a:ext cx="510509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C9772E"/>
                </a:solidFill>
                <a:latin typeface="Calibri"/>
              </a:rPr>
              <a:t>Hardware capable?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069080"/>
            <a:ext cx="510509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Can execute stage efficiently?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681728"/>
            <a:ext cx="5379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818888"/>
            <a:ext cx="5379415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Weighted-auction factors: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184648"/>
            <a:ext cx="5379415" cy="73152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Capability · Latency · Energy · Utilization
(Contract Net Protocol concepts)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C9772E"/>
                </a:solidFill>
                <a:latin typeface="Calibri"/>
              </a:rPr>
              <a:t>DATOR  ·  DYNAMIC REROUTING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Inference Continues Despite Node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325880" cy="148742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0F6B6B"/>
                </a:solidFill>
                <a:latin typeface="Calibri"/>
              </a:rPr>
              <a:t>Normal
A → B →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1632"/>
            <a:ext cx="1325880" cy="148742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B04A4A"/>
                </a:solidFill>
                <a:latin typeface="Calibri"/>
              </a:rPr>
              <a:t>Failure
B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30496"/>
            <a:ext cx="1325880" cy="148742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C9772E"/>
                </a:solidFill>
                <a:latin typeface="Calibri"/>
              </a:rPr>
              <a:t>Recovery
A → D → 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83642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5688" y="1946148"/>
            <a:ext cx="1517904" cy="74066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83642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0328" y="1946148"/>
            <a:ext cx="1517904" cy="74066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183642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4968" y="1946148"/>
            <a:ext cx="1517904" cy="74066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03320" y="2316480"/>
            <a:ext cx="1097280" cy="0"/>
          </a:xfrm>
          <a:prstGeom prst="line">
            <a:avLst/>
          </a:prstGeom>
          <a:ln w="31750">
            <a:solidFill>
              <a:srgbClr val="0F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37960" y="2316480"/>
            <a:ext cx="1097280" cy="0"/>
          </a:xfrm>
          <a:prstGeom prst="line">
            <a:avLst/>
          </a:prstGeom>
          <a:ln w="31750">
            <a:solidFill>
              <a:srgbClr val="0F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965960" y="3415284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75688" y="3525012"/>
            <a:ext cx="1517904" cy="74066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3415284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B04A4A"/>
          </a:solidFill>
          <a:ln w="19050">
            <a:solidFill>
              <a:srgbClr val="B0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3525012"/>
            <a:ext cx="1517904" cy="74066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  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3415284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4968" y="3525012"/>
            <a:ext cx="1517904" cy="74066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03320" y="3895344"/>
            <a:ext cx="1097280" cy="0"/>
          </a:xfrm>
          <a:prstGeom prst="line">
            <a:avLst/>
          </a:prstGeom>
          <a:ln w="31750">
            <a:solidFill>
              <a:srgbClr val="B04A4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537960" y="3895344"/>
            <a:ext cx="1097280" cy="0"/>
          </a:xfrm>
          <a:prstGeom prst="line">
            <a:avLst/>
          </a:prstGeom>
          <a:ln w="19050">
            <a:solidFill>
              <a:srgbClr val="B0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965960" y="4994148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75688" y="5103876"/>
            <a:ext cx="1517904" cy="74066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4994148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 w="19050">
            <a:solidFill>
              <a:srgbClr val="C97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0328" y="5103876"/>
            <a:ext cx="1517904" cy="74066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40" y="4994148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4968" y="5103876"/>
            <a:ext cx="1517904" cy="740664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703320" y="5474208"/>
            <a:ext cx="1097280" cy="0"/>
          </a:xfrm>
          <a:prstGeom prst="line">
            <a:avLst/>
          </a:prstGeom>
          <a:ln w="31750">
            <a:solidFill>
              <a:srgbClr val="C97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37960" y="5474208"/>
            <a:ext cx="1097280" cy="0"/>
          </a:xfrm>
          <a:prstGeom prst="line">
            <a:avLst/>
          </a:prstGeom>
          <a:ln w="31750">
            <a:solidFill>
              <a:srgbClr val="C97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382512"/>
            <a:ext cx="1036289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1" i="0">
                <a:solidFill>
                  <a:srgbClr val="C9772E"/>
                </a:solidFill>
                <a:latin typeface="Calibri"/>
              </a:rPr>
              <a:t>Fault handling is integrated into the inference path — no centralized recovery controller.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C9772E"/>
                </a:solidFill>
                <a:latin typeface="Calibri"/>
              </a:rPr>
              <a:t>DATOR  · 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828800" cy="25400"/>
          </a:xfrm>
          <a:prstGeom prst="rect">
            <a:avLst/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Performance Across Network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2636443" cy="228600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64008" cy="2286000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55648"/>
            <a:ext cx="2206675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C9772E"/>
                </a:solidFill>
                <a:latin typeface="Calibri"/>
              </a:rPr>
              <a:t>Stable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12848"/>
            <a:ext cx="2206675" cy="1463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No node failures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Baseline performance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963" y="1572768"/>
            <a:ext cx="2636443" cy="228600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7963" y="1572768"/>
            <a:ext cx="64008" cy="2286000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4851" y="1755648"/>
            <a:ext cx="2206675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C9772E"/>
                </a:solidFill>
                <a:latin typeface="Calibri"/>
              </a:rPr>
              <a:t>Unstable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4851" y="2212848"/>
            <a:ext cx="2206675" cy="1463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Intermittent node failures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System continues via rerouting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7287" y="1572768"/>
            <a:ext cx="2636443" cy="228600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7287" y="1572768"/>
            <a:ext cx="64008" cy="2286000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4175" y="1755648"/>
            <a:ext cx="2206675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C9772E"/>
                </a:solidFill>
                <a:latin typeface="Calibri"/>
              </a:rPr>
              <a:t>Impaired Comm.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5" y="2212848"/>
            <a:ext cx="2206675" cy="1463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5% message loss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Reduced throughput, stable ops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611" y="1572768"/>
            <a:ext cx="2636443" cy="228600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611" y="1572768"/>
            <a:ext cx="64008" cy="2286000"/>
          </a:xfrm>
          <a:prstGeom prst="roundRect">
            <a:avLst>
              <a:gd name="adj" fmla="val 8000"/>
            </a:avLst>
          </a:prstGeom>
          <a:solidFill>
            <a:srgbClr val="B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499" y="1755648"/>
            <a:ext cx="2206675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B04A4A"/>
                </a:solidFill>
                <a:latin typeface="Calibri"/>
              </a:rPr>
              <a:t>Severe Comm.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499" y="2212848"/>
            <a:ext cx="2206675" cy="1463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~10× longer transmissions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System approaches saturation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41648"/>
            <a:ext cx="11094415" cy="217627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97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78808"/>
            <a:ext cx="10545775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C9772E"/>
                </a:solidFill>
                <a:latin typeface="Calibri"/>
              </a:rPr>
              <a:t>General Performance Pattern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590288"/>
            <a:ext cx="54864" cy="411480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590288"/>
            <a:ext cx="2286000" cy="4114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1" i="0">
                <a:solidFill>
                  <a:srgbClr val="0F6B6B"/>
                </a:solidFill>
                <a:latin typeface="Calibri"/>
              </a:rPr>
              <a:t>Low 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590288"/>
            <a:ext cx="7772400" cy="4114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Latency remains relatively 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230368"/>
            <a:ext cx="54864" cy="411480"/>
          </a:xfrm>
          <a:prstGeom prst="rect">
            <a:avLst/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230368"/>
            <a:ext cx="2286000" cy="4114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1" i="0">
                <a:solidFill>
                  <a:srgbClr val="C9772E"/>
                </a:solidFill>
                <a:latin typeface="Calibri"/>
              </a:rPr>
              <a:t>Increasing 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230368"/>
            <a:ext cx="7772400" cy="4114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More nodes join distributed execution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870448"/>
            <a:ext cx="54864" cy="411480"/>
          </a:xfrm>
          <a:prstGeom prst="rect">
            <a:avLst/>
          </a:prstGeom>
          <a:solidFill>
            <a:srgbClr val="B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870448"/>
            <a:ext cx="2286000" cy="4114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1" i="0">
                <a:solidFill>
                  <a:srgbClr val="B04A4A"/>
                </a:solidFill>
                <a:latin typeface="Calibri"/>
              </a:rPr>
              <a:t>Near saturation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870448"/>
            <a:ext cx="7772400" cy="4114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Throughput &amp; latency approach capacity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601968"/>
            <a:ext cx="10545775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Designed to maintain operation even when not all nodes and links are permanently available.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Calibri"/>
              </a:rPr>
              <a:t>COMPARATIVE ANALYSIS  · 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Main Question &amp;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17520" y="1572768"/>
            <a:ext cx="2814218" cy="566928"/>
          </a:xfrm>
          <a:prstGeom prst="roundRect">
            <a:avLst>
              <a:gd name="adj" fmla="val 6000"/>
            </a:avLst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572768"/>
            <a:ext cx="2814218" cy="56692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23178" y="1572768"/>
            <a:ext cx="2814218" cy="566928"/>
          </a:xfrm>
          <a:prstGeom prst="roundRect">
            <a:avLst>
              <a:gd name="adj" fmla="val 6000"/>
            </a:avLst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23178" y="1572768"/>
            <a:ext cx="2814218" cy="56692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Flocky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28836" y="1572768"/>
            <a:ext cx="2814218" cy="566928"/>
          </a:xfrm>
          <a:prstGeom prst="roundRect">
            <a:avLst>
              <a:gd name="adj" fmla="val 6000"/>
            </a:avLst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8836" y="1572768"/>
            <a:ext cx="2814218" cy="56692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31136"/>
            <a:ext cx="2286000" cy="1283208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40864"/>
            <a:ext cx="2057400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Main
Question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2231136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2322576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Which scheduling policy
for the current state?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23178" y="2231136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2906" y="2322576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How can orchestration
be decentralized?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8836" y="2231136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8564" y="2322576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How can inference survive
dynamic nodes &amp; links?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60064"/>
            <a:ext cx="2286000" cy="1283208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669792"/>
            <a:ext cx="2057400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Method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560064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3651504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Deep Q-Network
Policy selection via DRL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23178" y="3560064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2906" y="3651504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Intent + OAM + Metadata
Decentralized discovery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8836" y="3560064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8564" y="3651504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Multi-stage distributed
Local negotiation + rerouting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888992"/>
            <a:ext cx="2286000" cy="1283208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998720"/>
            <a:ext cx="2057400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Decision
Level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4888992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27248" y="4980432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Scheduling policy
selection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23178" y="4888992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2906" y="4980432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App/component
placement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8836" y="4888992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38564" y="4980432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Inference-stage
assignment &amp; routing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Calibri"/>
              </a:rPr>
              <a:t>COMPARATIVE ANALYSIS  · 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Strengths &amp;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17520" y="1572768"/>
            <a:ext cx="2814218" cy="566928"/>
          </a:xfrm>
          <a:prstGeom prst="roundRect">
            <a:avLst>
              <a:gd name="adj" fmla="val 6000"/>
            </a:avLst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572768"/>
            <a:ext cx="2814218" cy="56692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23178" y="1572768"/>
            <a:ext cx="2814218" cy="566928"/>
          </a:xfrm>
          <a:prstGeom prst="roundRect">
            <a:avLst>
              <a:gd name="adj" fmla="val 6000"/>
            </a:avLst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23178" y="1572768"/>
            <a:ext cx="2814218" cy="56692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Flocky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28836" y="1572768"/>
            <a:ext cx="2814218" cy="566928"/>
          </a:xfrm>
          <a:prstGeom prst="roundRect">
            <a:avLst>
              <a:gd name="adj" fmla="val 6000"/>
            </a:avLst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8836" y="1572768"/>
            <a:ext cx="2814218" cy="56692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31136"/>
            <a:ext cx="2286000" cy="1283208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40864"/>
            <a:ext cx="2057400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Key
Strength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2231136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2322576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Workload / network
adaptation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23178" y="2231136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2906" y="2322576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Decentralized coordination
&amp; local knowledge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8836" y="2231136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8564" y="2322576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Self-organization
&amp; resilience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60064"/>
            <a:ext cx="2286000" cy="1283208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669792"/>
            <a:ext cx="2057400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Challenge
Addressed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560064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3651504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Changing system
conditions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23178" y="3560064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2906" y="3651504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Scalable decentralized
orchestration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8836" y="3560064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8564" y="3651504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Node / link failures
&amp; dynamic environments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888992"/>
            <a:ext cx="2286000" cy="1283208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998720"/>
            <a:ext cx="2057400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Not
Competing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4888992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27248" y="4980432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Adaptive decision
making (layer 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23178" y="4888992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2906" y="4980432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Decentralized coordination
(layer 2)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8836" y="4888992"/>
            <a:ext cx="2814218" cy="1283208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9525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38564" y="4980432"/>
            <a:ext cx="2594762" cy="1146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Dynamic execution
&amp; recovery (layer 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Calibri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Three Papers · One Problem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576218" cy="182880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3576218" cy="54864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82496"/>
            <a:ext cx="3210458" cy="5486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800" b="1" i="0">
                <a:solidFill>
                  <a:srgbClr val="1F4E8C"/>
                </a:solidFill>
                <a:latin typeface="Calibri"/>
              </a:rPr>
              <a:t>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31136"/>
            <a:ext cx="3210458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Adaptive 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96896"/>
            <a:ext cx="3210458" cy="62179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State-aware policy selection via DRL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7738" y="1572768"/>
            <a:ext cx="3576218" cy="182880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7738" y="1572768"/>
            <a:ext cx="3576218" cy="54864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0618" y="1682496"/>
            <a:ext cx="3210458" cy="5486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800" b="1" i="0">
                <a:solidFill>
                  <a:srgbClr val="0F6B6B"/>
                </a:solidFill>
                <a:latin typeface="Calibri"/>
              </a:rPr>
              <a:t>Flocky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231136"/>
            <a:ext cx="3210458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Decentralized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2596896"/>
            <a:ext cx="3210458" cy="62179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Intent + OAM + local discovery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6836" y="1572768"/>
            <a:ext cx="3576218" cy="182880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905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6836" y="1572768"/>
            <a:ext cx="3576218" cy="54864"/>
          </a:xfrm>
          <a:prstGeom prst="rect">
            <a:avLst/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9716" y="1682496"/>
            <a:ext cx="3210458" cy="5486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800" b="1" i="0">
                <a:solidFill>
                  <a:srgbClr val="C9772E"/>
                </a:solidFill>
                <a:latin typeface="Calibri"/>
              </a:rPr>
              <a:t>DATOR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2231136"/>
            <a:ext cx="3210458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Dynamic Resilient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2596896"/>
            <a:ext cx="3210458" cy="62179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Multi-stage + rerouting + self-org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91029" y="3401568"/>
            <a:ext cx="3804818" cy="45720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50127" y="3401568"/>
            <a:ext cx="45720" cy="45720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095847" y="3401568"/>
            <a:ext cx="3713378" cy="45720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48640" y="3858768"/>
            <a:ext cx="11094415" cy="2313432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087368"/>
            <a:ext cx="10545775" cy="5486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INTELLIGENT DISTRIBUTED EDGE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727448"/>
            <a:ext cx="1684477" cy="566928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727448"/>
            <a:ext cx="1684477" cy="56692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F4E8C"/>
                </a:solidFill>
                <a:latin typeface="Calibri"/>
              </a:rPr>
              <a:t>Observe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80589" y="4727448"/>
            <a:ext cx="1684477" cy="566928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80589" y="4727448"/>
            <a:ext cx="1684477" cy="56692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1F4E8C"/>
                </a:solidFill>
                <a:latin typeface="Calibri"/>
              </a:rPr>
              <a:t>Decide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38218" y="4727448"/>
            <a:ext cx="1684477" cy="566928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38218" y="4727448"/>
            <a:ext cx="1684477" cy="56692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0F6B6B"/>
                </a:solidFill>
                <a:latin typeface="Calibri"/>
              </a:rPr>
              <a:t>Coordinate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5847" y="4727448"/>
            <a:ext cx="1684477" cy="566928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5847" y="4727448"/>
            <a:ext cx="1684477" cy="56692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0F6B6B"/>
                </a:solidFill>
                <a:latin typeface="Calibri"/>
              </a:rPr>
              <a:t>Execute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53476" y="4727448"/>
            <a:ext cx="1684477" cy="566928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97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53476" y="4727448"/>
            <a:ext cx="1684477" cy="56692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C9772E"/>
                </a:solidFill>
                <a:latin typeface="Calibri"/>
              </a:rPr>
              <a:t>Adapt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11105" y="4727448"/>
            <a:ext cx="1684477" cy="566928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97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11105" y="4727448"/>
            <a:ext cx="1684477" cy="56692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C9772E"/>
                </a:solidFill>
                <a:latin typeface="Calibri"/>
              </a:rPr>
              <a:t>Recover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367528"/>
            <a:ext cx="10545775" cy="4572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2000" b="0" i="0">
                <a:solidFill>
                  <a:srgbClr val="6B6B6B"/>
                </a:solidFill>
                <a:latin typeface="Calibri"/>
              </a:rPr>
              <a:t>Adaptive scheduling  +  Decentralized orchestration  +  Resilient inference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Calibri"/>
              </a:rPr>
              <a:t>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Open Questions in Edge AI Coordination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5029200" cy="219456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466344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Demonstrated by the Three Papers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4663440" cy="13716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Adaptive scheduling (ASET)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Decentralized orchestration (Flocky)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Dynamic self-organization (DATOR)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72768"/>
            <a:ext cx="2849727" cy="70104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618488"/>
            <a:ext cx="2575407" cy="6096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Richer state-aware scheduling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30487" y="1572768"/>
            <a:ext cx="2849727" cy="70104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7647" y="1618488"/>
            <a:ext cx="2575407" cy="6096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Decentralized discovery at scale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365248"/>
            <a:ext cx="2849727" cy="70104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2410968"/>
            <a:ext cx="2575407" cy="6096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Energy-aware dynamic routing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30487" y="2365248"/>
            <a:ext cx="2849727" cy="70104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7647" y="2410968"/>
            <a:ext cx="2575407" cy="6096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Multimodal AI inference at edge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157728"/>
            <a:ext cx="2849727" cy="70104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3203448"/>
            <a:ext cx="2575407" cy="6096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Cross-layer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30487" y="3157728"/>
            <a:ext cx="2849727" cy="70104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7647" y="3203448"/>
            <a:ext cx="2575407" cy="60960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libri"/>
              </a:rPr>
              <a:t>Fault tolerance in large clusters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04488"/>
            <a:ext cx="11094415" cy="2313432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87368"/>
            <a:ext cx="10728655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Integration 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44568"/>
            <a:ext cx="10728655" cy="1490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A unified edge system that can simultaneously: observe state,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select resources, coordinate nodes, adapt, and recover.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8046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Key Takeaways &amp;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4415" cy="19050"/>
          </a:xfrm>
          <a:prstGeom prst="rect">
            <a:avLst/>
          </a:prstGeom>
          <a:solidFill>
            <a:srgbClr val="CF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576218" cy="169164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64008" cy="169164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55648"/>
            <a:ext cx="314645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1F4E8C"/>
                </a:solidFill>
                <a:latin typeface="Calibri"/>
              </a:rPr>
              <a:t>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12848"/>
            <a:ext cx="3146450" cy="8686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Adaptive scheduling via Deep Q-Learning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Meta-scheduler: selects the policy, not the node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7738" y="1572768"/>
            <a:ext cx="3576218" cy="169164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7738" y="1572768"/>
            <a:ext cx="64008" cy="1691640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4626" y="1755648"/>
            <a:ext cx="314645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0F6B6B"/>
                </a:solidFill>
                <a:latin typeface="Calibri"/>
              </a:rPr>
              <a:t>Flocky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4626" y="2212848"/>
            <a:ext cx="3146450" cy="8686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Decentralized orchestration via intent + OAM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Local discovery and capability matching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6836" y="1572768"/>
            <a:ext cx="3576218" cy="1691640"/>
          </a:xfrm>
          <a:prstGeom prst="roundRect">
            <a:avLst>
              <a:gd name="adj" fmla="val 8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6836" y="1572768"/>
            <a:ext cx="64008" cy="1691640"/>
          </a:xfrm>
          <a:prstGeom prst="roundRect">
            <a:avLst>
              <a:gd name="adj" fmla="val 8000"/>
            </a:avLst>
          </a:prstGeom>
          <a:solidFill>
            <a:srgbClr val="C9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3724" y="1755648"/>
            <a:ext cx="3146450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C9772E"/>
                </a:solidFill>
                <a:latin typeface="Calibri"/>
              </a:rPr>
              <a:t>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3724" y="2212848"/>
            <a:ext cx="3146450" cy="86868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Self-organized multi-stage distributed inference</a:t>
            </a:r>
          </a:p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Dynamic rerouting; resilience without central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47288"/>
            <a:ext cx="11094415" cy="5029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11296"/>
            <a:ext cx="10545775" cy="38404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Adaptive Scheduling  +  Decentralized Orchestration  +  Resilient Inference  =  Intelligent Edge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05656"/>
            <a:ext cx="11094415" cy="2112264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CF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15384"/>
            <a:ext cx="10728655" cy="347472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Calibri"/>
              </a:rPr>
              <a:t>References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08576"/>
            <a:ext cx="10728655" cy="47548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[1]  G. Castellano et al., "Scheduling Inference Workloads in the Computing Continuum with RL," IEEE ICDCS Wkshps, 2025, pp. 297-302. DOI: 10.1109/ICDCSW63273.2025.00056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30368"/>
            <a:ext cx="10728655" cy="47548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[2]  T. Goethals et al., "Flocky: Decentralized Intent-based Edge Orchestration Using OAM," IEEE TSC, vol. 19, no. 1, pp. 380-395, 2026. DOI: 10.1109/TSC.2025.3631387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10728655" cy="475488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[3]  M. Schrauth et al., "Self-Organized Neural Network Inference in Dynamic Edge Networks," Applied Sciences, vol. 15, no. 23, 12615, 2025. DOI: 10.3390/app152312615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8695" y="6446520"/>
            <a:ext cx="594360" cy="320040"/>
          </a:xfrm>
          <a:prstGeom prst="rect">
            <a:avLst/>
          </a:prstGeom>
          <a:noFill/>
        </p:spPr>
        <p:txBody>
          <a:bodyPr wrap="square" autofit="noAutofit" lIns="0" rIns="0" tIns="25400" bIns="25400">
            <a:spAutoFit/>
          </a:bodyPr>
          <a:lstStyle/>
          <a:p>
            <a:pPr algn="r"/>
            <a:r>
              <a:rPr sz="1400" b="0" i="0">
                <a:solidFill>
                  <a:srgbClr val="6B6B6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