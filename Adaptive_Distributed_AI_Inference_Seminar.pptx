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notesMaster" Target="notesMasters/notesMaster1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ASET: reinforcement learning-based adaptive scheduler for DNN inference across edge-cloud continuum.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Flocky: intent-based decentralized edge orchestration using the Open Application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DATOR: self-organized distributed inference in dynamic edge networks with rerouting.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DATOR uses broadcast-and-accept negotiation. Weighted auction can consider capability, latency, energy.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ASET selects policies using DRL. Flocky provides decentralized OAM orchestration. DATOR delivers resilient multi-stage inference without central coordination.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1094415" cy="254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94415" cy="96012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3800" b="1" i="0">
                <a:solidFill>
                  <a:srgbClr val="1A1A1A"/>
                </a:solidFill>
                <a:latin typeface="Calibri"/>
              </a:rPr>
              <a:t>ADAPTIVE DISTRIBUTED AI INFERENCE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72768"/>
            <a:ext cx="11094415" cy="77724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F4E8C"/>
                </a:solidFill>
                <a:latin typeface="Calibri"/>
              </a:rPr>
              <a:t>IN HETEROGENEOUS EDGE NETWORKS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95728"/>
            <a:ext cx="11094415" cy="50292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2000" b="0" i="0">
                <a:solidFill>
                  <a:srgbClr val="6B6B6B"/>
                </a:solidFill>
                <a:latin typeface="Calibri"/>
              </a:rPr>
              <a:t>Three research directions  ·  One problem space  ·  From scheduling to orchestration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108960"/>
            <a:ext cx="3474720" cy="1554480"/>
          </a:xfrm>
          <a:prstGeom prst="roundRect">
            <a:avLst>
              <a:gd name="adj" fmla="val 8000"/>
            </a:avLst>
          </a:prstGeom>
          <a:solidFill>
            <a:srgbClr val="ECEAE4"/>
          </a:solidFill>
          <a:ln w="12700">
            <a:solidFill>
              <a:srgbClr val="CFCB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3108960"/>
            <a:ext cx="3474720" cy="54864"/>
          </a:xfrm>
          <a:prstGeom prst="rect">
            <a:avLst/>
          </a:prstGeom>
          <a:solidFill>
            <a:srgbClr val="1F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3218688"/>
            <a:ext cx="3474720" cy="256032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4E8C"/>
                </a:solidFill>
                <a:latin typeface="Calibri"/>
              </a:rPr>
              <a:t>Paper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456432"/>
            <a:ext cx="3474720" cy="50292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A1A1A"/>
                </a:solidFill>
                <a:latin typeface="Calibri"/>
              </a:rPr>
              <a:t>ASET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950208"/>
            <a:ext cx="3474720" cy="50292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2000" b="0" i="0">
                <a:solidFill>
                  <a:srgbClr val="6B6B6B"/>
                </a:solidFill>
                <a:latin typeface="Calibri"/>
              </a:rPr>
              <a:t>Adaptive Scheduling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70248" y="3108960"/>
            <a:ext cx="3474720" cy="1554480"/>
          </a:xfrm>
          <a:prstGeom prst="roundRect">
            <a:avLst>
              <a:gd name="adj" fmla="val 8000"/>
            </a:avLst>
          </a:prstGeom>
          <a:solidFill>
            <a:srgbClr val="ECEAE4"/>
          </a:solidFill>
          <a:ln w="12700">
            <a:solidFill>
              <a:srgbClr val="CFCB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70248" y="3108960"/>
            <a:ext cx="3474720" cy="54864"/>
          </a:xfrm>
          <a:prstGeom prst="rect">
            <a:avLst/>
          </a:prstGeom>
          <a:solidFill>
            <a:srgbClr val="0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07408" y="3218688"/>
            <a:ext cx="3474720" cy="256032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F6B6B"/>
                </a:solidFill>
                <a:latin typeface="Calibri"/>
              </a:rPr>
              <a:t>Paper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07408" y="3456432"/>
            <a:ext cx="3474720" cy="50292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A1A1A"/>
                </a:solidFill>
                <a:latin typeface="Calibri"/>
              </a:rPr>
              <a:t>Flocky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07408" y="3950208"/>
            <a:ext cx="3474720" cy="50292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2000" b="0" i="0">
                <a:solidFill>
                  <a:srgbClr val="6B6B6B"/>
                </a:solidFill>
                <a:latin typeface="Calibri"/>
              </a:rPr>
              <a:t>Decentralized Orchestration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91856" y="3108960"/>
            <a:ext cx="3474720" cy="1554480"/>
          </a:xfrm>
          <a:prstGeom prst="roundRect">
            <a:avLst>
              <a:gd name="adj" fmla="val 8000"/>
            </a:avLst>
          </a:prstGeom>
          <a:solidFill>
            <a:srgbClr val="ECEAE4"/>
          </a:solidFill>
          <a:ln w="12700">
            <a:solidFill>
              <a:srgbClr val="CFCB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991856" y="3108960"/>
            <a:ext cx="3474720" cy="54864"/>
          </a:xfrm>
          <a:prstGeom prst="rect">
            <a:avLst/>
          </a:prstGeom>
          <a:solidFill>
            <a:srgbClr val="C977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29016" y="3218688"/>
            <a:ext cx="3474720" cy="256032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C9772E"/>
                </a:solidFill>
                <a:latin typeface="Calibri"/>
              </a:rPr>
              <a:t>Paper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29016" y="3456432"/>
            <a:ext cx="3474720" cy="50292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A1A1A"/>
                </a:solidFill>
                <a:latin typeface="Calibri"/>
              </a:rPr>
              <a:t>DATOR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29016" y="3950208"/>
            <a:ext cx="3474720" cy="50292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2000" b="0" i="0">
                <a:solidFill>
                  <a:srgbClr val="6B6B6B"/>
                </a:solidFill>
                <a:latin typeface="Calibri"/>
              </a:rPr>
              <a:t>Dynamic Distributed Inference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4846320"/>
            <a:ext cx="11094415" cy="19050"/>
          </a:xfrm>
          <a:prstGeom prst="rect">
            <a:avLst/>
          </a:prstGeom>
          <a:solidFill>
            <a:srgbClr val="CFCB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5029200"/>
            <a:ext cx="7315200" cy="45720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1A1A1A"/>
                </a:solidFill>
                <a:latin typeface="Calibri"/>
              </a:rPr>
              <a:t>Presented by  Arjun A S  ·  SCT23CS017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5440680"/>
            <a:ext cx="11094415" cy="384048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6B6B6B"/>
                </a:solidFill>
                <a:latin typeface="Calibri"/>
              </a:rPr>
              <a:t>Dept. of Computer Science &amp; Engineering  ·  Sree Chitra Thirunal College of Engineering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42655" y="5440680"/>
            <a:ext cx="3200400" cy="384048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r"/>
            <a:r>
              <a:rPr sz="1400" b="1" i="0">
                <a:solidFill>
                  <a:srgbClr val="6B6B6B"/>
                </a:solidFill>
                <a:latin typeface="Calibri"/>
              </a:rPr>
              <a:t>Guide: Prof. Arun 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48695" y="6446520"/>
            <a:ext cx="594360" cy="32004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r"/>
            <a:r>
              <a:rPr sz="1400" b="0" i="0">
                <a:solidFill>
                  <a:srgbClr val="6B6B6B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94415" cy="292608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6B6B6B"/>
                </a:solidFill>
                <a:latin typeface="Calibri"/>
              </a:rPr>
              <a:t>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94415" cy="77724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alibri"/>
              </a:rPr>
              <a:t>Why Does Edge AI Need Smarter Coordination?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81328"/>
            <a:ext cx="11094415" cy="19050"/>
          </a:xfrm>
          <a:prstGeom prst="rect">
            <a:avLst/>
          </a:prstGeom>
          <a:solidFill>
            <a:srgbClr val="CFCB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72768"/>
            <a:ext cx="5120640" cy="1417320"/>
          </a:xfrm>
          <a:prstGeom prst="roundRect">
            <a:avLst>
              <a:gd name="adj" fmla="val 8000"/>
            </a:avLst>
          </a:prstGeom>
          <a:solidFill>
            <a:srgbClr val="ECEAE4"/>
          </a:solidFill>
          <a:ln w="12700">
            <a:solidFill>
              <a:srgbClr val="CFCB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737360"/>
            <a:ext cx="4754880" cy="36576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Calibri"/>
              </a:rPr>
              <a:t>Variable Compute &amp; Load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148840"/>
            <a:ext cx="4754880" cy="676656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2000" b="0">
                <a:solidFill>
                  <a:srgbClr val="6B6B6B"/>
                </a:solidFill>
                <a:latin typeface="Calibri"/>
              </a:rPr>
              <a:t>Nodes: microcontrollers to GPUs</a:t>
            </a:r>
          </a:p>
          <a:p>
            <a:pPr algn="l"/>
            <a:r>
              <a:rPr sz="2000" b="0">
                <a:solidFill>
                  <a:srgbClr val="6B6B6B"/>
                </a:solidFill>
                <a:latin typeface="Calibri"/>
              </a:rPr>
              <a:t>Hot-spots form; edge saturates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099816"/>
            <a:ext cx="5120640" cy="1417320"/>
          </a:xfrm>
          <a:prstGeom prst="roundRect">
            <a:avLst>
              <a:gd name="adj" fmla="val 8000"/>
            </a:avLst>
          </a:prstGeom>
          <a:solidFill>
            <a:srgbClr val="ECEAE4"/>
          </a:solidFill>
          <a:ln w="12700">
            <a:solidFill>
              <a:srgbClr val="CFCB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3264408"/>
            <a:ext cx="4754880" cy="36576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Calibri"/>
              </a:rPr>
              <a:t>Dynamic Network Latency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675888"/>
            <a:ext cx="4754880" cy="676656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2000" b="0">
                <a:solidFill>
                  <a:srgbClr val="6B6B6B"/>
                </a:solidFill>
                <a:latin typeface="Calibri"/>
              </a:rPr>
              <a:t>Delay shifts across edge hops</a:t>
            </a:r>
          </a:p>
          <a:p>
            <a:pPr algn="l"/>
            <a:r>
              <a:rPr sz="2000" b="0">
                <a:solidFill>
                  <a:srgbClr val="6B6B6B"/>
                </a:solidFill>
                <a:latin typeface="Calibri"/>
              </a:rPr>
              <a:t>Routes change continuously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626864"/>
            <a:ext cx="5120640" cy="1417320"/>
          </a:xfrm>
          <a:prstGeom prst="roundRect">
            <a:avLst>
              <a:gd name="adj" fmla="val 8000"/>
            </a:avLst>
          </a:prstGeom>
          <a:solidFill>
            <a:srgbClr val="ECEAE4"/>
          </a:solidFill>
          <a:ln w="12700">
            <a:solidFill>
              <a:srgbClr val="CFCB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4791456"/>
            <a:ext cx="4754880" cy="36576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Calibri"/>
              </a:rPr>
              <a:t>Real-Time Inference Needs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202936"/>
            <a:ext cx="4754880" cy="676656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2000" b="0">
                <a:solidFill>
                  <a:srgbClr val="6B6B6B"/>
                </a:solidFill>
                <a:latin typeface="Calibri"/>
              </a:rPr>
              <a:t>Strict end-to-end latency targets</a:t>
            </a:r>
          </a:p>
          <a:p>
            <a:pPr algn="l"/>
            <a:r>
              <a:rPr sz="2000" b="0">
                <a:solidFill>
                  <a:srgbClr val="6B6B6B"/>
                </a:solidFill>
                <a:latin typeface="Calibri"/>
              </a:rPr>
              <a:t>Node failures break pipelines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1572768"/>
            <a:ext cx="5516575" cy="4645152"/>
          </a:xfrm>
          <a:prstGeom prst="roundRect">
            <a:avLst>
              <a:gd name="adj" fmla="val 8000"/>
            </a:avLst>
          </a:prstGeom>
          <a:solidFill>
            <a:srgbClr val="ECEAE4"/>
          </a:solidFill>
          <a:ln w="25400">
            <a:solidFill>
              <a:srgbClr val="1F4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1801368"/>
            <a:ext cx="5059375" cy="32004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4E8C"/>
                </a:solidFill>
                <a:latin typeface="Calibri"/>
              </a:rPr>
              <a:t>THE CENTRAL QUESTION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2212848"/>
            <a:ext cx="5059375" cy="219456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Calibri"/>
              </a:rPr>
              <a:t>"Who processes
this workload
right now?"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4590288"/>
            <a:ext cx="5059375" cy="77724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2000" b="0" i="0">
                <a:solidFill>
                  <a:srgbClr val="6B6B6B"/>
                </a:solidFill>
                <a:latin typeface="Calibri"/>
              </a:rPr>
              <a:t>As load, latency, and node state change —
the answer changes too.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48695" y="6446520"/>
            <a:ext cx="594360" cy="32004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r"/>
            <a:r>
              <a:rPr sz="1400" b="0" i="0">
                <a:solidFill>
                  <a:srgbClr val="6B6B6B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94415" cy="292608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6B6B6B"/>
                </a:solidFill>
                <a:latin typeface="Calibri"/>
              </a:rPr>
              <a:t>FOUNDATIONS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94415" cy="77724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alibri"/>
              </a:rPr>
              <a:t>Core Concepts in Edge AI Coordination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81328"/>
            <a:ext cx="11094415" cy="19050"/>
          </a:xfrm>
          <a:prstGeom prst="rect">
            <a:avLst/>
          </a:prstGeom>
          <a:solidFill>
            <a:srgbClr val="CFCB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72768"/>
            <a:ext cx="5455767" cy="2253996"/>
          </a:xfrm>
          <a:prstGeom prst="roundRect">
            <a:avLst>
              <a:gd name="adj" fmla="val 8000"/>
            </a:avLst>
          </a:prstGeom>
          <a:solidFill>
            <a:srgbClr val="ECEAE4"/>
          </a:solidFill>
          <a:ln w="12700">
            <a:solidFill>
              <a:srgbClr val="CFCB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737360"/>
            <a:ext cx="5090007" cy="36576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Calibri"/>
              </a:rPr>
              <a:t>Heterogeneity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148840"/>
            <a:ext cx="5090007" cy="1513332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2000" b="0">
                <a:solidFill>
                  <a:srgbClr val="6B6B6B"/>
                </a:solidFill>
                <a:latin typeface="Calibri"/>
              </a:rPr>
              <a:t>Nodes vary: CPU, GPU, OS, memory</a:t>
            </a:r>
          </a:p>
          <a:p>
            <a:pPr algn="l"/>
            <a:r>
              <a:rPr sz="2000" b="0">
                <a:solidFill>
                  <a:srgbClr val="6B6B6B"/>
                </a:solidFill>
                <a:latin typeface="Calibri"/>
              </a:rPr>
              <a:t>No uniform scheduling rule works</a:t>
            </a:r>
          </a:p>
        </p:txBody>
      </p:sp>
      <p:sp>
        <p:nvSpPr>
          <p:cNvPr id="9" name="Rectangle 8"/>
          <p:cNvSpPr/>
          <p:nvPr/>
        </p:nvSpPr>
        <p:spPr>
          <a:xfrm>
            <a:off x="6187287" y="1572768"/>
            <a:ext cx="5455767" cy="2253996"/>
          </a:xfrm>
          <a:prstGeom prst="roundRect">
            <a:avLst>
              <a:gd name="adj" fmla="val 8000"/>
            </a:avLst>
          </a:prstGeom>
          <a:solidFill>
            <a:srgbClr val="ECEAE4"/>
          </a:solidFill>
          <a:ln w="12700">
            <a:solidFill>
              <a:srgbClr val="CFCB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70167" y="1737360"/>
            <a:ext cx="5090007" cy="36576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Calibri"/>
              </a:rPr>
              <a:t>Scheduling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70167" y="2148840"/>
            <a:ext cx="5090007" cy="1513332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2000" b="0">
                <a:solidFill>
                  <a:srgbClr val="6B6B6B"/>
                </a:solidFill>
                <a:latin typeface="Calibri"/>
              </a:rPr>
              <a:t>Select: model variant + resource cluster</a:t>
            </a:r>
          </a:p>
          <a:p>
            <a:pPr algn="l"/>
            <a:r>
              <a:rPr sz="2000" b="0">
                <a:solidFill>
                  <a:srgbClr val="6B6B6B"/>
                </a:solidFill>
                <a:latin typeface="Calibri"/>
              </a:rPr>
              <a:t>Meet delay, accuracy, throughput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963924"/>
            <a:ext cx="5455767" cy="2253996"/>
          </a:xfrm>
          <a:prstGeom prst="roundRect">
            <a:avLst>
              <a:gd name="adj" fmla="val 8000"/>
            </a:avLst>
          </a:prstGeom>
          <a:solidFill>
            <a:srgbClr val="ECEAE4"/>
          </a:solidFill>
          <a:ln w="12700">
            <a:solidFill>
              <a:srgbClr val="CFCB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4128516"/>
            <a:ext cx="5090007" cy="36576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Calibri"/>
              </a:rPr>
              <a:t>Orchestration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539996"/>
            <a:ext cx="5090007" cy="1513332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2000" b="0">
                <a:solidFill>
                  <a:srgbClr val="6B6B6B"/>
                </a:solidFill>
                <a:latin typeface="Calibri"/>
              </a:rPr>
              <a:t>Coordinate deployment across nodes</a:t>
            </a:r>
          </a:p>
          <a:p>
            <a:pPr algn="l"/>
            <a:r>
              <a:rPr sz="2000" b="0">
                <a:solidFill>
                  <a:srgbClr val="6B6B6B"/>
                </a:solidFill>
                <a:latin typeface="Calibri"/>
              </a:rPr>
              <a:t>Lifecycle and placement management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87287" y="3963924"/>
            <a:ext cx="5455767" cy="2253996"/>
          </a:xfrm>
          <a:prstGeom prst="roundRect">
            <a:avLst>
              <a:gd name="adj" fmla="val 8000"/>
            </a:avLst>
          </a:prstGeom>
          <a:solidFill>
            <a:srgbClr val="ECEAE4"/>
          </a:solidFill>
          <a:ln w="12700">
            <a:solidFill>
              <a:srgbClr val="CFCB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70167" y="4128516"/>
            <a:ext cx="5090007" cy="36576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Calibri"/>
              </a:rPr>
              <a:t>Adaptation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0167" y="4539996"/>
            <a:ext cx="5090007" cy="1513332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2000" b="0">
                <a:solidFill>
                  <a:srgbClr val="6B6B6B"/>
                </a:solidFill>
                <a:latin typeface="Calibri"/>
              </a:rPr>
              <a:t>Revise decisions as conditions change</a:t>
            </a:r>
          </a:p>
          <a:p>
            <a:pPr algn="l"/>
            <a:r>
              <a:rPr sz="2000" b="0">
                <a:solidFill>
                  <a:srgbClr val="6B6B6B"/>
                </a:solidFill>
                <a:latin typeface="Calibri"/>
              </a:rPr>
              <a:t>Workload, topology, availability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48695" y="6446520"/>
            <a:ext cx="594360" cy="32004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r"/>
            <a:r>
              <a:rPr sz="1400" b="0" i="0">
                <a:solidFill>
                  <a:srgbClr val="6B6B6B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94415" cy="292608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6B6B6B"/>
                </a:solidFill>
                <a:latin typeface="Calibri"/>
              </a:rPr>
              <a:t>SEMINAR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94415" cy="77724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alibri"/>
              </a:rPr>
              <a:t>Three Papers · Three Lenses on One Problem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81328"/>
            <a:ext cx="11094415" cy="19050"/>
          </a:xfrm>
          <a:prstGeom prst="rect">
            <a:avLst/>
          </a:prstGeom>
          <a:solidFill>
            <a:srgbClr val="CFCB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72768"/>
            <a:ext cx="3576218" cy="4645152"/>
          </a:xfrm>
          <a:prstGeom prst="roundRect">
            <a:avLst>
              <a:gd name="adj" fmla="val 8000"/>
            </a:avLst>
          </a:prstGeom>
          <a:solidFill>
            <a:srgbClr val="ECEAE4"/>
          </a:solidFill>
          <a:ln w="12700">
            <a:solidFill>
              <a:srgbClr val="CFCB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572768"/>
            <a:ext cx="3576218" cy="54864"/>
          </a:xfrm>
          <a:prstGeom prst="roundRect">
            <a:avLst>
              <a:gd name="adj" fmla="val 8000"/>
            </a:avLst>
          </a:prstGeom>
          <a:solidFill>
            <a:srgbClr val="1F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709928"/>
            <a:ext cx="3210458" cy="68580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F4E8C"/>
                </a:solidFill>
                <a:latin typeface="Calibri"/>
              </a:rPr>
              <a:t>ASET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441448"/>
            <a:ext cx="3210458" cy="384048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Calibri"/>
              </a:rPr>
              <a:t>"Which scheduling policy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825496"/>
            <a:ext cx="3210458" cy="384048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Calibri"/>
              </a:rPr>
              <a:t>should I use right now?"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3300984"/>
            <a:ext cx="3210458" cy="12700"/>
          </a:xfrm>
          <a:prstGeom prst="rect">
            <a:avLst/>
          </a:prstGeom>
          <a:solidFill>
            <a:srgbClr val="CFCB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685032"/>
            <a:ext cx="3210458" cy="347472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2000" b="0" i="0">
                <a:solidFill>
                  <a:srgbClr val="6B6B6B"/>
                </a:solidFill>
                <a:latin typeface="Calibri"/>
              </a:rPr>
              <a:t>Adaptive scheduling via DRL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050792"/>
            <a:ext cx="3210458" cy="347472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2000" b="0" i="0">
                <a:solidFill>
                  <a:srgbClr val="6B6B6B"/>
                </a:solidFill>
                <a:latin typeface="Calibri"/>
              </a:rPr>
              <a:t>Policy selection meta-scheduler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07738" y="1572768"/>
            <a:ext cx="3576218" cy="4645152"/>
          </a:xfrm>
          <a:prstGeom prst="roundRect">
            <a:avLst>
              <a:gd name="adj" fmla="val 8000"/>
            </a:avLst>
          </a:prstGeom>
          <a:solidFill>
            <a:srgbClr val="ECEAE4"/>
          </a:solidFill>
          <a:ln w="12700">
            <a:solidFill>
              <a:srgbClr val="CFCB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07738" y="1572768"/>
            <a:ext cx="3576218" cy="54864"/>
          </a:xfrm>
          <a:prstGeom prst="roundRect">
            <a:avLst>
              <a:gd name="adj" fmla="val 8000"/>
            </a:avLst>
          </a:prstGeom>
          <a:solidFill>
            <a:srgbClr val="0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90618" y="1709928"/>
            <a:ext cx="3210458" cy="68580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0F6B6B"/>
                </a:solidFill>
                <a:latin typeface="Calibri"/>
              </a:rPr>
              <a:t>Flocky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90618" y="2441448"/>
            <a:ext cx="3210458" cy="384048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Calibri"/>
              </a:rPr>
              <a:t>"How can nodes coordinate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90618" y="2825496"/>
            <a:ext cx="3210458" cy="384048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Calibri"/>
              </a:rPr>
              <a:t>without a central controller?"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90618" y="3300984"/>
            <a:ext cx="3210458" cy="12700"/>
          </a:xfrm>
          <a:prstGeom prst="rect">
            <a:avLst/>
          </a:prstGeom>
          <a:solidFill>
            <a:srgbClr val="CFCB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90618" y="3685032"/>
            <a:ext cx="3210458" cy="347472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2000" b="0" i="0">
                <a:solidFill>
                  <a:srgbClr val="6B6B6B"/>
                </a:solidFill>
                <a:latin typeface="Calibri"/>
              </a:rPr>
              <a:t>Intent-based orchestration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90618" y="4050792"/>
            <a:ext cx="3210458" cy="347472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2000" b="0" i="0">
                <a:solidFill>
                  <a:srgbClr val="6B6B6B"/>
                </a:solidFill>
                <a:latin typeface="Calibri"/>
              </a:rPr>
              <a:t>Decentralized discovery + OAM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066836" y="1572768"/>
            <a:ext cx="3576218" cy="4645152"/>
          </a:xfrm>
          <a:prstGeom prst="roundRect">
            <a:avLst>
              <a:gd name="adj" fmla="val 8000"/>
            </a:avLst>
          </a:prstGeom>
          <a:solidFill>
            <a:srgbClr val="ECEAE4"/>
          </a:solidFill>
          <a:ln w="12700">
            <a:solidFill>
              <a:srgbClr val="CFCB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66836" y="1572768"/>
            <a:ext cx="3576218" cy="54864"/>
          </a:xfrm>
          <a:prstGeom prst="roundRect">
            <a:avLst>
              <a:gd name="adj" fmla="val 8000"/>
            </a:avLst>
          </a:prstGeom>
          <a:solidFill>
            <a:srgbClr val="C977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49716" y="1709928"/>
            <a:ext cx="3210458" cy="68580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C9772E"/>
                </a:solidFill>
                <a:latin typeface="Calibri"/>
              </a:rPr>
              <a:t>DATOR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49716" y="2441448"/>
            <a:ext cx="3210458" cy="384048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Calibri"/>
              </a:rPr>
              <a:t>"How can inference survive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49716" y="2825496"/>
            <a:ext cx="3210458" cy="384048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Calibri"/>
              </a:rPr>
              <a:t>node and link failures?"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249716" y="3300984"/>
            <a:ext cx="3210458" cy="12700"/>
          </a:xfrm>
          <a:prstGeom prst="rect">
            <a:avLst/>
          </a:prstGeom>
          <a:solidFill>
            <a:srgbClr val="CFCB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49716" y="3685032"/>
            <a:ext cx="3210458" cy="347472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2000" b="0" i="0">
                <a:solidFill>
                  <a:srgbClr val="6B6B6B"/>
                </a:solidFill>
                <a:latin typeface="Calibri"/>
              </a:rPr>
              <a:t>Self-organized multi-stage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49716" y="4050792"/>
            <a:ext cx="3210458" cy="347472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2000" b="0" i="0">
                <a:solidFill>
                  <a:srgbClr val="6B6B6B"/>
                </a:solidFill>
                <a:latin typeface="Calibri"/>
              </a:rPr>
              <a:t>Dynamic rerouting + resilience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6263640"/>
            <a:ext cx="11094415" cy="32004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6B6B6B"/>
                </a:solidFill>
                <a:latin typeface="Calibri"/>
              </a:rPr>
              <a:t>Scheduling  →  Orchestration  →  Resilient Inference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048695" y="6446520"/>
            <a:ext cx="594360" cy="32004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r"/>
            <a:r>
              <a:rPr sz="1400" b="0" i="0">
                <a:solidFill>
                  <a:srgbClr val="6B6B6B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3657600" cy="228600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11000" b="1" i="0">
                <a:solidFill>
                  <a:srgbClr val="1F4E8C"/>
                </a:solidFill>
                <a:latin typeface="Calibri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743200"/>
            <a:ext cx="7315200" cy="118872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Calibri"/>
              </a:rPr>
              <a:t>ASET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977639"/>
            <a:ext cx="8229600" cy="64008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2200" b="0" i="0">
                <a:solidFill>
                  <a:srgbClr val="6B6B6B"/>
                </a:solidFill>
                <a:latin typeface="Calibri"/>
              </a:rPr>
              <a:t>Adaptive Scheduling for Edge &amp; Cloud Inference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9235440" y="1463040"/>
            <a:ext cx="365760" cy="365760"/>
          </a:xfrm>
          <a:prstGeom prst="ellipse">
            <a:avLst/>
          </a:prstGeom>
          <a:noFill/>
          <a:ln w="19050">
            <a:solidFill>
              <a:srgbClr val="1F4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07040" y="914400"/>
            <a:ext cx="365760" cy="365760"/>
          </a:xfrm>
          <a:prstGeom prst="ellipse">
            <a:avLst/>
          </a:prstGeom>
          <a:noFill/>
          <a:ln w="19050">
            <a:solidFill>
              <a:srgbClr val="1F4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247120" y="2194560"/>
            <a:ext cx="365760" cy="365760"/>
          </a:xfrm>
          <a:prstGeom prst="ellipse">
            <a:avLst/>
          </a:prstGeom>
          <a:noFill/>
          <a:ln w="19050">
            <a:solidFill>
              <a:srgbClr val="1F4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875520" y="2926080"/>
            <a:ext cx="365760" cy="365760"/>
          </a:xfrm>
          <a:prstGeom prst="ellipse">
            <a:avLst/>
          </a:prstGeom>
          <a:noFill/>
          <a:ln w="19050">
            <a:solidFill>
              <a:srgbClr val="1F4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595360" y="2560320"/>
            <a:ext cx="365760" cy="365760"/>
          </a:xfrm>
          <a:prstGeom prst="ellipse">
            <a:avLst/>
          </a:prstGeom>
          <a:noFill/>
          <a:ln w="19050">
            <a:solidFill>
              <a:srgbClr val="1F4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064240" y="3931920"/>
            <a:ext cx="365760" cy="365760"/>
          </a:xfrm>
          <a:prstGeom prst="ellipse">
            <a:avLst/>
          </a:prstGeom>
          <a:noFill/>
          <a:ln w="19050">
            <a:solidFill>
              <a:srgbClr val="1F4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 flipV="1">
            <a:off x="9418320" y="1097280"/>
            <a:ext cx="1371600" cy="54864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0789920" y="1097280"/>
            <a:ext cx="640080" cy="1280160"/>
          </a:xfrm>
          <a:prstGeom prst="line">
            <a:avLst/>
          </a:prstGeom>
          <a:ln w="9525">
            <a:solidFill>
              <a:srgbClr val="1F4E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10058400" y="2377440"/>
            <a:ext cx="1371600" cy="731520"/>
          </a:xfrm>
          <a:prstGeom prst="line">
            <a:avLst/>
          </a:prstGeom>
          <a:ln w="9525">
            <a:solidFill>
              <a:srgbClr val="1F4E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 flipV="1">
            <a:off x="8778240" y="2743200"/>
            <a:ext cx="1280160" cy="36576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8778240" y="1645920"/>
            <a:ext cx="640080" cy="109728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11247120" y="2377440"/>
            <a:ext cx="182880" cy="173736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0058400" y="3108960"/>
            <a:ext cx="1188720" cy="1005840"/>
          </a:xfrm>
          <a:prstGeom prst="line">
            <a:avLst/>
          </a:prstGeom>
          <a:ln w="9525">
            <a:solidFill>
              <a:srgbClr val="1F4E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1048695" y="6446520"/>
            <a:ext cx="594360" cy="32004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r"/>
            <a:r>
              <a:rPr sz="1400" b="0" i="0">
                <a:solidFill>
                  <a:srgbClr val="6B6B6B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94415" cy="292608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4E8C"/>
                </a:solidFill>
                <a:latin typeface="Calibri"/>
              </a:rPr>
              <a:t>PAPER 1 OF 3  ·  ASET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0080"/>
            <a:ext cx="1828800" cy="25400"/>
          </a:xfrm>
          <a:prstGeom prst="rect">
            <a:avLst/>
          </a:prstGeom>
          <a:solidFill>
            <a:srgbClr val="1F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85800"/>
            <a:ext cx="11094415" cy="77724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alibri"/>
              </a:rPr>
              <a:t>Scheduling Inference Workloads in the Computing Continuum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81328"/>
            <a:ext cx="11094415" cy="19050"/>
          </a:xfrm>
          <a:prstGeom prst="rect">
            <a:avLst/>
          </a:prstGeom>
          <a:solidFill>
            <a:srgbClr val="CFCB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572768"/>
            <a:ext cx="6858000" cy="4645152"/>
          </a:xfrm>
          <a:prstGeom prst="roundRect">
            <a:avLst>
              <a:gd name="adj" fmla="val 8000"/>
            </a:avLst>
          </a:prstGeom>
          <a:solidFill>
            <a:srgbClr val="ECEAE4"/>
          </a:solidFill>
          <a:ln w="12700">
            <a:solidFill>
              <a:srgbClr val="CFCB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572768"/>
            <a:ext cx="64008" cy="4645152"/>
          </a:xfrm>
          <a:prstGeom prst="roundRect">
            <a:avLst>
              <a:gd name="adj" fmla="val 8000"/>
            </a:avLst>
          </a:prstGeom>
          <a:solidFill>
            <a:srgbClr val="1F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8" y="1737360"/>
            <a:ext cx="6428232" cy="36576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F4E8C"/>
                </a:solidFill>
                <a:latin typeface="Calibri"/>
              </a:rPr>
              <a:t>Paper Metadata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8" y="2148840"/>
            <a:ext cx="6428232" cy="3904488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2000" b="0">
                <a:solidFill>
                  <a:srgbClr val="6B6B6B"/>
                </a:solidFill>
                <a:latin typeface="Calibri"/>
              </a:rPr>
              <a:t>Authors: G. Castellano, J-J. Nieto, A. Angi,</a:t>
            </a:r>
          </a:p>
          <a:p>
            <a:pPr algn="l"/>
            <a:r>
              <a:rPr sz="2000" b="0">
                <a:solidFill>
                  <a:srgbClr val="6B6B6B"/>
                </a:solidFill>
                <a:latin typeface="Calibri"/>
              </a:rPr>
              <a:t>   F. Á. Terribas, J. Luque, F. D. Andilla,</a:t>
            </a:r>
          </a:p>
          <a:p>
            <a:pPr algn="l"/>
            <a:r>
              <a:rPr sz="2000" b="0">
                <a:solidFill>
                  <a:srgbClr val="6B6B6B"/>
                </a:solidFill>
                <a:latin typeface="Calibri"/>
              </a:rPr>
              <a:t>   A. Sacco, F. Esposito, F. Risso</a:t>
            </a:r>
          </a:p>
          <a:p>
            <a:pPr algn="l"/>
            <a:r>
              <a:rPr sz="2000" b="0">
                <a:solidFill>
                  <a:srgbClr val="6B6B6B"/>
                </a:solidFill>
                <a:latin typeface="Calibri"/>
              </a:rPr>
              <a:t>Venue: IEEE ICDCS Workshops 2025</a:t>
            </a:r>
          </a:p>
          <a:p>
            <a:pPr algn="l"/>
            <a:r>
              <a:rPr sz="2000" b="0">
                <a:solidFill>
                  <a:srgbClr val="6B6B6B"/>
                </a:solidFill>
                <a:latin typeface="Calibri"/>
              </a:rPr>
              <a:t>Pages: 297–302</a:t>
            </a:r>
          </a:p>
          <a:p>
            <a:pPr algn="l"/>
            <a:r>
              <a:rPr sz="2000" b="0">
                <a:solidFill>
                  <a:srgbClr val="6B6B6B"/>
                </a:solidFill>
                <a:latin typeface="Calibri"/>
              </a:rPr>
              <a:t>DOI: 10.1109/ICDCSW63273.2025.00056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589520" y="1572768"/>
            <a:ext cx="4053535" cy="4645152"/>
          </a:xfrm>
          <a:prstGeom prst="roundRect">
            <a:avLst>
              <a:gd name="adj" fmla="val 8000"/>
            </a:avLst>
          </a:prstGeom>
          <a:solidFill>
            <a:srgbClr val="1F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0" y="1755648"/>
            <a:ext cx="3687775" cy="82296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ROLE IN
SEMINAR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2670048"/>
            <a:ext cx="3687775" cy="45720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LAYER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0" y="3172968"/>
            <a:ext cx="3687775" cy="182880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Adaptive
Decision
Making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48695" y="6446520"/>
            <a:ext cx="594360" cy="32004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r"/>
            <a:r>
              <a:rPr sz="1400" b="0" i="0">
                <a:solidFill>
                  <a:srgbClr val="6B6B6B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94415" cy="292608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4E8C"/>
                </a:solidFill>
                <a:latin typeface="Calibri"/>
              </a:rPr>
              <a:t>ASET  ·  PROBLEM FORMULATION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0080"/>
            <a:ext cx="1828800" cy="25400"/>
          </a:xfrm>
          <a:prstGeom prst="rect">
            <a:avLst/>
          </a:prstGeom>
          <a:solidFill>
            <a:srgbClr val="1F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85800"/>
            <a:ext cx="11094415" cy="77724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alibri"/>
              </a:rPr>
              <a:t>Scheduling DNN Inference Across the Continuum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81328"/>
            <a:ext cx="11094415" cy="19050"/>
          </a:xfrm>
          <a:prstGeom prst="rect">
            <a:avLst/>
          </a:prstGeom>
          <a:solidFill>
            <a:srgbClr val="CFCB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572768"/>
            <a:ext cx="3576218" cy="2926080"/>
          </a:xfrm>
          <a:prstGeom prst="roundRect">
            <a:avLst>
              <a:gd name="adj" fmla="val 8000"/>
            </a:avLst>
          </a:prstGeom>
          <a:solidFill>
            <a:srgbClr val="ECEAE4"/>
          </a:solidFill>
          <a:ln w="12700">
            <a:solidFill>
              <a:srgbClr val="CFCB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572768"/>
            <a:ext cx="64008" cy="2926080"/>
          </a:xfrm>
          <a:prstGeom prst="roundRect">
            <a:avLst>
              <a:gd name="adj" fmla="val 8000"/>
            </a:avLst>
          </a:prstGeom>
          <a:solidFill>
            <a:srgbClr val="1F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8" y="1737360"/>
            <a:ext cx="3146450" cy="36576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F4E8C"/>
                </a:solidFill>
                <a:latin typeface="Calibri"/>
              </a:rPr>
              <a:t>Stream Requirements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8" y="2148840"/>
            <a:ext cx="3146450" cy="2185416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2000" b="0">
                <a:solidFill>
                  <a:srgbClr val="6B6B6B"/>
                </a:solidFill>
                <a:latin typeface="Calibri"/>
              </a:rPr>
              <a:t>Max end-to-end delay</a:t>
            </a:r>
          </a:p>
          <a:p>
            <a:pPr algn="l"/>
            <a:r>
              <a:rPr sz="2000" b="0">
                <a:solidFill>
                  <a:srgbClr val="6B6B6B"/>
                </a:solidFill>
                <a:latin typeface="Calibri"/>
              </a:rPr>
              <a:t>Min accuracy (mAP)</a:t>
            </a:r>
          </a:p>
          <a:p>
            <a:pPr algn="l"/>
            <a:r>
              <a:rPr sz="2000" b="0">
                <a:solidFill>
                  <a:srgbClr val="6B6B6B"/>
                </a:solidFill>
                <a:latin typeface="Calibri"/>
              </a:rPr>
              <a:t>Input / data rate</a:t>
            </a:r>
          </a:p>
          <a:p>
            <a:pPr algn="l"/>
            <a:r>
              <a:rPr sz="2000" b="0">
                <a:solidFill>
                  <a:srgbClr val="6B6B6B"/>
                </a:solidFill>
                <a:latin typeface="Calibri"/>
              </a:rPr>
              <a:t>Input size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07738" y="1572768"/>
            <a:ext cx="3576218" cy="2926080"/>
          </a:xfrm>
          <a:prstGeom prst="roundRect">
            <a:avLst>
              <a:gd name="adj" fmla="val 8000"/>
            </a:avLst>
          </a:prstGeom>
          <a:solidFill>
            <a:srgbClr val="ECEAE4"/>
          </a:solidFill>
          <a:ln w="12700">
            <a:solidFill>
              <a:srgbClr val="CFCB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07738" y="1572768"/>
            <a:ext cx="64008" cy="2926080"/>
          </a:xfrm>
          <a:prstGeom prst="roundRect">
            <a:avLst>
              <a:gd name="adj" fmla="val 8000"/>
            </a:avLst>
          </a:prstGeom>
          <a:solidFill>
            <a:srgbClr val="1F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54626" y="1737360"/>
            <a:ext cx="3146450" cy="36576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F4E8C"/>
                </a:solidFill>
                <a:latin typeface="Calibri"/>
              </a:rPr>
              <a:t>Model Variants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4626" y="2148840"/>
            <a:ext cx="3146450" cy="2185416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2000" b="0">
                <a:solidFill>
                  <a:srgbClr val="6B6B6B"/>
                </a:solidFill>
                <a:latin typeface="Calibri"/>
              </a:rPr>
              <a:t>Accuracy · delay · throughput</a:t>
            </a:r>
          </a:p>
          <a:p>
            <a:pPr algn="l"/>
            <a:r>
              <a:rPr sz="2000" b="0">
                <a:solidFill>
                  <a:srgbClr val="6B6B6B"/>
                </a:solidFill>
                <a:latin typeface="Calibri"/>
              </a:rPr>
              <a:t>CPU/GPU · batch size</a:t>
            </a:r>
          </a:p>
          <a:p>
            <a:pPr algn="l"/>
            <a:r>
              <a:rPr sz="2000" b="0">
                <a:solidFill>
                  <a:srgbClr val="6B6B6B"/>
                </a:solidFill>
                <a:latin typeface="Calibri"/>
              </a:rPr>
              <a:t>Number of replicas</a:t>
            </a:r>
          </a:p>
          <a:p>
            <a:pPr algn="l"/>
            <a:r>
              <a:rPr sz="2000" b="0">
                <a:solidFill>
                  <a:srgbClr val="6B6B6B"/>
                </a:solidFill>
                <a:latin typeface="Calibri"/>
              </a:rPr>
              <a:t>Deployment config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66836" y="1572768"/>
            <a:ext cx="3576218" cy="2926080"/>
          </a:xfrm>
          <a:prstGeom prst="roundRect">
            <a:avLst>
              <a:gd name="adj" fmla="val 8000"/>
            </a:avLst>
          </a:prstGeom>
          <a:solidFill>
            <a:srgbClr val="ECEAE4"/>
          </a:solidFill>
          <a:ln w="12700">
            <a:solidFill>
              <a:srgbClr val="CFCB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66836" y="1572768"/>
            <a:ext cx="64008" cy="2926080"/>
          </a:xfrm>
          <a:prstGeom prst="roundRect">
            <a:avLst>
              <a:gd name="adj" fmla="val 8000"/>
            </a:avLst>
          </a:prstGeom>
          <a:solidFill>
            <a:srgbClr val="1F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13724" y="1737360"/>
            <a:ext cx="3146450" cy="36576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F4E8C"/>
                </a:solidFill>
                <a:latin typeface="Calibri"/>
              </a:rPr>
              <a:t>Resource Clusters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13724" y="2148840"/>
            <a:ext cx="3146450" cy="2185416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2000" b="0">
                <a:solidFill>
                  <a:srgbClr val="6B6B6B"/>
                </a:solidFill>
                <a:latin typeface="Calibri"/>
              </a:rPr>
              <a:t>Edge / access network</a:t>
            </a:r>
          </a:p>
          <a:p>
            <a:pPr algn="l"/>
            <a:r>
              <a:rPr sz="2000" b="0">
                <a:solidFill>
                  <a:srgbClr val="6B6B6B"/>
                </a:solidFill>
                <a:latin typeface="Calibri"/>
              </a:rPr>
              <a:t>Central-office resources</a:t>
            </a:r>
          </a:p>
          <a:p>
            <a:pPr algn="l"/>
            <a:r>
              <a:rPr sz="2000" b="0">
                <a:solidFill>
                  <a:srgbClr val="6B6B6B"/>
                </a:solidFill>
                <a:latin typeface="Calibri"/>
              </a:rPr>
              <a:t>ISP / data-centre</a:t>
            </a:r>
          </a:p>
          <a:p>
            <a:pPr algn="l"/>
            <a:r>
              <a:rPr sz="2000" b="0">
                <a:solidFill>
                  <a:srgbClr val="6B6B6B"/>
                </a:solidFill>
                <a:latin typeface="Calibri"/>
              </a:rPr>
              <a:t>Cloud resources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095847" y="4498848"/>
            <a:ext cx="0" cy="502920"/>
          </a:xfrm>
          <a:prstGeom prst="line">
            <a:avLst/>
          </a:prstGeom>
          <a:ln w="31750">
            <a:solidFill>
              <a:srgbClr val="1F4E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548640" y="5020056"/>
            <a:ext cx="11094415" cy="822960"/>
          </a:xfrm>
          <a:prstGeom prst="roundRect">
            <a:avLst>
              <a:gd name="adj" fmla="val 6000"/>
            </a:avLst>
          </a:prstGeom>
          <a:solidFill>
            <a:srgbClr val="1F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5093208"/>
            <a:ext cx="10545775" cy="676656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Select: feasible model variant  +  resource cluster  →  all constraints satisfied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6025896"/>
            <a:ext cx="11094415" cy="502920"/>
          </a:xfrm>
          <a:prstGeom prst="roundRect">
            <a:avLst>
              <a:gd name="adj" fmla="val 6000"/>
            </a:avLst>
          </a:prstGeom>
          <a:solidFill>
            <a:srgbClr val="ECEAE4"/>
          </a:solidFill>
          <a:ln w="19050">
            <a:solidFill>
              <a:srgbClr val="1F4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6089904"/>
            <a:ext cx="10545775" cy="347472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ctr"/>
            <a:r>
              <a:rPr sz="2000" b="0" i="0">
                <a:solidFill>
                  <a:srgbClr val="1A1A1A"/>
                </a:solidFill>
                <a:latin typeface="Calibri"/>
              </a:rPr>
              <a:t>Objective: maximise the fraction of successfully served inference queries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48695" y="6446520"/>
            <a:ext cx="594360" cy="32004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r"/>
            <a:r>
              <a:rPr sz="1400" b="0" i="0">
                <a:solidFill>
                  <a:srgbClr val="6B6B6B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94415" cy="292608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4E8C"/>
                </a:solidFill>
                <a:latin typeface="Calibri"/>
              </a:rPr>
              <a:t>ASET  ·  STATIC SCHEDULING POLICIES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0080"/>
            <a:ext cx="1828800" cy="25400"/>
          </a:xfrm>
          <a:prstGeom prst="rect">
            <a:avLst/>
          </a:prstGeom>
          <a:solidFill>
            <a:srgbClr val="1F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85800"/>
            <a:ext cx="11094415" cy="77724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alibri"/>
              </a:rPr>
              <a:t>Why One Fixed Policy Is Insufficient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81328"/>
            <a:ext cx="11094415" cy="19050"/>
          </a:xfrm>
          <a:prstGeom prst="rect">
            <a:avLst/>
          </a:prstGeom>
          <a:solidFill>
            <a:srgbClr val="CFCB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572768"/>
            <a:ext cx="5212080" cy="841248"/>
          </a:xfrm>
          <a:prstGeom prst="roundRect">
            <a:avLst>
              <a:gd name="adj" fmla="val 8000"/>
            </a:avLst>
          </a:prstGeom>
          <a:solidFill>
            <a:srgbClr val="ECEAE4"/>
          </a:solidFill>
          <a:ln w="12700">
            <a:solidFill>
              <a:srgbClr val="CFCB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64208"/>
            <a:ext cx="4846320" cy="292608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Calibri"/>
              </a:rPr>
              <a:t>Closest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975104"/>
            <a:ext cx="4846320" cy="347472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1800" b="0">
                <a:solidFill>
                  <a:srgbClr val="6B6B6B"/>
                </a:solidFill>
                <a:latin typeface="Calibri"/>
              </a:rPr>
              <a:t>Minimise network distance / delay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514600"/>
            <a:ext cx="5212080" cy="841248"/>
          </a:xfrm>
          <a:prstGeom prst="roundRect">
            <a:avLst>
              <a:gd name="adj" fmla="val 8000"/>
            </a:avLst>
          </a:prstGeom>
          <a:solidFill>
            <a:srgbClr val="ECEAE4"/>
          </a:solidFill>
          <a:ln w="12700">
            <a:solidFill>
              <a:srgbClr val="CFCB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606040"/>
            <a:ext cx="4846320" cy="292608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Calibri"/>
              </a:rPr>
              <a:t>Load Balance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916936"/>
            <a:ext cx="4846320" cy="347472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1800" b="0">
                <a:solidFill>
                  <a:srgbClr val="6B6B6B"/>
                </a:solidFill>
                <a:latin typeface="Calibri"/>
              </a:rPr>
              <a:t>Prefer resource with lowest current load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456432"/>
            <a:ext cx="5212080" cy="841248"/>
          </a:xfrm>
          <a:prstGeom prst="roundRect">
            <a:avLst>
              <a:gd name="adj" fmla="val 8000"/>
            </a:avLst>
          </a:prstGeom>
          <a:solidFill>
            <a:srgbClr val="ECEAE4"/>
          </a:solidFill>
          <a:ln w="12700">
            <a:solidFill>
              <a:srgbClr val="CFCB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547872"/>
            <a:ext cx="4846320" cy="292608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Calibri"/>
              </a:rPr>
              <a:t>Farthest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858768"/>
            <a:ext cx="4846320" cy="347472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1800" b="0">
                <a:solidFill>
                  <a:srgbClr val="6B6B6B"/>
                </a:solidFill>
                <a:latin typeface="Calibri"/>
              </a:rPr>
              <a:t>Preserve nearby capacity; use distant nodes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4398264"/>
            <a:ext cx="5212080" cy="841248"/>
          </a:xfrm>
          <a:prstGeom prst="roundRect">
            <a:avLst>
              <a:gd name="adj" fmla="val 8000"/>
            </a:avLst>
          </a:prstGeom>
          <a:solidFill>
            <a:srgbClr val="ECEAE4"/>
          </a:solidFill>
          <a:ln w="12700">
            <a:solidFill>
              <a:srgbClr val="CFCB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4489704"/>
            <a:ext cx="4846320" cy="292608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Calibri"/>
              </a:rPr>
              <a:t>Cheaper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800600"/>
            <a:ext cx="4846320" cy="347472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1800" b="0">
                <a:solidFill>
                  <a:srgbClr val="6B6B6B"/>
                </a:solidFill>
                <a:latin typeface="Calibri"/>
              </a:rPr>
              <a:t>Cost-oriented within available delay budget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5340096"/>
            <a:ext cx="5212080" cy="841248"/>
          </a:xfrm>
          <a:prstGeom prst="roundRect">
            <a:avLst>
              <a:gd name="adj" fmla="val 8000"/>
            </a:avLst>
          </a:prstGeom>
          <a:solidFill>
            <a:srgbClr val="ECEAE4"/>
          </a:solidFill>
          <a:ln w="12700">
            <a:solidFill>
              <a:srgbClr val="CFCB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5431536"/>
            <a:ext cx="4846320" cy="292608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Calibri"/>
              </a:rPr>
              <a:t>Least Impedance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742432"/>
            <a:ext cx="4846320" cy="347472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1800" b="0">
                <a:solidFill>
                  <a:srgbClr val="6B6B6B"/>
                </a:solidFill>
                <a:latin typeface="Calibri"/>
              </a:rPr>
              <a:t>Minimise end-to-end latency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80760" y="1572768"/>
            <a:ext cx="5562295" cy="4645152"/>
          </a:xfrm>
          <a:prstGeom prst="roundRect">
            <a:avLst>
              <a:gd name="adj" fmla="val 8000"/>
            </a:avLst>
          </a:prstGeom>
          <a:solidFill>
            <a:srgbClr val="ECEAE4"/>
          </a:solidFill>
          <a:ln w="25400">
            <a:solidFill>
              <a:srgbClr val="B0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63640" y="1755648"/>
            <a:ext cx="5196535" cy="32004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B04A4A"/>
                </a:solidFill>
                <a:latin typeface="Calibri"/>
              </a:rPr>
              <a:t>THE LIMITATION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3640" y="2167128"/>
            <a:ext cx="5196535" cy="347472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1A1A1A"/>
                </a:solidFill>
                <a:latin typeface="Calibri"/>
              </a:rPr>
              <a:t>Low load 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2514600"/>
            <a:ext cx="5196535" cy="347472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2000" b="0" i="0">
                <a:solidFill>
                  <a:srgbClr val="6B6B6B"/>
                </a:solidFill>
                <a:latin typeface="Calibri"/>
              </a:rPr>
              <a:t>nearby edge is ideal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2990088"/>
            <a:ext cx="5196535" cy="347472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1A1A1A"/>
                </a:solidFill>
                <a:latin typeface="Calibri"/>
              </a:rPr>
              <a:t>High load 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63640" y="3337560"/>
            <a:ext cx="5196535" cy="347472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2000" b="0" i="0">
                <a:solidFill>
                  <a:srgbClr val="6B6B6B"/>
                </a:solidFill>
                <a:latin typeface="Calibri"/>
              </a:rPr>
              <a:t>same node overloads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63640" y="3813048"/>
            <a:ext cx="5196535" cy="347472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1A1A1A"/>
                </a:solidFill>
                <a:latin typeface="Calibri"/>
              </a:rPr>
              <a:t>Changing rates →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63640" y="4160520"/>
            <a:ext cx="5196535" cy="347472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2000" b="0" i="0">
                <a:solidFill>
                  <a:srgbClr val="6B6B6B"/>
                </a:solidFill>
                <a:latin typeface="Calibri"/>
              </a:rPr>
              <a:t>best policy shifts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63640" y="4727448"/>
            <a:ext cx="5196535" cy="19050"/>
          </a:xfrm>
          <a:prstGeom prst="rect">
            <a:avLst/>
          </a:prstGeom>
          <a:solidFill>
            <a:srgbClr val="CFCB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63640" y="4864608"/>
            <a:ext cx="5196535" cy="100584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B04A4A"/>
                </a:solidFill>
                <a:latin typeface="Calibri"/>
              </a:rPr>
              <a:t>No single policy stays
optimal across all conditions.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048695" y="6446520"/>
            <a:ext cx="594360" cy="32004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r"/>
            <a:r>
              <a:rPr sz="1400" b="0" i="0">
                <a:solidFill>
                  <a:srgbClr val="6B6B6B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94415" cy="292608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4E8C"/>
                </a:solidFill>
                <a:latin typeface="Calibri"/>
              </a:rPr>
              <a:t>ASET  ·  RL METHODOLOGY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0080"/>
            <a:ext cx="1828800" cy="25400"/>
          </a:xfrm>
          <a:prstGeom prst="rect">
            <a:avLst/>
          </a:prstGeom>
          <a:solidFill>
            <a:srgbClr val="1F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85800"/>
            <a:ext cx="11094415" cy="77724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alibri"/>
              </a:rPr>
              <a:t>ASET as a Meta-Scheduler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81328"/>
            <a:ext cx="11094415" cy="19050"/>
          </a:xfrm>
          <a:prstGeom prst="rect">
            <a:avLst/>
          </a:prstGeom>
          <a:solidFill>
            <a:srgbClr val="CFCB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572768"/>
            <a:ext cx="4846320" cy="658368"/>
          </a:xfrm>
          <a:prstGeom prst="roundRect">
            <a:avLst>
              <a:gd name="adj" fmla="val 8000"/>
            </a:avLst>
          </a:prstGeom>
          <a:solidFill>
            <a:srgbClr val="ECEAE4"/>
          </a:solidFill>
          <a:ln w="19050">
            <a:solidFill>
              <a:srgbClr val="CFCB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627632"/>
            <a:ext cx="4663440" cy="54864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A1A1A"/>
                </a:solidFill>
                <a:latin typeface="Calibri"/>
              </a:rPr>
              <a:t>System State</a:t>
            </a:r>
          </a:p>
          <a:p>
            <a:pPr algn="ctr"/>
            <a:r>
              <a:rPr sz="1400" b="0">
                <a:solidFill>
                  <a:srgbClr val="1A1A1A"/>
                </a:solidFill>
                <a:latin typeface="Calibri"/>
              </a:rPr>
              <a:t>Apps · network · load · arrivals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322576"/>
            <a:ext cx="4846320" cy="658368"/>
          </a:xfrm>
          <a:prstGeom prst="roundRect">
            <a:avLst>
              <a:gd name="adj" fmla="val 8000"/>
            </a:avLst>
          </a:prstGeom>
          <a:solidFill>
            <a:srgbClr val="1F4E8C"/>
          </a:solidFill>
          <a:ln w="19050">
            <a:solidFill>
              <a:srgbClr val="1F4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377440"/>
            <a:ext cx="4663440" cy="54864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RL Agent (DQN)</a:t>
            </a:r>
          </a:p>
          <a:p>
            <a:pPr algn="ctr"/>
            <a:r>
              <a:rPr sz="1400" b="0">
                <a:solidFill>
                  <a:srgbClr val="FFFFFF"/>
                </a:solidFill>
                <a:latin typeface="Calibri"/>
              </a:rPr>
              <a:t>Estimates Q-values for each policy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072384"/>
            <a:ext cx="4846320" cy="658368"/>
          </a:xfrm>
          <a:prstGeom prst="roundRect">
            <a:avLst>
              <a:gd name="adj" fmla="val 8000"/>
            </a:avLst>
          </a:prstGeom>
          <a:solidFill>
            <a:srgbClr val="ECEAE4"/>
          </a:solidFill>
          <a:ln w="19050">
            <a:solidFill>
              <a:srgbClr val="CFCB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127248"/>
            <a:ext cx="4663440" cy="54864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A1A1A"/>
                </a:solidFill>
                <a:latin typeface="Calibri"/>
              </a:rPr>
              <a:t>Select Policy</a:t>
            </a:r>
          </a:p>
          <a:p>
            <a:pPr algn="ctr"/>
            <a:r>
              <a:rPr sz="1400" b="0">
                <a:solidFill>
                  <a:srgbClr val="1A1A1A"/>
                </a:solidFill>
                <a:latin typeface="Calibri"/>
              </a:rPr>
              <a:t>e.g. Load Balance / Closest / 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822192"/>
            <a:ext cx="4846320" cy="658368"/>
          </a:xfrm>
          <a:prstGeom prst="roundRect">
            <a:avLst>
              <a:gd name="adj" fmla="val 8000"/>
            </a:avLst>
          </a:prstGeom>
          <a:solidFill>
            <a:srgbClr val="ECEAE4"/>
          </a:solidFill>
          <a:ln w="19050">
            <a:solidFill>
              <a:srgbClr val="CFCB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877056"/>
            <a:ext cx="4663440" cy="54864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A1A1A"/>
                </a:solidFill>
                <a:latin typeface="Calibri"/>
              </a:rPr>
              <a:t>Policy Executes</a:t>
            </a:r>
          </a:p>
          <a:p>
            <a:pPr algn="ctr"/>
            <a:r>
              <a:rPr sz="1400" b="0">
                <a:solidFill>
                  <a:srgbClr val="1A1A1A"/>
                </a:solidFill>
                <a:latin typeface="Calibri"/>
              </a:rPr>
              <a:t>Maps streams → variants → clusters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572000"/>
            <a:ext cx="4846320" cy="658368"/>
          </a:xfrm>
          <a:prstGeom prst="roundRect">
            <a:avLst>
              <a:gd name="adj" fmla="val 8000"/>
            </a:avLst>
          </a:prstGeom>
          <a:solidFill>
            <a:srgbClr val="ECEAE4"/>
          </a:solidFill>
          <a:ln w="19050">
            <a:solidFill>
              <a:srgbClr val="CFCB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626864"/>
            <a:ext cx="4663440" cy="54864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A1A1A"/>
                </a:solidFill>
                <a:latin typeface="Calibri"/>
              </a:rPr>
              <a:t>Outcome Observed</a:t>
            </a:r>
          </a:p>
          <a:p>
            <a:pPr algn="ctr"/>
            <a:r>
              <a:rPr sz="1400" b="0">
                <a:solidFill>
                  <a:srgbClr val="1A1A1A"/>
                </a:solidFill>
                <a:latin typeface="Calibri"/>
              </a:rPr>
              <a:t>QoS success / service quality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5321808"/>
            <a:ext cx="4846320" cy="658368"/>
          </a:xfrm>
          <a:prstGeom prst="roundRect">
            <a:avLst>
              <a:gd name="adj" fmla="val 8000"/>
            </a:avLst>
          </a:prstGeom>
          <a:solidFill>
            <a:srgbClr val="ECEAE4"/>
          </a:solidFill>
          <a:ln w="19050">
            <a:solidFill>
              <a:srgbClr val="CFCB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5376672"/>
            <a:ext cx="4663440" cy="54864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A1A1A"/>
                </a:solidFill>
                <a:latin typeface="Calibri"/>
              </a:rPr>
              <a:t>Reward Signal</a:t>
            </a:r>
          </a:p>
          <a:p>
            <a:pPr algn="ctr"/>
            <a:r>
              <a:rPr sz="1400" b="0">
                <a:solidFill>
                  <a:srgbClr val="1A1A1A"/>
                </a:solidFill>
                <a:latin typeface="Calibri"/>
              </a:rPr>
              <a:t>Successful query ratio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971800" y="2231136"/>
            <a:ext cx="0" cy="91440"/>
          </a:xfrm>
          <a:prstGeom prst="line">
            <a:avLst/>
          </a:prstGeom>
          <a:ln w="25400">
            <a:solidFill>
              <a:srgbClr val="1F4E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2971800" y="2980944"/>
            <a:ext cx="0" cy="91440"/>
          </a:xfrm>
          <a:prstGeom prst="line">
            <a:avLst/>
          </a:prstGeom>
          <a:ln w="25400">
            <a:solidFill>
              <a:srgbClr val="1F4E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2971800" y="3730752"/>
            <a:ext cx="0" cy="91440"/>
          </a:xfrm>
          <a:prstGeom prst="line">
            <a:avLst/>
          </a:prstGeom>
          <a:ln w="25400">
            <a:solidFill>
              <a:srgbClr val="1F4E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971800" y="4480560"/>
            <a:ext cx="0" cy="91440"/>
          </a:xfrm>
          <a:prstGeom prst="line">
            <a:avLst/>
          </a:prstGeom>
          <a:ln w="25400">
            <a:solidFill>
              <a:srgbClr val="1F4E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2971800" y="5230368"/>
            <a:ext cx="0" cy="91440"/>
          </a:xfrm>
          <a:prstGeom prst="line">
            <a:avLst/>
          </a:prstGeom>
          <a:ln w="25400">
            <a:solidFill>
              <a:srgbClr val="1F4E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5687568" y="1901952"/>
            <a:ext cx="27432" cy="3749040"/>
          </a:xfrm>
          <a:prstGeom prst="rect">
            <a:avLst/>
          </a:prstGeom>
          <a:solidFill>
            <a:srgbClr val="1F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394960" y="1901952"/>
            <a:ext cx="292608" cy="27432"/>
          </a:xfrm>
          <a:prstGeom prst="rect">
            <a:avLst/>
          </a:prstGeom>
          <a:solidFill>
            <a:srgbClr val="1F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394960" y="5650992"/>
            <a:ext cx="292608" cy="27432"/>
          </a:xfrm>
          <a:prstGeom prst="rect">
            <a:avLst/>
          </a:prstGeom>
          <a:solidFill>
            <a:srgbClr val="1F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60720" y="3584448"/>
            <a:ext cx="777240" cy="59436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4E8C"/>
                </a:solidFill>
                <a:latin typeface="Calibri"/>
              </a:rPr>
              <a:t>Feedback Loop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0" y="1572768"/>
            <a:ext cx="5059375" cy="4645152"/>
          </a:xfrm>
          <a:prstGeom prst="roundRect">
            <a:avLst>
              <a:gd name="adj" fmla="val 8000"/>
            </a:avLst>
          </a:prstGeom>
          <a:solidFill>
            <a:srgbClr val="ECEAE4"/>
          </a:solidFill>
          <a:ln w="19050">
            <a:solidFill>
              <a:srgbClr val="1F4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66560" y="1755648"/>
            <a:ext cx="4693615" cy="32004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4E8C"/>
                </a:solidFill>
                <a:latin typeface="Calibri"/>
              </a:rPr>
              <a:t>KEY DISTINCTION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66560" y="2167128"/>
            <a:ext cx="4693615" cy="86868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Calibri"/>
              </a:rPr>
              <a:t>ASET does NOT learn
which node to use.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66560" y="3081528"/>
            <a:ext cx="4693615" cy="86868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F4E8C"/>
                </a:solidFill>
                <a:latin typeface="Calibri"/>
              </a:rPr>
              <a:t>It learns WHICH POLICY
to apply for the current state.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66560" y="4133088"/>
            <a:ext cx="4693615" cy="41148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2000" b="0" i="0">
                <a:solidFill>
                  <a:srgbClr val="6B6B6B"/>
                </a:solidFill>
                <a:latin typeface="Calibri"/>
              </a:rPr>
              <a:t>T = 25 s scheduling window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66560" y="4590288"/>
            <a:ext cx="4693615" cy="77724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2000" b="0" i="0">
                <a:solidFill>
                  <a:srgbClr val="6B6B6B"/>
                </a:solidFill>
                <a:latin typeface="Calibri"/>
              </a:rPr>
              <a:t>Trained: multiple topologies
and workload configurations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048695" y="6446520"/>
            <a:ext cx="594360" cy="32004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r"/>
            <a:r>
              <a:rPr sz="1400" b="0" i="0">
                <a:solidFill>
                  <a:srgbClr val="6B6B6B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94415" cy="292608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4E8C"/>
                </a:solidFill>
                <a:latin typeface="Calibri"/>
              </a:rPr>
              <a:t>ASET  ·  DEEP Q-NETWORK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0080"/>
            <a:ext cx="1828800" cy="25400"/>
          </a:xfrm>
          <a:prstGeom prst="rect">
            <a:avLst/>
          </a:prstGeom>
          <a:solidFill>
            <a:srgbClr val="1F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85800"/>
            <a:ext cx="11094415" cy="77724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alibri"/>
              </a:rPr>
              <a:t>MDP Formulation &amp; DQN Architecture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81328"/>
            <a:ext cx="11094415" cy="19050"/>
          </a:xfrm>
          <a:prstGeom prst="rect">
            <a:avLst/>
          </a:prstGeom>
          <a:solidFill>
            <a:srgbClr val="CFCB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572768"/>
            <a:ext cx="5486400" cy="896112"/>
          </a:xfrm>
          <a:prstGeom prst="rect">
            <a:avLst/>
          </a:prstGeom>
          <a:solidFill>
            <a:srgbClr val="ECEAE4"/>
          </a:solidFill>
          <a:ln w="12700">
            <a:solidFill>
              <a:srgbClr val="CFCB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572768"/>
            <a:ext cx="54864" cy="896112"/>
          </a:xfrm>
          <a:prstGeom prst="rect">
            <a:avLst/>
          </a:prstGeom>
          <a:solidFill>
            <a:srgbClr val="1F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645920"/>
            <a:ext cx="1645920" cy="749808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F4E8C"/>
                </a:solidFill>
                <a:latin typeface="Calibri"/>
              </a:rPr>
              <a:t>State  S_t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1645920"/>
            <a:ext cx="3383280" cy="749808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2000" b="0" i="0">
                <a:solidFill>
                  <a:srgbClr val="6B6B6B"/>
                </a:solidFill>
                <a:latin typeface="Calibri"/>
              </a:rPr>
              <a:t>Apps · network topology · arrivals · load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560320"/>
            <a:ext cx="5486400" cy="896112"/>
          </a:xfrm>
          <a:prstGeom prst="rect">
            <a:avLst/>
          </a:prstGeom>
          <a:solidFill>
            <a:srgbClr val="ECEAE4"/>
          </a:solidFill>
          <a:ln w="12700">
            <a:solidFill>
              <a:srgbClr val="CFCB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2560320"/>
            <a:ext cx="54864" cy="896112"/>
          </a:xfrm>
          <a:prstGeom prst="rect">
            <a:avLst/>
          </a:prstGeom>
          <a:solidFill>
            <a:srgbClr val="1F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633472"/>
            <a:ext cx="1645920" cy="749808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F4E8C"/>
                </a:solidFill>
                <a:latin typeface="Calibri"/>
              </a:rPr>
              <a:t>Action  A_t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68880" y="2633472"/>
            <a:ext cx="3383280" cy="749808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2000" b="0" i="0">
                <a:solidFill>
                  <a:srgbClr val="6B6B6B"/>
                </a:solidFill>
                <a:latin typeface="Calibri"/>
              </a:rPr>
              <a:t>Choice of scheduling policy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547872"/>
            <a:ext cx="5486400" cy="896112"/>
          </a:xfrm>
          <a:prstGeom prst="rect">
            <a:avLst/>
          </a:prstGeom>
          <a:solidFill>
            <a:srgbClr val="ECEAE4"/>
          </a:solidFill>
          <a:ln w="12700">
            <a:solidFill>
              <a:srgbClr val="CFCB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3547872"/>
            <a:ext cx="54864" cy="896112"/>
          </a:xfrm>
          <a:prstGeom prst="rect">
            <a:avLst/>
          </a:prstGeom>
          <a:solidFill>
            <a:srgbClr val="1F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3621024"/>
            <a:ext cx="1645920" cy="749808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F4E8C"/>
                </a:solidFill>
                <a:latin typeface="Calibri"/>
              </a:rPr>
              <a:t>Reward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68880" y="3621024"/>
            <a:ext cx="3383280" cy="749808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2000" b="0" i="0">
                <a:solidFill>
                  <a:srgbClr val="6B6B6B"/>
                </a:solidFill>
                <a:latin typeface="Calibri"/>
              </a:rPr>
              <a:t>Successful query servicing quality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4535424"/>
            <a:ext cx="5486400" cy="896112"/>
          </a:xfrm>
          <a:prstGeom prst="rect">
            <a:avLst/>
          </a:prstGeom>
          <a:solidFill>
            <a:srgbClr val="ECEAE4"/>
          </a:solidFill>
          <a:ln w="12700">
            <a:solidFill>
              <a:srgbClr val="CFCB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4535424"/>
            <a:ext cx="54864" cy="896112"/>
          </a:xfrm>
          <a:prstGeom prst="rect">
            <a:avLst/>
          </a:prstGeom>
          <a:solidFill>
            <a:srgbClr val="1F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4608576"/>
            <a:ext cx="1645920" cy="749808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F4E8C"/>
                </a:solidFill>
                <a:latin typeface="Calibri"/>
              </a:rPr>
              <a:t>Transition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68880" y="4608576"/>
            <a:ext cx="3383280" cy="749808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2000" b="0" i="0">
                <a:solidFill>
                  <a:srgbClr val="6B6B6B"/>
                </a:solidFill>
                <a:latin typeface="Calibri"/>
              </a:rPr>
              <a:t>Next state after policy applied for T=25s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92240" y="1572768"/>
            <a:ext cx="5150815" cy="749808"/>
          </a:xfrm>
          <a:prstGeom prst="roundRect">
            <a:avLst>
              <a:gd name="adj" fmla="val 8000"/>
            </a:avLst>
          </a:prstGeom>
          <a:solidFill>
            <a:srgbClr val="ECEAE4"/>
          </a:solidFill>
          <a:ln w="19050">
            <a:solidFill>
              <a:srgbClr val="CFCB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0" y="1627632"/>
            <a:ext cx="4967935" cy="64008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alibri"/>
              </a:rPr>
              <a:t>State Input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92240" y="2505456"/>
            <a:ext cx="5150815" cy="749808"/>
          </a:xfrm>
          <a:prstGeom prst="roundRect">
            <a:avLst>
              <a:gd name="adj" fmla="val 8000"/>
            </a:avLst>
          </a:prstGeom>
          <a:solidFill>
            <a:srgbClr val="1F4E8C"/>
          </a:solidFill>
          <a:ln w="19050">
            <a:solidFill>
              <a:srgbClr val="1F4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0" y="2560320"/>
            <a:ext cx="4967935" cy="64008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Conv Layers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92240" y="3438144"/>
            <a:ext cx="5150815" cy="749808"/>
          </a:xfrm>
          <a:prstGeom prst="roundRect">
            <a:avLst>
              <a:gd name="adj" fmla="val 8000"/>
            </a:avLst>
          </a:prstGeom>
          <a:solidFill>
            <a:srgbClr val="ECEAE4"/>
          </a:solidFill>
          <a:ln w="19050">
            <a:solidFill>
              <a:srgbClr val="CFCB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0" y="3493008"/>
            <a:ext cx="4967935" cy="64008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alibri"/>
              </a:rPr>
              <a:t>Fully Connected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92240" y="4370832"/>
            <a:ext cx="5150815" cy="749808"/>
          </a:xfrm>
          <a:prstGeom prst="roundRect">
            <a:avLst>
              <a:gd name="adj" fmla="val 8000"/>
            </a:avLst>
          </a:prstGeom>
          <a:solidFill>
            <a:srgbClr val="1F4E8C"/>
          </a:solidFill>
          <a:ln w="19050">
            <a:solidFill>
              <a:srgbClr val="1F4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0" y="4425696"/>
            <a:ext cx="4967935" cy="64008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Q-values (per policy)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067647" y="2322576"/>
            <a:ext cx="0" cy="182880"/>
          </a:xfrm>
          <a:prstGeom prst="line">
            <a:avLst/>
          </a:prstGeom>
          <a:ln w="25400">
            <a:solidFill>
              <a:srgbClr val="1F4E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9067647" y="3255264"/>
            <a:ext cx="0" cy="182880"/>
          </a:xfrm>
          <a:prstGeom prst="line">
            <a:avLst/>
          </a:prstGeom>
          <a:ln w="25400">
            <a:solidFill>
              <a:srgbClr val="1F4E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9067647" y="4187952"/>
            <a:ext cx="0" cy="182880"/>
          </a:xfrm>
          <a:prstGeom prst="line">
            <a:avLst/>
          </a:prstGeom>
          <a:ln w="25400">
            <a:solidFill>
              <a:srgbClr val="1F4E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6492240" y="5376672"/>
            <a:ext cx="5150815" cy="41148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ctr"/>
            <a:r>
              <a:rPr sz="2000" b="0" i="0">
                <a:solidFill>
                  <a:srgbClr val="6B6B6B"/>
                </a:solidFill>
                <a:latin typeface="Calibri"/>
              </a:rPr>
              <a:t>Q(state, policy) = expected return for selecting that policy now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92240" y="5806440"/>
            <a:ext cx="5150815" cy="347472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ctr"/>
            <a:r>
              <a:rPr sz="2000" b="0" i="0">
                <a:solidFill>
                  <a:srgbClr val="6B6B6B"/>
                </a:solidFill>
                <a:latin typeface="Calibri"/>
              </a:rPr>
              <a:t>ε-greedy exploration · dynamic epsilon update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048695" y="6446520"/>
            <a:ext cx="594360" cy="32004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r"/>
            <a:r>
              <a:rPr sz="1400" b="0" i="0">
                <a:solidFill>
                  <a:srgbClr val="6B6B6B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94415" cy="292608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4E8C"/>
                </a:solidFill>
                <a:latin typeface="Calibri"/>
              </a:rPr>
              <a:t>ASET  ·  EVALUATION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0080"/>
            <a:ext cx="1828800" cy="25400"/>
          </a:xfrm>
          <a:prstGeom prst="rect">
            <a:avLst/>
          </a:prstGeom>
          <a:solidFill>
            <a:srgbClr val="1F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85800"/>
            <a:ext cx="11094415" cy="77724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alibri"/>
              </a:rPr>
              <a:t>Results Across Topologies &amp; Workloads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81328"/>
            <a:ext cx="11094415" cy="19050"/>
          </a:xfrm>
          <a:prstGeom prst="rect">
            <a:avLst/>
          </a:prstGeom>
          <a:solidFill>
            <a:srgbClr val="CFCB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572768"/>
            <a:ext cx="3576218" cy="2926080"/>
          </a:xfrm>
          <a:prstGeom prst="roundRect">
            <a:avLst>
              <a:gd name="adj" fmla="val 8000"/>
            </a:avLst>
          </a:prstGeom>
          <a:solidFill>
            <a:srgbClr val="ECEAE4"/>
          </a:solidFill>
          <a:ln w="12700">
            <a:solidFill>
              <a:srgbClr val="CFCB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572768"/>
            <a:ext cx="64008" cy="2926080"/>
          </a:xfrm>
          <a:prstGeom prst="roundRect">
            <a:avLst>
              <a:gd name="adj" fmla="val 8000"/>
            </a:avLst>
          </a:prstGeom>
          <a:solidFill>
            <a:srgbClr val="1F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8" y="1737360"/>
            <a:ext cx="3146450" cy="36576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F4E8C"/>
                </a:solidFill>
                <a:latin typeface="Calibri"/>
              </a:rPr>
              <a:t>dc-cloud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8" y="2148840"/>
            <a:ext cx="3146450" cy="2185416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2000" b="0">
                <a:solidFill>
                  <a:srgbClr val="6B6B6B"/>
                </a:solidFill>
                <a:latin typeface="Calibri"/>
              </a:rPr>
              <a:t>ASET not uniformly best</a:t>
            </a:r>
          </a:p>
          <a:p>
            <a:pPr algn="l"/>
            <a:r>
              <a:rPr sz="2000" b="0">
                <a:solidFill>
                  <a:srgbClr val="6B6B6B"/>
                </a:solidFill>
                <a:latin typeface="Calibri"/>
              </a:rPr>
              <a:t>Performance is topology-dependent</a:t>
            </a:r>
          </a:p>
          <a:p>
            <a:pPr algn="l"/>
            <a:r>
              <a:rPr sz="2000" b="0">
                <a:solidFill>
                  <a:srgbClr val="6B6B6B"/>
                </a:solidFill>
                <a:latin typeface="Calibri"/>
              </a:rPr>
              <a:t>Can underperform some statics in higher load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07738" y="1572768"/>
            <a:ext cx="3576218" cy="2926080"/>
          </a:xfrm>
          <a:prstGeom prst="roundRect">
            <a:avLst>
              <a:gd name="adj" fmla="val 8000"/>
            </a:avLst>
          </a:prstGeom>
          <a:solidFill>
            <a:srgbClr val="ECEAE4"/>
          </a:solidFill>
          <a:ln w="12700">
            <a:solidFill>
              <a:srgbClr val="CFCB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07738" y="1572768"/>
            <a:ext cx="64008" cy="2926080"/>
          </a:xfrm>
          <a:prstGeom prst="roundRect">
            <a:avLst>
              <a:gd name="adj" fmla="val 8000"/>
            </a:avLst>
          </a:prstGeom>
          <a:solidFill>
            <a:srgbClr val="1F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54626" y="1737360"/>
            <a:ext cx="3146450" cy="36576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F4E8C"/>
                </a:solidFill>
                <a:latin typeface="Calibri"/>
              </a:rPr>
              <a:t>co-dc-cloud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4626" y="2148840"/>
            <a:ext cx="3146450" cy="2185416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2000" b="0">
                <a:solidFill>
                  <a:srgbClr val="6B6B6B"/>
                </a:solidFill>
                <a:latin typeface="Calibri"/>
              </a:rPr>
              <a:t>Improves over evaluated baselines</a:t>
            </a:r>
          </a:p>
          <a:p>
            <a:pPr algn="l"/>
            <a:r>
              <a:rPr sz="2000" b="0">
                <a:solidFill>
                  <a:srgbClr val="6B6B6B"/>
                </a:solidFill>
                <a:latin typeface="Calibri"/>
              </a:rPr>
              <a:t>Holds even outside training arrival rate</a:t>
            </a:r>
          </a:p>
          <a:p>
            <a:pPr algn="l"/>
            <a:r>
              <a:rPr sz="2000" b="0">
                <a:solidFill>
                  <a:srgbClr val="6B6B6B"/>
                </a:solidFill>
                <a:latin typeface="Calibri"/>
              </a:rPr>
              <a:t>Moderate generalization gains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66836" y="1572768"/>
            <a:ext cx="3576218" cy="2926080"/>
          </a:xfrm>
          <a:prstGeom prst="roundRect">
            <a:avLst>
              <a:gd name="adj" fmla="val 8000"/>
            </a:avLst>
          </a:prstGeom>
          <a:solidFill>
            <a:srgbClr val="ECEAE4"/>
          </a:solidFill>
          <a:ln w="12700">
            <a:solidFill>
              <a:srgbClr val="CFCB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66836" y="1572768"/>
            <a:ext cx="64008" cy="2926080"/>
          </a:xfrm>
          <a:prstGeom prst="roundRect">
            <a:avLst>
              <a:gd name="adj" fmla="val 8000"/>
            </a:avLst>
          </a:prstGeom>
          <a:solidFill>
            <a:srgbClr val="1F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13724" y="1737360"/>
            <a:ext cx="3146450" cy="36576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F4E8C"/>
                </a:solidFill>
                <a:latin typeface="Calibri"/>
              </a:rPr>
              <a:t>full-edge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13724" y="2148840"/>
            <a:ext cx="3146450" cy="2185416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2000" b="0">
                <a:solidFill>
                  <a:srgbClr val="6B6B6B"/>
                </a:solidFill>
                <a:latin typeface="Calibri"/>
              </a:rPr>
              <a:t>Strongest improvement</a:t>
            </a:r>
          </a:p>
          <a:p>
            <a:pPr algn="l"/>
            <a:r>
              <a:rPr sz="2000" b="0">
                <a:solidFill>
                  <a:srgbClr val="6B6B6B"/>
                </a:solidFill>
                <a:latin typeface="Calibri"/>
              </a:rPr>
              <a:t>↑ successful-query ratio</a:t>
            </a:r>
          </a:p>
          <a:p>
            <a:pPr algn="l"/>
            <a:r>
              <a:rPr sz="2000" b="0">
                <a:solidFill>
                  <a:srgbClr val="6B6B6B"/>
                </a:solidFill>
                <a:latin typeface="Calibri"/>
              </a:rPr>
              <a:t>Generalises to dynamic workloads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4681728"/>
            <a:ext cx="11094415" cy="1536192"/>
          </a:xfrm>
          <a:prstGeom prst="roundRect">
            <a:avLst>
              <a:gd name="adj" fmla="val 8000"/>
            </a:avLst>
          </a:prstGeom>
          <a:solidFill>
            <a:srgbClr val="1F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4818888"/>
            <a:ext cx="10545775" cy="347472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Key Takeaway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5184648"/>
            <a:ext cx="10545775" cy="896112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State-aware policy selection adapts across conditions.
Performance gains are topology-specific — not universal.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48695" y="6446520"/>
            <a:ext cx="594360" cy="32004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r"/>
            <a:r>
              <a:rPr sz="1400" b="0" i="0">
                <a:solidFill>
                  <a:srgbClr val="6B6B6B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3657600" cy="228600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11000" b="1" i="0">
                <a:solidFill>
                  <a:srgbClr val="0F6B6B"/>
                </a:solidFill>
                <a:latin typeface="Calibri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743200"/>
            <a:ext cx="7315200" cy="118872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Calibri"/>
              </a:rPr>
              <a:t>Flocky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977639"/>
            <a:ext cx="8229600" cy="64008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2200" b="0" i="0">
                <a:solidFill>
                  <a:srgbClr val="6B6B6B"/>
                </a:solidFill>
                <a:latin typeface="Calibri"/>
              </a:rPr>
              <a:t>Decentralized Intent-based Edge Orchestration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9235440" y="1463040"/>
            <a:ext cx="365760" cy="365760"/>
          </a:xfrm>
          <a:prstGeom prst="ellipse">
            <a:avLst/>
          </a:prstGeom>
          <a:noFill/>
          <a:ln w="19050">
            <a:solidFill>
              <a:srgbClr val="0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07040" y="914400"/>
            <a:ext cx="365760" cy="365760"/>
          </a:xfrm>
          <a:prstGeom prst="ellipse">
            <a:avLst/>
          </a:prstGeom>
          <a:noFill/>
          <a:ln w="19050">
            <a:solidFill>
              <a:srgbClr val="0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247120" y="2194560"/>
            <a:ext cx="365760" cy="365760"/>
          </a:xfrm>
          <a:prstGeom prst="ellipse">
            <a:avLst/>
          </a:prstGeom>
          <a:noFill/>
          <a:ln w="19050">
            <a:solidFill>
              <a:srgbClr val="0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875520" y="2926080"/>
            <a:ext cx="365760" cy="365760"/>
          </a:xfrm>
          <a:prstGeom prst="ellipse">
            <a:avLst/>
          </a:prstGeom>
          <a:noFill/>
          <a:ln w="19050">
            <a:solidFill>
              <a:srgbClr val="0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595360" y="2560320"/>
            <a:ext cx="365760" cy="365760"/>
          </a:xfrm>
          <a:prstGeom prst="ellipse">
            <a:avLst/>
          </a:prstGeom>
          <a:noFill/>
          <a:ln w="19050">
            <a:solidFill>
              <a:srgbClr val="0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064240" y="3931920"/>
            <a:ext cx="365760" cy="365760"/>
          </a:xfrm>
          <a:prstGeom prst="ellipse">
            <a:avLst/>
          </a:prstGeom>
          <a:noFill/>
          <a:ln w="19050">
            <a:solidFill>
              <a:srgbClr val="0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 flipV="1">
            <a:off x="9418320" y="1097280"/>
            <a:ext cx="1371600" cy="54864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0789920" y="1097280"/>
            <a:ext cx="640080" cy="1280160"/>
          </a:xfrm>
          <a:prstGeom prst="line">
            <a:avLst/>
          </a:prstGeom>
          <a:ln w="9525">
            <a:solidFill>
              <a:srgbClr val="0F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10058400" y="2377440"/>
            <a:ext cx="1371600" cy="731520"/>
          </a:xfrm>
          <a:prstGeom prst="line">
            <a:avLst/>
          </a:prstGeom>
          <a:ln w="9525">
            <a:solidFill>
              <a:srgbClr val="0F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 flipV="1">
            <a:off x="8778240" y="2743200"/>
            <a:ext cx="1280160" cy="36576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8778240" y="1645920"/>
            <a:ext cx="640080" cy="109728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11247120" y="2377440"/>
            <a:ext cx="182880" cy="173736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0058400" y="3108960"/>
            <a:ext cx="1188720" cy="1005840"/>
          </a:xfrm>
          <a:prstGeom prst="line">
            <a:avLst/>
          </a:prstGeom>
          <a:ln w="9525">
            <a:solidFill>
              <a:srgbClr val="0F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1048695" y="6446520"/>
            <a:ext cx="594360" cy="32004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r"/>
            <a:r>
              <a:rPr sz="1400" b="0" i="0">
                <a:solidFill>
                  <a:srgbClr val="6B6B6B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94415" cy="292608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F6B6B"/>
                </a:solidFill>
                <a:latin typeface="Calibri"/>
              </a:rPr>
              <a:t>PAPER 2 OF 3  ·  FLOCKY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0080"/>
            <a:ext cx="1828800" cy="25400"/>
          </a:xfrm>
          <a:prstGeom prst="rect">
            <a:avLst/>
          </a:prstGeom>
          <a:solidFill>
            <a:srgbClr val="0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85800"/>
            <a:ext cx="11094415" cy="77724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alibri"/>
              </a:rPr>
              <a:t>Decentralized Intent-based Edge Orchestration Using OAM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81328"/>
            <a:ext cx="11094415" cy="19050"/>
          </a:xfrm>
          <a:prstGeom prst="rect">
            <a:avLst/>
          </a:prstGeom>
          <a:solidFill>
            <a:srgbClr val="CFCB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572768"/>
            <a:ext cx="6858000" cy="4645152"/>
          </a:xfrm>
          <a:prstGeom prst="roundRect">
            <a:avLst>
              <a:gd name="adj" fmla="val 8000"/>
            </a:avLst>
          </a:prstGeom>
          <a:solidFill>
            <a:srgbClr val="ECEAE4"/>
          </a:solidFill>
          <a:ln w="12700">
            <a:solidFill>
              <a:srgbClr val="CFCB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572768"/>
            <a:ext cx="64008" cy="4645152"/>
          </a:xfrm>
          <a:prstGeom prst="roundRect">
            <a:avLst>
              <a:gd name="adj" fmla="val 8000"/>
            </a:avLst>
          </a:prstGeom>
          <a:solidFill>
            <a:srgbClr val="0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8" y="1737360"/>
            <a:ext cx="6428232" cy="36576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0F6B6B"/>
                </a:solidFill>
                <a:latin typeface="Calibri"/>
              </a:rPr>
              <a:t>Paper Metadata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8" y="2148840"/>
            <a:ext cx="6428232" cy="3904488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2000" b="0">
                <a:solidFill>
                  <a:srgbClr val="6B6B6B"/>
                </a:solidFill>
                <a:latin typeface="Calibri"/>
              </a:rPr>
              <a:t>Authors: T. Goethals, M. Sebrechts, M. Al-Naday,</a:t>
            </a:r>
          </a:p>
          <a:p>
            <a:pPr algn="l"/>
            <a:r>
              <a:rPr sz="2000" b="0">
                <a:solidFill>
                  <a:srgbClr val="6B6B6B"/>
                </a:solidFill>
                <a:latin typeface="Calibri"/>
              </a:rPr>
              <a:t>   F. De Turck, B. Volckaert</a:t>
            </a:r>
          </a:p>
          <a:p>
            <a:pPr algn="l"/>
            <a:r>
              <a:rPr sz="2000" b="0">
                <a:solidFill>
                  <a:srgbClr val="6B6B6B"/>
                </a:solidFill>
                <a:latin typeface="Calibri"/>
              </a:rPr>
              <a:t>Venue: IEEE Trans. Services Computing</a:t>
            </a:r>
          </a:p>
          <a:p>
            <a:pPr algn="l"/>
            <a:r>
              <a:rPr sz="2000" b="0">
                <a:solidFill>
                  <a:srgbClr val="6B6B6B"/>
                </a:solidFill>
                <a:latin typeface="Calibri"/>
              </a:rPr>
              <a:t>Volume 19, Issue 1, pp. 380–395, 2026</a:t>
            </a:r>
          </a:p>
          <a:p>
            <a:pPr algn="l"/>
            <a:r>
              <a:rPr sz="2000" b="0">
                <a:solidFill>
                  <a:srgbClr val="6B6B6B"/>
                </a:solidFill>
                <a:latin typeface="Calibri"/>
              </a:rPr>
              <a:t>DOI: 10.1109/TSC.2025.3631387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589520" y="1572768"/>
            <a:ext cx="4053535" cy="4645152"/>
          </a:xfrm>
          <a:prstGeom prst="roundRect">
            <a:avLst>
              <a:gd name="adj" fmla="val 8000"/>
            </a:avLst>
          </a:prstGeom>
          <a:solidFill>
            <a:srgbClr val="0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0" y="1755648"/>
            <a:ext cx="3687775" cy="82296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ROLE IN
SEMINAR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2670048"/>
            <a:ext cx="3687775" cy="45720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LAYER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0" y="3172968"/>
            <a:ext cx="3687775" cy="182880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Decentralized
Coordination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48695" y="6446520"/>
            <a:ext cx="594360" cy="32004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r"/>
            <a:r>
              <a:rPr sz="1400" b="0" i="0">
                <a:solidFill>
                  <a:srgbClr val="6B6B6B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94415" cy="292608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6B6B6B"/>
                </a:solidFill>
                <a:latin typeface="Calibri"/>
              </a:rPr>
              <a:t>FLOCKY  · 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94415" cy="77724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alibri"/>
              </a:rPr>
              <a:t>Cloud Assumptions Don't Hold at the Edge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81328"/>
            <a:ext cx="11094415" cy="19050"/>
          </a:xfrm>
          <a:prstGeom prst="rect">
            <a:avLst/>
          </a:prstGeom>
          <a:solidFill>
            <a:srgbClr val="CFCB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72768"/>
            <a:ext cx="5318607" cy="4645152"/>
          </a:xfrm>
          <a:prstGeom prst="roundRect">
            <a:avLst>
              <a:gd name="adj" fmla="val 8000"/>
            </a:avLst>
          </a:prstGeom>
          <a:solidFill>
            <a:srgbClr val="F7F5F0"/>
          </a:solidFill>
          <a:ln w="12700">
            <a:solidFill>
              <a:srgbClr val="CFCB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737360"/>
            <a:ext cx="4952847" cy="36576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Calibri"/>
              </a:rPr>
              <a:t>Cloud Assumptions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148840"/>
            <a:ext cx="4952847" cy="3904488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2000" b="0">
                <a:solidFill>
                  <a:srgbClr val="6B6B6B"/>
                </a:solidFill>
                <a:latin typeface="Calibri"/>
              </a:rPr>
              <a:t>Small set of powerful machines</a:t>
            </a:r>
          </a:p>
          <a:p>
            <a:pPr algn="l"/>
            <a:r>
              <a:rPr sz="2000" b="0">
                <a:solidFill>
                  <a:srgbClr val="6B6B6B"/>
                </a:solidFill>
                <a:latin typeface="Calibri"/>
              </a:rPr>
              <a:t>Centralized orchestrator (Kubernetes)</a:t>
            </a:r>
          </a:p>
          <a:p>
            <a:pPr algn="l"/>
            <a:r>
              <a:rPr sz="2000" b="0">
                <a:solidFill>
                  <a:srgbClr val="6B6B6B"/>
                </a:solidFill>
                <a:latin typeface="Calibri"/>
              </a:rPr>
              <a:t>High-capacity, stable infrastructure</a:t>
            </a:r>
          </a:p>
          <a:p>
            <a:pPr algn="l"/>
            <a:r>
              <a:rPr sz="2000" b="0">
                <a:solidFill>
                  <a:srgbClr val="6B6B6B"/>
                </a:solidFill>
                <a:latin typeface="Calibri"/>
              </a:rPr>
              <a:t>Fast, reliable networking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12967" y="3666744"/>
            <a:ext cx="365760" cy="45720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CFCBC2"/>
                </a:solidFill>
                <a:latin typeface="Calibri"/>
              </a:rPr>
              <a:t>VS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24447" y="1572768"/>
            <a:ext cx="5318607" cy="4645152"/>
          </a:xfrm>
          <a:prstGeom prst="roundRect">
            <a:avLst>
              <a:gd name="adj" fmla="val 8000"/>
            </a:avLst>
          </a:prstGeom>
          <a:solidFill>
            <a:srgbClr val="ECEAE4"/>
          </a:solidFill>
          <a:ln w="12700">
            <a:solidFill>
              <a:srgbClr val="CFCB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24447" y="1572768"/>
            <a:ext cx="64008" cy="4645152"/>
          </a:xfrm>
          <a:prstGeom prst="roundRect">
            <a:avLst>
              <a:gd name="adj" fmla="val 8000"/>
            </a:avLst>
          </a:prstGeom>
          <a:solidFill>
            <a:srgbClr val="0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71335" y="1737360"/>
            <a:ext cx="4888839" cy="36576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0F6B6B"/>
                </a:solidFill>
                <a:latin typeface="Calibri"/>
              </a:rPr>
              <a:t>Edge Reality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71335" y="2148840"/>
            <a:ext cx="4888839" cy="3904488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2000" b="0">
                <a:solidFill>
                  <a:srgbClr val="6B6B6B"/>
                </a:solidFill>
                <a:latin typeface="Calibri"/>
              </a:rPr>
              <a:t>Many heterogeneous, limited nodes</a:t>
            </a:r>
          </a:p>
          <a:p>
            <a:pPr algn="l"/>
            <a:r>
              <a:rPr sz="2000" b="0">
                <a:solidFill>
                  <a:srgbClr val="6B6B6B"/>
                </a:solidFill>
                <a:latin typeface="Calibri"/>
              </a:rPr>
              <a:t>No single entity has global view</a:t>
            </a:r>
          </a:p>
          <a:p>
            <a:pPr algn="l"/>
            <a:r>
              <a:rPr sz="2000" b="0">
                <a:solidFill>
                  <a:srgbClr val="6B6B6B"/>
                </a:solidFill>
                <a:latin typeface="Calibri"/>
              </a:rPr>
              <a:t>Changing topology and connectivity</a:t>
            </a:r>
          </a:p>
          <a:p>
            <a:pPr algn="l"/>
            <a:r>
              <a:rPr sz="2000" b="0">
                <a:solidFill>
                  <a:srgbClr val="6B6B6B"/>
                </a:solidFill>
                <a:latin typeface="Calibri"/>
              </a:rPr>
              <a:t>Resource-constrained devices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199632"/>
            <a:ext cx="11094415" cy="19050"/>
          </a:xfrm>
          <a:prstGeom prst="rect">
            <a:avLst/>
          </a:prstGeom>
          <a:solidFill>
            <a:srgbClr val="0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263640"/>
            <a:ext cx="11094415" cy="32004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F6B6B"/>
                </a:solidFill>
                <a:latin typeface="Calibri"/>
              </a:rPr>
              <a:t>Can orchestration itself become decentralized?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48695" y="6446520"/>
            <a:ext cx="594360" cy="32004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r"/>
            <a:r>
              <a:rPr sz="1400" b="0" i="0">
                <a:solidFill>
                  <a:srgbClr val="6B6B6B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94415" cy="292608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F6B6B"/>
                </a:solidFill>
                <a:latin typeface="Calibri"/>
              </a:rPr>
              <a:t>FLOCKY  ·  METHODOLOGY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0080"/>
            <a:ext cx="1828800" cy="25400"/>
          </a:xfrm>
          <a:prstGeom prst="rect">
            <a:avLst/>
          </a:prstGeom>
          <a:solidFill>
            <a:srgbClr val="0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85800"/>
            <a:ext cx="11094415" cy="77724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alibri"/>
              </a:rPr>
              <a:t>From Workload Intent to Placement Decision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81328"/>
            <a:ext cx="11094415" cy="19050"/>
          </a:xfrm>
          <a:prstGeom prst="rect">
            <a:avLst/>
          </a:prstGeom>
          <a:solidFill>
            <a:srgbClr val="CFCB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572768"/>
            <a:ext cx="5669280" cy="749808"/>
          </a:xfrm>
          <a:prstGeom prst="roundRect">
            <a:avLst>
              <a:gd name="adj" fmla="val 8000"/>
            </a:avLst>
          </a:prstGeom>
          <a:solidFill>
            <a:srgbClr val="ECEAE4"/>
          </a:solidFill>
          <a:ln w="19050">
            <a:solidFill>
              <a:srgbClr val="CFCB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627632"/>
            <a:ext cx="5486400" cy="64008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A1A1A"/>
                </a:solidFill>
                <a:latin typeface="Calibri"/>
              </a:rPr>
              <a:t>Workload Intent</a:t>
            </a:r>
          </a:p>
          <a:p>
            <a:pPr algn="ctr"/>
            <a:r>
              <a:rPr sz="1400" b="0">
                <a:solidFill>
                  <a:srgbClr val="1A1A1A"/>
                </a:solidFill>
                <a:latin typeface="Calibri"/>
              </a:rPr>
              <a:t>Requirements expressed declaratively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414016"/>
            <a:ext cx="5669280" cy="749808"/>
          </a:xfrm>
          <a:prstGeom prst="roundRect">
            <a:avLst>
              <a:gd name="adj" fmla="val 8000"/>
            </a:avLst>
          </a:prstGeom>
          <a:solidFill>
            <a:srgbClr val="ECEAE4"/>
          </a:solidFill>
          <a:ln w="19050">
            <a:solidFill>
              <a:srgbClr val="CFCB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468880"/>
            <a:ext cx="5486400" cy="64008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A1A1A"/>
                </a:solidFill>
                <a:latin typeface="Calibri"/>
              </a:rPr>
              <a:t>Open Application Model</a:t>
            </a:r>
          </a:p>
          <a:p>
            <a:pPr algn="ctr"/>
            <a:r>
              <a:rPr sz="1400" b="0">
                <a:solidFill>
                  <a:srgbClr val="1A1A1A"/>
                </a:solidFill>
                <a:latin typeface="Calibri"/>
              </a:rPr>
              <a:t>Structured component description + edge traits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255264"/>
            <a:ext cx="5669280" cy="749808"/>
          </a:xfrm>
          <a:prstGeom prst="roundRect">
            <a:avLst>
              <a:gd name="adj" fmla="val 8000"/>
            </a:avLst>
          </a:prstGeom>
          <a:solidFill>
            <a:srgbClr val="ECEAE4"/>
          </a:solidFill>
          <a:ln w="19050">
            <a:solidFill>
              <a:srgbClr val="CFCB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310128"/>
            <a:ext cx="5486400" cy="64008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A1A1A"/>
                </a:solidFill>
                <a:latin typeface="Calibri"/>
              </a:rPr>
              <a:t>Node Metadata</a:t>
            </a:r>
          </a:p>
          <a:p>
            <a:pPr algn="ctr"/>
            <a:r>
              <a:rPr sz="1400" b="0">
                <a:solidFill>
                  <a:srgbClr val="1A1A1A"/>
                </a:solidFill>
                <a:latin typeface="Calibri"/>
              </a:rPr>
              <a:t>Per-node capability advertisement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096512"/>
            <a:ext cx="5669280" cy="749808"/>
          </a:xfrm>
          <a:prstGeom prst="roundRect">
            <a:avLst>
              <a:gd name="adj" fmla="val 8000"/>
            </a:avLst>
          </a:prstGeom>
          <a:solidFill>
            <a:srgbClr val="ECEAE4"/>
          </a:solidFill>
          <a:ln w="19050">
            <a:solidFill>
              <a:srgbClr val="CFCB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4151376"/>
            <a:ext cx="5486400" cy="64008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A1A1A"/>
                </a:solidFill>
                <a:latin typeface="Calibri"/>
              </a:rPr>
              <a:t>Capability Matching</a:t>
            </a:r>
          </a:p>
          <a:p>
            <a:pPr algn="ctr"/>
            <a:r>
              <a:rPr sz="1400" b="0">
                <a:solidFill>
                  <a:srgbClr val="1A1A1A"/>
                </a:solidFill>
                <a:latin typeface="Calibri"/>
              </a:rPr>
              <a:t>Requirements ↔ metadata per candidate node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937760"/>
            <a:ext cx="5669280" cy="749808"/>
          </a:xfrm>
          <a:prstGeom prst="roundRect">
            <a:avLst>
              <a:gd name="adj" fmla="val 8000"/>
            </a:avLst>
          </a:prstGeom>
          <a:solidFill>
            <a:srgbClr val="ECEAE4"/>
          </a:solidFill>
          <a:ln w="19050">
            <a:solidFill>
              <a:srgbClr val="CFCB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992624"/>
            <a:ext cx="5486400" cy="64008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A1A1A"/>
                </a:solidFill>
                <a:latin typeface="Calibri"/>
              </a:rPr>
              <a:t>Placement Decision</a:t>
            </a:r>
          </a:p>
          <a:p>
            <a:pPr algn="ctr"/>
            <a:r>
              <a:rPr sz="1400" b="0">
                <a:solidFill>
                  <a:srgbClr val="1A1A1A"/>
                </a:solidFill>
                <a:latin typeface="Calibri"/>
              </a:rPr>
              <a:t>Best-matching node(s) selected &amp; deployed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383280" y="2322576"/>
            <a:ext cx="0" cy="91440"/>
          </a:xfrm>
          <a:prstGeom prst="line">
            <a:avLst/>
          </a:prstGeom>
          <a:ln w="25400">
            <a:solidFill>
              <a:srgbClr val="0F6B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3383280" y="3163824"/>
            <a:ext cx="0" cy="91440"/>
          </a:xfrm>
          <a:prstGeom prst="line">
            <a:avLst/>
          </a:prstGeom>
          <a:ln w="25400">
            <a:solidFill>
              <a:srgbClr val="0F6B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3383280" y="4005072"/>
            <a:ext cx="0" cy="91440"/>
          </a:xfrm>
          <a:prstGeom prst="line">
            <a:avLst/>
          </a:prstGeom>
          <a:ln w="25400">
            <a:solidFill>
              <a:srgbClr val="0F6B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3383280" y="4846320"/>
            <a:ext cx="0" cy="91440"/>
          </a:xfrm>
          <a:prstGeom prst="line">
            <a:avLst/>
          </a:prstGeom>
          <a:ln w="25400">
            <a:solidFill>
              <a:srgbClr val="0F6B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6675120" y="1572768"/>
            <a:ext cx="4967935" cy="4645152"/>
          </a:xfrm>
          <a:prstGeom prst="roundRect">
            <a:avLst>
              <a:gd name="adj" fmla="val 8000"/>
            </a:avLst>
          </a:prstGeom>
          <a:solidFill>
            <a:srgbClr val="ECEAE4"/>
          </a:solidFill>
          <a:ln w="19050">
            <a:solidFill>
              <a:srgbClr val="0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0" y="1755648"/>
            <a:ext cx="4602175" cy="32004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F6B6B"/>
                </a:solidFill>
                <a:latin typeface="Calibri"/>
              </a:rPr>
              <a:t>OAM EDGE TRAITS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0" y="2167128"/>
            <a:ext cx="4602175" cy="64008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2000" b="0" i="0">
                <a:solidFill>
                  <a:srgbClr val="6B6B6B"/>
                </a:solidFill>
                <a:latin typeface="Calibri"/>
              </a:rPr>
              <a:t>Orchestration considers
more than raw CPU: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0" y="2852928"/>
            <a:ext cx="4602175" cy="475488"/>
          </a:xfrm>
          <a:prstGeom prst="roundRect">
            <a:avLst>
              <a:gd name="adj" fmla="val 6000"/>
            </a:avLst>
          </a:prstGeom>
          <a:solidFill>
            <a:srgbClr val="F7F5F0"/>
          </a:solidFill>
          <a:ln w="9525">
            <a:solidFill>
              <a:srgbClr val="0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0" y="2898648"/>
            <a:ext cx="4419295" cy="384048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Calibri"/>
              </a:rPr>
              <a:t>  ✦  Network encryption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58000" y="3447288"/>
            <a:ext cx="4602175" cy="475488"/>
          </a:xfrm>
          <a:prstGeom prst="roundRect">
            <a:avLst>
              <a:gd name="adj" fmla="val 6000"/>
            </a:avLst>
          </a:prstGeom>
          <a:solidFill>
            <a:srgbClr val="F7F5F0"/>
          </a:solidFill>
          <a:ln w="9525">
            <a:solidFill>
              <a:srgbClr val="0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49440" y="3493008"/>
            <a:ext cx="4419295" cy="384048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Calibri"/>
              </a:rPr>
              <a:t>  ✦  Attestation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58000" y="4041648"/>
            <a:ext cx="4602175" cy="475488"/>
          </a:xfrm>
          <a:prstGeom prst="roundRect">
            <a:avLst>
              <a:gd name="adj" fmla="val 6000"/>
            </a:avLst>
          </a:prstGeom>
          <a:solidFill>
            <a:srgbClr val="F7F5F0"/>
          </a:solidFill>
          <a:ln w="9525">
            <a:solidFill>
              <a:srgbClr val="0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49440" y="4087368"/>
            <a:ext cx="4419295" cy="384048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Calibri"/>
              </a:rPr>
              <a:t>  ✦  Green energy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858000" y="4636008"/>
            <a:ext cx="4602175" cy="475488"/>
          </a:xfrm>
          <a:prstGeom prst="roundRect">
            <a:avLst>
              <a:gd name="adj" fmla="val 6000"/>
            </a:avLst>
          </a:prstGeom>
          <a:solidFill>
            <a:srgbClr val="F7F5F0"/>
          </a:solidFill>
          <a:ln w="9525">
            <a:solidFill>
              <a:srgbClr val="0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49440" y="4681728"/>
            <a:ext cx="4419295" cy="384048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Calibri"/>
              </a:rPr>
              <a:t>  ✦  Secure runtime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858000" y="5230368"/>
            <a:ext cx="4602175" cy="475488"/>
          </a:xfrm>
          <a:prstGeom prst="roundRect">
            <a:avLst>
              <a:gd name="adj" fmla="val 6000"/>
            </a:avLst>
          </a:prstGeom>
          <a:solidFill>
            <a:srgbClr val="F7F5F0"/>
          </a:solidFill>
          <a:ln w="9525">
            <a:solidFill>
              <a:srgbClr val="0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49440" y="5276088"/>
            <a:ext cx="4419295" cy="384048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Calibri"/>
              </a:rPr>
              <a:t>  ✦  Distance constraints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048695" y="6446520"/>
            <a:ext cx="594360" cy="32004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r"/>
            <a:r>
              <a:rPr sz="1400" b="0" i="0">
                <a:solidFill>
                  <a:srgbClr val="6B6B6B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94415" cy="292608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F6B6B"/>
                </a:solidFill>
                <a:latin typeface="Calibri"/>
              </a:rPr>
              <a:t>FLOCKY  ·  DECENTRALIZED DISCOVERY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0080"/>
            <a:ext cx="1828800" cy="25400"/>
          </a:xfrm>
          <a:prstGeom prst="rect">
            <a:avLst/>
          </a:prstGeom>
          <a:solidFill>
            <a:srgbClr val="0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85800"/>
            <a:ext cx="11094415" cy="77724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alibri"/>
              </a:rPr>
              <a:t>Building Local Topology Knowledge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81328"/>
            <a:ext cx="11094415" cy="19050"/>
          </a:xfrm>
          <a:prstGeom prst="rect">
            <a:avLst/>
          </a:prstGeom>
          <a:solidFill>
            <a:srgbClr val="CFCB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 flipV="1">
            <a:off x="1828800" y="2560320"/>
            <a:ext cx="1280160" cy="731520"/>
          </a:xfrm>
          <a:prstGeom prst="line">
            <a:avLst/>
          </a:prstGeom>
          <a:ln w="25400">
            <a:solidFill>
              <a:srgbClr val="0F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3108960" y="2286000"/>
            <a:ext cx="1280160" cy="1005840"/>
          </a:xfrm>
          <a:prstGeom prst="line">
            <a:avLst/>
          </a:prstGeom>
          <a:ln w="25400">
            <a:solidFill>
              <a:srgbClr val="0F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H="1">
            <a:off x="2560320" y="3291840"/>
            <a:ext cx="548640" cy="1280160"/>
          </a:xfrm>
          <a:prstGeom prst="line">
            <a:avLst/>
          </a:prstGeom>
          <a:ln w="9525">
            <a:solidFill>
              <a:srgbClr val="CFCB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3108960" y="1920240"/>
            <a:ext cx="91440" cy="1371600"/>
          </a:xfrm>
          <a:prstGeom prst="line">
            <a:avLst/>
          </a:prstGeom>
          <a:ln w="9525">
            <a:solidFill>
              <a:srgbClr val="CFCB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1280160" y="2560320"/>
            <a:ext cx="548640" cy="1463040"/>
          </a:xfrm>
          <a:prstGeom prst="line">
            <a:avLst/>
          </a:prstGeom>
          <a:ln w="9525">
            <a:solidFill>
              <a:srgbClr val="CFCB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828800" y="2560320"/>
            <a:ext cx="731520" cy="2011680"/>
          </a:xfrm>
          <a:prstGeom prst="line">
            <a:avLst/>
          </a:prstGeom>
          <a:ln w="9525">
            <a:solidFill>
              <a:srgbClr val="CFCB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389120" y="2286000"/>
            <a:ext cx="640080" cy="457200"/>
          </a:xfrm>
          <a:prstGeom prst="line">
            <a:avLst/>
          </a:prstGeom>
          <a:ln w="25400">
            <a:solidFill>
              <a:srgbClr val="0F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 flipV="1">
            <a:off x="3200400" y="1920240"/>
            <a:ext cx="1188720" cy="365760"/>
          </a:xfrm>
          <a:prstGeom prst="line">
            <a:avLst/>
          </a:prstGeom>
          <a:ln w="25400">
            <a:solidFill>
              <a:srgbClr val="0F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280160" y="4023360"/>
            <a:ext cx="1280160" cy="548640"/>
          </a:xfrm>
          <a:prstGeom prst="line">
            <a:avLst/>
          </a:prstGeom>
          <a:ln w="9525">
            <a:solidFill>
              <a:srgbClr val="CFCB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4572000" y="2743200"/>
            <a:ext cx="457200" cy="1554480"/>
          </a:xfrm>
          <a:prstGeom prst="line">
            <a:avLst/>
          </a:prstGeom>
          <a:ln w="9525">
            <a:solidFill>
              <a:srgbClr val="CFCB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2560320" y="4297680"/>
            <a:ext cx="2011680" cy="274320"/>
          </a:xfrm>
          <a:prstGeom prst="line">
            <a:avLst/>
          </a:prstGeom>
          <a:ln w="9525">
            <a:solidFill>
              <a:srgbClr val="CFCB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2834640" y="3017520"/>
            <a:ext cx="548640" cy="548640"/>
          </a:xfrm>
          <a:prstGeom prst="ellipse">
            <a:avLst/>
          </a:prstGeom>
          <a:solidFill>
            <a:srgbClr val="0F6B6B"/>
          </a:solidFill>
          <a:ln w="25400">
            <a:solidFill>
              <a:srgbClr val="0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34640" y="3099816"/>
            <a:ext cx="548640" cy="384048"/>
          </a:xfrm>
          <a:prstGeom prst="rect">
            <a:avLst/>
          </a:prstGeom>
          <a:noFill/>
        </p:spPr>
        <p:txBody>
          <a:bodyPr wrap="none" autofit="noAutofi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554480" y="2286000"/>
            <a:ext cx="548640" cy="548640"/>
          </a:xfrm>
          <a:prstGeom prst="ellipse">
            <a:avLst/>
          </a:prstGeom>
          <a:solidFill>
            <a:srgbClr val="0F6B6B"/>
          </a:solidFill>
          <a:ln w="25400">
            <a:solidFill>
              <a:srgbClr val="0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554480" y="2368296"/>
            <a:ext cx="548640" cy="384048"/>
          </a:xfrm>
          <a:prstGeom prst="rect">
            <a:avLst/>
          </a:prstGeom>
          <a:noFill/>
        </p:spPr>
        <p:txBody>
          <a:bodyPr wrap="none" autofit="noAutofi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0" y="2011680"/>
            <a:ext cx="548640" cy="548640"/>
          </a:xfrm>
          <a:prstGeom prst="ellipse">
            <a:avLst/>
          </a:prstGeom>
          <a:solidFill>
            <a:srgbClr val="0F6B6B"/>
          </a:solidFill>
          <a:ln w="25400">
            <a:solidFill>
              <a:srgbClr val="0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0" y="2093976"/>
            <a:ext cx="548640" cy="384048"/>
          </a:xfrm>
          <a:prstGeom prst="rect">
            <a:avLst/>
          </a:prstGeom>
          <a:noFill/>
        </p:spPr>
        <p:txBody>
          <a:bodyPr wrap="none" autofit="noAutofi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05840" y="3749040"/>
            <a:ext cx="548640" cy="548640"/>
          </a:xfrm>
          <a:prstGeom prst="ellipse">
            <a:avLst/>
          </a:prstGeom>
          <a:solidFill>
            <a:srgbClr val="F7F5F0"/>
          </a:solidFill>
          <a:ln w="25400">
            <a:solidFill>
              <a:srgbClr val="CFCB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3831336"/>
            <a:ext cx="548640" cy="384048"/>
          </a:xfrm>
          <a:prstGeom prst="rect">
            <a:avLst/>
          </a:prstGeom>
          <a:noFill/>
        </p:spPr>
        <p:txBody>
          <a:bodyPr wrap="none" autofit="noAutofi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A1A1A"/>
                </a:solidFill>
                <a:latin typeface="Calibri"/>
              </a:rPr>
              <a:t>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754880" y="2468880"/>
            <a:ext cx="548640" cy="548640"/>
          </a:xfrm>
          <a:prstGeom prst="ellipse">
            <a:avLst/>
          </a:prstGeom>
          <a:solidFill>
            <a:srgbClr val="ECEAE4"/>
          </a:solidFill>
          <a:ln w="25400">
            <a:solidFill>
              <a:srgbClr val="CFCB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54880" y="2551176"/>
            <a:ext cx="548640" cy="384048"/>
          </a:xfrm>
          <a:prstGeom prst="rect">
            <a:avLst/>
          </a:prstGeom>
          <a:noFill/>
        </p:spPr>
        <p:txBody>
          <a:bodyPr wrap="none" autofit="noAutofi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A1A1A"/>
                </a:solidFill>
                <a:latin typeface="Calibri"/>
              </a:rPr>
              <a:t>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86000" y="4297680"/>
            <a:ext cx="548640" cy="548640"/>
          </a:xfrm>
          <a:prstGeom prst="ellipse">
            <a:avLst/>
          </a:prstGeom>
          <a:solidFill>
            <a:srgbClr val="F7F5F0"/>
          </a:solidFill>
          <a:ln w="25400">
            <a:solidFill>
              <a:srgbClr val="CFCB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286000" y="4379976"/>
            <a:ext cx="548640" cy="384048"/>
          </a:xfrm>
          <a:prstGeom prst="rect">
            <a:avLst/>
          </a:prstGeom>
          <a:noFill/>
        </p:spPr>
        <p:txBody>
          <a:bodyPr wrap="none" autofit="noAutofi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A1A1A"/>
                </a:solidFill>
                <a:latin typeface="Calibri"/>
              </a:rPr>
              <a:t>F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297680" y="4023360"/>
            <a:ext cx="548640" cy="548640"/>
          </a:xfrm>
          <a:prstGeom prst="ellipse">
            <a:avLst/>
          </a:prstGeom>
          <a:solidFill>
            <a:srgbClr val="F7F5F0"/>
          </a:solidFill>
          <a:ln w="25400">
            <a:solidFill>
              <a:srgbClr val="CFCB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297680" y="4105656"/>
            <a:ext cx="548640" cy="384048"/>
          </a:xfrm>
          <a:prstGeom prst="rect">
            <a:avLst/>
          </a:prstGeom>
          <a:noFill/>
        </p:spPr>
        <p:txBody>
          <a:bodyPr wrap="none" autofit="noAutofi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A1A1A"/>
                </a:solidFill>
                <a:latin typeface="Calibri"/>
              </a:rPr>
              <a:t>G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926080" y="1645920"/>
            <a:ext cx="548640" cy="548640"/>
          </a:xfrm>
          <a:prstGeom prst="ellipse">
            <a:avLst/>
          </a:prstGeom>
          <a:solidFill>
            <a:srgbClr val="ECEAE4"/>
          </a:solidFill>
          <a:ln w="25400">
            <a:solidFill>
              <a:srgbClr val="CFCB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926080" y="1728216"/>
            <a:ext cx="548640" cy="384048"/>
          </a:xfrm>
          <a:prstGeom prst="rect">
            <a:avLst/>
          </a:prstGeom>
          <a:noFill/>
        </p:spPr>
        <p:txBody>
          <a:bodyPr wrap="none" autofit="noAutofi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A1A1A"/>
                </a:solidFill>
                <a:latin typeface="Calibri"/>
              </a:rPr>
              <a:t>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92240" y="1572768"/>
            <a:ext cx="5150815" cy="347472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F6B6B"/>
                </a:solidFill>
                <a:latin typeface="Calibri"/>
              </a:rPr>
              <a:t>DISCOVERY STEPS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92240" y="1984248"/>
            <a:ext cx="5150815" cy="475488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Calibri"/>
              </a:rPr>
              <a:t>1.  Local node broadcasts capability info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2551176"/>
            <a:ext cx="5150815" cy="475488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Calibri"/>
              </a:rPr>
              <a:t>2.  Nearby nodes respond with metadata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92240" y="3118104"/>
            <a:ext cx="5150815" cy="475488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Calibri"/>
              </a:rPr>
              <a:t>3.  PING measures round-trip latency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92240" y="3685032"/>
            <a:ext cx="5150815" cy="475488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Calibri"/>
              </a:rPr>
              <a:t>4.  Metadata cached for placement decisions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92240" y="4251960"/>
            <a:ext cx="5150815" cy="475488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Calibri"/>
              </a:rPr>
              <a:t>5.  Local topology view built — no global state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92240" y="4910328"/>
            <a:ext cx="5150815" cy="822960"/>
          </a:xfrm>
          <a:prstGeom prst="roundRect">
            <a:avLst>
              <a:gd name="adj" fmla="val 6000"/>
            </a:avLst>
          </a:prstGeom>
          <a:solidFill>
            <a:srgbClr val="ECEAE4"/>
          </a:solidFill>
          <a:ln w="19050">
            <a:solidFill>
              <a:srgbClr val="0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629400" y="4956048"/>
            <a:ext cx="4876495" cy="59436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2000" b="1" i="1">
                <a:solidFill>
                  <a:srgbClr val="0F6B6B"/>
                </a:solidFill>
                <a:latin typeface="Calibri"/>
              </a:rPr>
              <a:t>&gt;97% of neighbours
discovered in 2 rounds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8640" y="6263640"/>
            <a:ext cx="5943600" cy="292608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6B6B6B"/>
                </a:solidFill>
                <a:latin typeface="Calibri"/>
              </a:rPr>
              <a:t>■ Teal = selected node + local links   ■ Grey = distant / unvisited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048695" y="6446520"/>
            <a:ext cx="594360" cy="32004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r"/>
            <a:r>
              <a:rPr sz="1400" b="0" i="0">
                <a:solidFill>
                  <a:srgbClr val="6B6B6B"/>
                </a:solidFill>
                <a:latin typeface="Calibri"/>
              </a:rPr>
              <a:t>16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8640" y="6446520"/>
            <a:ext cx="7315200" cy="32004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6B6B6B"/>
                </a:solidFill>
                <a:latin typeface="Calibri"/>
              </a:rPr>
              <a:t>As reported by the paper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94415" cy="292608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F6B6B"/>
                </a:solidFill>
                <a:latin typeface="Calibri"/>
              </a:rPr>
              <a:t>FLOCKY  ·  ORCHESTRATION PIPELINE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0080"/>
            <a:ext cx="1828800" cy="25400"/>
          </a:xfrm>
          <a:prstGeom prst="rect">
            <a:avLst/>
          </a:prstGeom>
          <a:solidFill>
            <a:srgbClr val="0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85800"/>
            <a:ext cx="11094415" cy="77724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alibri"/>
              </a:rPr>
              <a:t>Five-Stage Decentralized Orchestration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81328"/>
            <a:ext cx="11094415" cy="19050"/>
          </a:xfrm>
          <a:prstGeom prst="rect">
            <a:avLst/>
          </a:prstGeom>
          <a:solidFill>
            <a:srgbClr val="CFCB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572768"/>
            <a:ext cx="2072579" cy="2560320"/>
          </a:xfrm>
          <a:prstGeom prst="roundRect">
            <a:avLst>
              <a:gd name="adj" fmla="val 8000"/>
            </a:avLst>
          </a:prstGeom>
          <a:solidFill>
            <a:srgbClr val="0F6B6B"/>
          </a:solidFill>
          <a:ln w="19050">
            <a:solidFill>
              <a:srgbClr val="0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627632"/>
            <a:ext cx="1889699" cy="2450592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
Discovery</a:t>
            </a:r>
          </a:p>
          <a:p>
            <a:pPr algn="ctr"/>
            <a:r>
              <a:rPr sz="1400" b="0">
                <a:solidFill>
                  <a:srgbClr val="FFFFFF"/>
                </a:solidFill>
                <a:latin typeface="Calibri"/>
              </a:rPr>
              <a:t>Find nearby nodes</a:t>
            </a:r>
          </a:p>
        </p:txBody>
      </p:sp>
      <p:sp>
        <p:nvSpPr>
          <p:cNvPr id="9" name="Rectangle 8"/>
          <p:cNvSpPr/>
          <p:nvPr/>
        </p:nvSpPr>
        <p:spPr>
          <a:xfrm>
            <a:off x="2804099" y="1572768"/>
            <a:ext cx="2072579" cy="2560320"/>
          </a:xfrm>
          <a:prstGeom prst="roundRect">
            <a:avLst>
              <a:gd name="adj" fmla="val 8000"/>
            </a:avLst>
          </a:prstGeom>
          <a:solidFill>
            <a:srgbClr val="0F6B6B"/>
          </a:solidFill>
          <a:ln w="19050">
            <a:solidFill>
              <a:srgbClr val="0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95539" y="1627632"/>
            <a:ext cx="1889699" cy="2450592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
Metadata</a:t>
            </a:r>
          </a:p>
          <a:p>
            <a:pPr algn="ctr"/>
            <a:r>
              <a:rPr sz="1400" b="0">
                <a:solidFill>
                  <a:srgbClr val="FFFFFF"/>
                </a:solidFill>
                <a:latin typeface="Calibri"/>
              </a:rPr>
              <a:t>Learn capabilities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59558" y="1572768"/>
            <a:ext cx="2072579" cy="2560320"/>
          </a:xfrm>
          <a:prstGeom prst="roundRect">
            <a:avLst>
              <a:gd name="adj" fmla="val 8000"/>
            </a:avLst>
          </a:prstGeom>
          <a:solidFill>
            <a:srgbClr val="0F6B6B"/>
          </a:solidFill>
          <a:ln w="19050">
            <a:solidFill>
              <a:srgbClr val="0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50998" y="1627632"/>
            <a:ext cx="1889699" cy="2450592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
Scheduling</a:t>
            </a:r>
          </a:p>
          <a:p>
            <a:pPr algn="ctr"/>
            <a:r>
              <a:rPr sz="1400" b="0">
                <a:solidFill>
                  <a:srgbClr val="FFFFFF"/>
                </a:solidFill>
                <a:latin typeface="Calibri"/>
              </a:rPr>
              <a:t>Match requirements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017" y="1572768"/>
            <a:ext cx="2072579" cy="2560320"/>
          </a:xfrm>
          <a:prstGeom prst="roundRect">
            <a:avLst>
              <a:gd name="adj" fmla="val 8000"/>
            </a:avLst>
          </a:prstGeom>
          <a:solidFill>
            <a:srgbClr val="0F6B6B"/>
          </a:solidFill>
          <a:ln w="19050">
            <a:solidFill>
              <a:srgbClr val="0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06457" y="1627632"/>
            <a:ext cx="1889699" cy="2450592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4
Construct</a:t>
            </a:r>
          </a:p>
          <a:p>
            <a:pPr algn="ctr"/>
            <a:r>
              <a:rPr sz="1400" b="0">
                <a:solidFill>
                  <a:srgbClr val="FFFFFF"/>
                </a:solidFill>
                <a:latin typeface="Calibri"/>
              </a:rPr>
              <a:t>Compose workload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570476" y="1572768"/>
            <a:ext cx="2072579" cy="2560320"/>
          </a:xfrm>
          <a:prstGeom prst="roundRect">
            <a:avLst>
              <a:gd name="adj" fmla="val 8000"/>
            </a:avLst>
          </a:prstGeom>
          <a:solidFill>
            <a:srgbClr val="0F6B6B"/>
          </a:solidFill>
          <a:ln w="19050">
            <a:solidFill>
              <a:srgbClr val="0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61916" y="1627632"/>
            <a:ext cx="1889699" cy="2450592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5
Deployment</a:t>
            </a:r>
          </a:p>
          <a:p>
            <a:pPr algn="ctr"/>
            <a:r>
              <a:rPr sz="1400" b="0">
                <a:solidFill>
                  <a:srgbClr val="FFFFFF"/>
                </a:solidFill>
                <a:latin typeface="Calibri"/>
              </a:rPr>
              <a:t>Place and launch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621219" y="2852928"/>
            <a:ext cx="182880" cy="0"/>
          </a:xfrm>
          <a:prstGeom prst="line">
            <a:avLst/>
          </a:prstGeom>
          <a:ln w="31750">
            <a:solidFill>
              <a:srgbClr val="0F6B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4876678" y="2852928"/>
            <a:ext cx="182880" cy="0"/>
          </a:xfrm>
          <a:prstGeom prst="line">
            <a:avLst/>
          </a:prstGeom>
          <a:ln w="31750">
            <a:solidFill>
              <a:srgbClr val="0F6B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7132137" y="2852928"/>
            <a:ext cx="182880" cy="0"/>
          </a:xfrm>
          <a:prstGeom prst="line">
            <a:avLst/>
          </a:prstGeom>
          <a:ln w="31750">
            <a:solidFill>
              <a:srgbClr val="0F6B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9387596" y="2852928"/>
            <a:ext cx="182880" cy="0"/>
          </a:xfrm>
          <a:prstGeom prst="line">
            <a:avLst/>
          </a:prstGeom>
          <a:ln w="31750">
            <a:solidFill>
              <a:srgbClr val="0F6B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548640" y="4407408"/>
            <a:ext cx="11094415" cy="1810512"/>
          </a:xfrm>
          <a:prstGeom prst="roundRect">
            <a:avLst>
              <a:gd name="adj" fmla="val 8000"/>
            </a:avLst>
          </a:prstGeom>
          <a:solidFill>
            <a:srgbClr val="ECEAE4"/>
          </a:solidFill>
          <a:ln w="19050">
            <a:solidFill>
              <a:srgbClr val="0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4572000"/>
            <a:ext cx="10545775" cy="384048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0F6B6B"/>
                </a:solidFill>
                <a:latin typeface="Calibri"/>
              </a:rPr>
              <a:t>Orchestration decisions are distributed across participating nodes.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5001768"/>
            <a:ext cx="10545775" cy="384048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ctr"/>
            <a:r>
              <a:rPr sz="2000" b="0" i="0">
                <a:solidFill>
                  <a:srgbClr val="6B6B6B"/>
                </a:solidFill>
                <a:latin typeface="Calibri"/>
              </a:rPr>
              <a:t>No single global scheduler — each node participates in placement collectively.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48695" y="6446520"/>
            <a:ext cx="594360" cy="32004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r"/>
            <a:r>
              <a:rPr sz="1400" b="0" i="0">
                <a:solidFill>
                  <a:srgbClr val="6B6B6B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94415" cy="292608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F6B6B"/>
                </a:solidFill>
                <a:latin typeface="Calibri"/>
              </a:rPr>
              <a:t>FLOCKY  ·  REPORTED EVALUATION RESULTS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0080"/>
            <a:ext cx="1828800" cy="25400"/>
          </a:xfrm>
          <a:prstGeom prst="rect">
            <a:avLst/>
          </a:prstGeom>
          <a:solidFill>
            <a:srgbClr val="0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85800"/>
            <a:ext cx="11094415" cy="77724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alibri"/>
              </a:rPr>
              <a:t>Key Findings from the Paper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81328"/>
            <a:ext cx="11094415" cy="19050"/>
          </a:xfrm>
          <a:prstGeom prst="rect">
            <a:avLst/>
          </a:prstGeom>
          <a:solidFill>
            <a:srgbClr val="CFCB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755648"/>
            <a:ext cx="5364327" cy="137160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ctr"/>
            <a:r>
              <a:rPr sz="7200" b="1" i="0">
                <a:solidFill>
                  <a:srgbClr val="0F6B6B"/>
                </a:solidFill>
                <a:latin typeface="Calibri"/>
              </a:rPr>
              <a:t>&gt;97%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145536"/>
            <a:ext cx="5364327" cy="50292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ctr"/>
            <a:r>
              <a:rPr sz="2000" b="0" i="0">
                <a:solidFill>
                  <a:srgbClr val="1A1A1A"/>
                </a:solidFill>
                <a:latin typeface="Calibri"/>
              </a:rPr>
              <a:t>of viable neighbours discovered
in two discovery rounds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721608"/>
            <a:ext cx="5364327" cy="32004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ctr"/>
            <a:r>
              <a:rPr sz="1400" b="0" i="1">
                <a:solidFill>
                  <a:srgbClr val="6B6B6B"/>
                </a:solidFill>
                <a:latin typeface="Calibri"/>
              </a:rPr>
              <a:t>as reported by the paper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78727" y="1755648"/>
            <a:ext cx="5364327" cy="137160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ctr"/>
            <a:r>
              <a:rPr sz="7200" b="1" i="0">
                <a:solidFill>
                  <a:srgbClr val="0F6B6B"/>
                </a:solidFill>
                <a:latin typeface="Calibri"/>
              </a:rPr>
              <a:t>84%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78727" y="3145536"/>
            <a:ext cx="5364327" cy="50292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ctr"/>
            <a:r>
              <a:rPr sz="2000" b="0" i="0">
                <a:solidFill>
                  <a:srgbClr val="1A1A1A"/>
                </a:solidFill>
                <a:latin typeface="Calibri"/>
              </a:rPr>
              <a:t>less memory than centralized
Kubernetes (reported evaluation)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78727" y="3721608"/>
            <a:ext cx="5364327" cy="32004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ctr"/>
            <a:r>
              <a:rPr sz="1400" b="0" i="1">
                <a:solidFill>
                  <a:srgbClr val="6B6B6B"/>
                </a:solidFill>
                <a:latin typeface="Calibri"/>
              </a:rPr>
              <a:t>as reported by the paper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77559" y="1847088"/>
            <a:ext cx="19050" cy="2651760"/>
          </a:xfrm>
          <a:prstGeom prst="rect">
            <a:avLst/>
          </a:prstGeom>
          <a:solidFill>
            <a:srgbClr val="CFCB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4590288"/>
            <a:ext cx="11094415" cy="1627632"/>
          </a:xfrm>
          <a:prstGeom prst="roundRect">
            <a:avLst>
              <a:gd name="adj" fmla="val 8000"/>
            </a:avLst>
          </a:prstGeom>
          <a:solidFill>
            <a:srgbClr val="ECEAE4"/>
          </a:solidFill>
          <a:ln w="19050">
            <a:solidFill>
              <a:srgbClr val="0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4773168"/>
            <a:ext cx="10545775" cy="384048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F6B6B"/>
                </a:solidFill>
                <a:latin typeface="Calibri"/>
              </a:rPr>
              <a:t>Architectural Contribution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184648"/>
            <a:ext cx="10545775" cy="82296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ctr"/>
            <a:r>
              <a:rPr sz="2200" b="0" i="0">
                <a:solidFill>
                  <a:srgbClr val="1A1A1A"/>
                </a:solidFill>
                <a:latin typeface="Calibri"/>
              </a:rPr>
              <a:t>Flocky demonstrates decentralized edge orchestration without a global controller.
Intent + node metadata + local discovery enables informed placement at scale.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48695" y="6446520"/>
            <a:ext cx="594360" cy="32004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r"/>
            <a:r>
              <a:rPr sz="1400" b="0" i="0">
                <a:solidFill>
                  <a:srgbClr val="6B6B6B"/>
                </a:solidFill>
                <a:latin typeface="Calibri"/>
              </a:rPr>
              <a:t>18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46520"/>
            <a:ext cx="7315200" cy="32004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6B6B6B"/>
                </a:solidFill>
                <a:latin typeface="Calibri"/>
              </a:rPr>
              <a:t>As reported by Goethals et al., IEEE TSC 2026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3657600" cy="228600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11000" b="1" i="0">
                <a:solidFill>
                  <a:srgbClr val="C9772E"/>
                </a:solidFill>
                <a:latin typeface="Calibri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743200"/>
            <a:ext cx="7315200" cy="118872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Calibri"/>
              </a:rPr>
              <a:t>DATOR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977639"/>
            <a:ext cx="8229600" cy="64008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2200" b="0" i="0">
                <a:solidFill>
                  <a:srgbClr val="6B6B6B"/>
                </a:solidFill>
                <a:latin typeface="Calibri"/>
              </a:rPr>
              <a:t>Self-Organized Neural Network Inference in Dynamic Edges</a:t>
            </a:r>
          </a:p>
        </p:txBody>
      </p:sp>
      <p:sp>
        <p:nvSpPr>
          <p:cNvPr id="6" name="Rectangle 5"/>
          <p:cNvSpPr/>
          <p:nvPr/>
        </p:nvSpPr>
        <p:spPr>
          <a:xfrm>
            <a:off x="9235440" y="1463040"/>
            <a:ext cx="365760" cy="365760"/>
          </a:xfrm>
          <a:prstGeom prst="ellipse">
            <a:avLst/>
          </a:prstGeom>
          <a:noFill/>
          <a:ln w="19050">
            <a:solidFill>
              <a:srgbClr val="C977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07040" y="914400"/>
            <a:ext cx="365760" cy="365760"/>
          </a:xfrm>
          <a:prstGeom prst="ellipse">
            <a:avLst/>
          </a:prstGeom>
          <a:noFill/>
          <a:ln w="19050">
            <a:solidFill>
              <a:srgbClr val="C977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247120" y="2194560"/>
            <a:ext cx="365760" cy="365760"/>
          </a:xfrm>
          <a:prstGeom prst="ellipse">
            <a:avLst/>
          </a:prstGeom>
          <a:noFill/>
          <a:ln w="19050">
            <a:solidFill>
              <a:srgbClr val="C977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875520" y="2926080"/>
            <a:ext cx="365760" cy="365760"/>
          </a:xfrm>
          <a:prstGeom prst="ellipse">
            <a:avLst/>
          </a:prstGeom>
          <a:noFill/>
          <a:ln w="19050">
            <a:solidFill>
              <a:srgbClr val="C977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595360" y="2560320"/>
            <a:ext cx="365760" cy="365760"/>
          </a:xfrm>
          <a:prstGeom prst="ellipse">
            <a:avLst/>
          </a:prstGeom>
          <a:noFill/>
          <a:ln w="19050">
            <a:solidFill>
              <a:srgbClr val="C977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064240" y="3931920"/>
            <a:ext cx="365760" cy="365760"/>
          </a:xfrm>
          <a:prstGeom prst="ellipse">
            <a:avLst/>
          </a:prstGeom>
          <a:noFill/>
          <a:ln w="19050">
            <a:solidFill>
              <a:srgbClr val="C977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 flipV="1">
            <a:off x="9418320" y="1097280"/>
            <a:ext cx="1371600" cy="54864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0789920" y="1097280"/>
            <a:ext cx="640080" cy="1280160"/>
          </a:xfrm>
          <a:prstGeom prst="line">
            <a:avLst/>
          </a:prstGeom>
          <a:ln w="9525">
            <a:solidFill>
              <a:srgbClr val="C977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10058400" y="2377440"/>
            <a:ext cx="1371600" cy="731520"/>
          </a:xfrm>
          <a:prstGeom prst="line">
            <a:avLst/>
          </a:prstGeom>
          <a:ln w="9525">
            <a:solidFill>
              <a:srgbClr val="C977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 flipV="1">
            <a:off x="8778240" y="2743200"/>
            <a:ext cx="1280160" cy="36576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8778240" y="1645920"/>
            <a:ext cx="640080" cy="109728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11247120" y="2377440"/>
            <a:ext cx="182880" cy="173736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0058400" y="3108960"/>
            <a:ext cx="1188720" cy="1005840"/>
          </a:xfrm>
          <a:prstGeom prst="line">
            <a:avLst/>
          </a:prstGeom>
          <a:ln w="9525">
            <a:solidFill>
              <a:srgbClr val="C977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1048695" y="6446520"/>
            <a:ext cx="594360" cy="32004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r"/>
            <a:r>
              <a:rPr sz="1400" b="0" i="0">
                <a:solidFill>
                  <a:srgbClr val="6B6B6B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94415" cy="292608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C9772E"/>
                </a:solidFill>
                <a:latin typeface="Calibri"/>
              </a:rPr>
              <a:t>PAPER 3 OF 3  ·  DATOR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0080"/>
            <a:ext cx="1828800" cy="25400"/>
          </a:xfrm>
          <a:prstGeom prst="rect">
            <a:avLst/>
          </a:prstGeom>
          <a:solidFill>
            <a:srgbClr val="C977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85800"/>
            <a:ext cx="11094415" cy="77724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alibri"/>
              </a:rPr>
              <a:t>Self-Organized Neural Network Inference in Dynamic Edge Networks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81328"/>
            <a:ext cx="11094415" cy="19050"/>
          </a:xfrm>
          <a:prstGeom prst="rect">
            <a:avLst/>
          </a:prstGeom>
          <a:solidFill>
            <a:srgbClr val="CFCB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572768"/>
            <a:ext cx="6858000" cy="4645152"/>
          </a:xfrm>
          <a:prstGeom prst="roundRect">
            <a:avLst>
              <a:gd name="adj" fmla="val 8000"/>
            </a:avLst>
          </a:prstGeom>
          <a:solidFill>
            <a:srgbClr val="ECEAE4"/>
          </a:solidFill>
          <a:ln w="12700">
            <a:solidFill>
              <a:srgbClr val="CFCB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572768"/>
            <a:ext cx="64008" cy="4645152"/>
          </a:xfrm>
          <a:prstGeom prst="roundRect">
            <a:avLst>
              <a:gd name="adj" fmla="val 8000"/>
            </a:avLst>
          </a:prstGeom>
          <a:solidFill>
            <a:srgbClr val="C977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8" y="1737360"/>
            <a:ext cx="6428232" cy="36576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C9772E"/>
                </a:solidFill>
                <a:latin typeface="Calibri"/>
              </a:rPr>
              <a:t>Paper Metadata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8" y="2148840"/>
            <a:ext cx="6428232" cy="3904488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2000" b="0">
                <a:solidFill>
                  <a:srgbClr val="6B6B6B"/>
                </a:solidFill>
                <a:latin typeface="Calibri"/>
              </a:rPr>
              <a:t>Authors: M. Schrauth, M. Thome,</a:t>
            </a:r>
          </a:p>
          <a:p>
            <a:pPr algn="l"/>
            <a:r>
              <a:rPr sz="2000" b="0">
                <a:solidFill>
                  <a:srgbClr val="6B6B6B"/>
                </a:solidFill>
                <a:latin typeface="Calibri"/>
              </a:rPr>
              <a:t>   T. Ohlenforst, F. Kreyß</a:t>
            </a:r>
          </a:p>
          <a:p>
            <a:pPr algn="l"/>
            <a:r>
              <a:rPr sz="2000" b="0">
                <a:solidFill>
                  <a:srgbClr val="6B6B6B"/>
                </a:solidFill>
                <a:latin typeface="Calibri"/>
              </a:rPr>
              <a:t>Venue: Applied Sciences</a:t>
            </a:r>
          </a:p>
          <a:p>
            <a:pPr algn="l"/>
            <a:r>
              <a:rPr sz="2000" b="0">
                <a:solidFill>
                  <a:srgbClr val="6B6B6B"/>
                </a:solidFill>
                <a:latin typeface="Calibri"/>
              </a:rPr>
              <a:t>Volume 15, Issue 23, Article 12615, 2025</a:t>
            </a:r>
          </a:p>
          <a:p>
            <a:pPr algn="l"/>
            <a:r>
              <a:rPr sz="2000" b="0">
                <a:solidFill>
                  <a:srgbClr val="6B6B6B"/>
                </a:solidFill>
                <a:latin typeface="Calibri"/>
              </a:rPr>
              <a:t>DOI: 10.3390/app152312615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589520" y="1572768"/>
            <a:ext cx="4053535" cy="4645152"/>
          </a:xfrm>
          <a:prstGeom prst="roundRect">
            <a:avLst>
              <a:gd name="adj" fmla="val 8000"/>
            </a:avLst>
          </a:prstGeom>
          <a:solidFill>
            <a:srgbClr val="C977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0" y="1755648"/>
            <a:ext cx="3687775" cy="82296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ROLE IN
SEMINAR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2670048"/>
            <a:ext cx="3687775" cy="45720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LAYER 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0" y="3172968"/>
            <a:ext cx="3687775" cy="192024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Dynamic
Execution &amp;
Resilience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48695" y="6446520"/>
            <a:ext cx="594360" cy="32004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r"/>
            <a:r>
              <a:rPr sz="1400" b="0" i="0">
                <a:solidFill>
                  <a:srgbClr val="6B6B6B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94415" cy="292608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C9772E"/>
                </a:solidFill>
                <a:latin typeface="Calibri"/>
              </a:rPr>
              <a:t>DATOR  ·  PROBLEM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0080"/>
            <a:ext cx="1828800" cy="25400"/>
          </a:xfrm>
          <a:prstGeom prst="rect">
            <a:avLst/>
          </a:prstGeom>
          <a:solidFill>
            <a:srgbClr val="C977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85800"/>
            <a:ext cx="11094415" cy="77724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alibri"/>
              </a:rPr>
              <a:t>Static Placement Cannot Survive Dynamic Edges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81328"/>
            <a:ext cx="11094415" cy="19050"/>
          </a:xfrm>
          <a:prstGeom prst="rect">
            <a:avLst/>
          </a:prstGeom>
          <a:solidFill>
            <a:srgbClr val="CFCB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572768"/>
            <a:ext cx="5455767" cy="1728216"/>
          </a:xfrm>
          <a:prstGeom prst="roundRect">
            <a:avLst>
              <a:gd name="adj" fmla="val 8000"/>
            </a:avLst>
          </a:prstGeom>
          <a:solidFill>
            <a:srgbClr val="ECEAE4"/>
          </a:solidFill>
          <a:ln w="12700">
            <a:solidFill>
              <a:srgbClr val="CFCB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572768"/>
            <a:ext cx="64008" cy="1728216"/>
          </a:xfrm>
          <a:prstGeom prst="roundRect">
            <a:avLst>
              <a:gd name="adj" fmla="val 8000"/>
            </a:avLst>
          </a:prstGeom>
          <a:solidFill>
            <a:srgbClr val="C977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8" y="1737360"/>
            <a:ext cx="5025999" cy="36576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C9772E"/>
                </a:solidFill>
                <a:latin typeface="Calibri"/>
              </a:rPr>
              <a:t>Node Dropout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8" y="2148840"/>
            <a:ext cx="5025999" cy="987552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2000" b="0">
                <a:solidFill>
                  <a:srgbClr val="6B6B6B"/>
                </a:solidFill>
                <a:latin typeface="Calibri"/>
              </a:rPr>
              <a:t>Nodes disconnect unexpectedly</a:t>
            </a:r>
          </a:p>
          <a:p>
            <a:pPr algn="l"/>
            <a:r>
              <a:rPr sz="2000" b="0">
                <a:solidFill>
                  <a:srgbClr val="6B6B6B"/>
                </a:solidFill>
                <a:latin typeface="Calibri"/>
              </a:rPr>
              <a:t>Inference pipeline breaks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87287" y="1572768"/>
            <a:ext cx="5455767" cy="1728216"/>
          </a:xfrm>
          <a:prstGeom prst="roundRect">
            <a:avLst>
              <a:gd name="adj" fmla="val 8000"/>
            </a:avLst>
          </a:prstGeom>
          <a:solidFill>
            <a:srgbClr val="ECEAE4"/>
          </a:solidFill>
          <a:ln w="12700">
            <a:solidFill>
              <a:srgbClr val="CFCB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87287" y="1572768"/>
            <a:ext cx="64008" cy="1728216"/>
          </a:xfrm>
          <a:prstGeom prst="roundRect">
            <a:avLst>
              <a:gd name="adj" fmla="val 8000"/>
            </a:avLst>
          </a:prstGeom>
          <a:solidFill>
            <a:srgbClr val="C977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34175" y="1737360"/>
            <a:ext cx="5025999" cy="36576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C9772E"/>
                </a:solidFill>
                <a:latin typeface="Calibri"/>
              </a:rPr>
              <a:t>Intermittent Connectivity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34175" y="2148840"/>
            <a:ext cx="5025999" cy="987552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2000" b="0">
                <a:solidFill>
                  <a:srgbClr val="6B6B6B"/>
                </a:solidFill>
                <a:latin typeface="Calibri"/>
              </a:rPr>
              <a:t>Links flicker; packets lost</a:t>
            </a:r>
          </a:p>
          <a:p>
            <a:pPr algn="l"/>
            <a:r>
              <a:rPr sz="2000" b="0">
                <a:solidFill>
                  <a:srgbClr val="6B6B6B"/>
                </a:solidFill>
                <a:latin typeface="Calibri"/>
              </a:rPr>
              <a:t>Transmission times spike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392424"/>
            <a:ext cx="5455767" cy="1728216"/>
          </a:xfrm>
          <a:prstGeom prst="roundRect">
            <a:avLst>
              <a:gd name="adj" fmla="val 8000"/>
            </a:avLst>
          </a:prstGeom>
          <a:solidFill>
            <a:srgbClr val="ECEAE4"/>
          </a:solidFill>
          <a:ln w="12700">
            <a:solidFill>
              <a:srgbClr val="CFCB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3392424"/>
            <a:ext cx="64008" cy="1728216"/>
          </a:xfrm>
          <a:prstGeom prst="roundRect">
            <a:avLst>
              <a:gd name="adj" fmla="val 8000"/>
            </a:avLst>
          </a:prstGeom>
          <a:solidFill>
            <a:srgbClr val="C977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5528" y="3557016"/>
            <a:ext cx="5025999" cy="36576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C9772E"/>
                </a:solidFill>
                <a:latin typeface="Calibri"/>
              </a:rPr>
              <a:t>Heterogeneous Hardware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8" y="3968496"/>
            <a:ext cx="5025999" cy="987552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2000" b="0">
                <a:solidFill>
                  <a:srgbClr val="6B6B6B"/>
                </a:solidFill>
                <a:latin typeface="Calibri"/>
              </a:rPr>
              <a:t>Nodes vary in compute power</a:t>
            </a:r>
          </a:p>
          <a:p>
            <a:pPr algn="l"/>
            <a:r>
              <a:rPr sz="2000" b="0">
                <a:solidFill>
                  <a:srgbClr val="6B6B6B"/>
                </a:solidFill>
                <a:latin typeface="Calibri"/>
              </a:rPr>
              <a:t>One model does not fit all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87287" y="3392424"/>
            <a:ext cx="5455767" cy="1728216"/>
          </a:xfrm>
          <a:prstGeom prst="roundRect">
            <a:avLst>
              <a:gd name="adj" fmla="val 8000"/>
            </a:avLst>
          </a:prstGeom>
          <a:solidFill>
            <a:srgbClr val="ECEAE4"/>
          </a:solidFill>
          <a:ln w="12700">
            <a:solidFill>
              <a:srgbClr val="CFCB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87287" y="3392424"/>
            <a:ext cx="64008" cy="1728216"/>
          </a:xfrm>
          <a:prstGeom prst="roundRect">
            <a:avLst>
              <a:gd name="adj" fmla="val 8000"/>
            </a:avLst>
          </a:prstGeom>
          <a:solidFill>
            <a:srgbClr val="C977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34175" y="3557016"/>
            <a:ext cx="5025999" cy="36576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C9772E"/>
                </a:solidFill>
                <a:latin typeface="Calibri"/>
              </a:rPr>
              <a:t>Changing Workload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34175" y="3968496"/>
            <a:ext cx="5025999" cy="987552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2000" b="0">
                <a:solidFill>
                  <a:srgbClr val="6B6B6B"/>
                </a:solidFill>
                <a:latin typeface="Calibri"/>
              </a:rPr>
              <a:t>Inference demand shifts</a:t>
            </a:r>
          </a:p>
          <a:p>
            <a:pPr algn="l"/>
            <a:r>
              <a:rPr sz="2000" b="0">
                <a:solidFill>
                  <a:srgbClr val="6B6B6B"/>
                </a:solidFill>
                <a:latin typeface="Calibri"/>
              </a:rPr>
              <a:t>Fixed allocation under/over-serves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5212080"/>
            <a:ext cx="11094415" cy="1005840"/>
          </a:xfrm>
          <a:prstGeom prst="roundRect">
            <a:avLst>
              <a:gd name="adj" fmla="val 8000"/>
            </a:avLst>
          </a:prstGeom>
          <a:solidFill>
            <a:srgbClr val="C977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5547360"/>
            <a:ext cx="10545775" cy="91440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Design Goal: maintain distributed inference without a central controller or single point of failure.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48695" y="6446520"/>
            <a:ext cx="594360" cy="32004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r"/>
            <a:r>
              <a:rPr sz="1400" b="0" i="0">
                <a:solidFill>
                  <a:srgbClr val="6B6B6B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94415" cy="292608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C9772E"/>
                </a:solidFill>
                <a:latin typeface="Calibri"/>
              </a:rPr>
              <a:t>DATOR  ·  MULTI-STAGE INFERENCE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0080"/>
            <a:ext cx="1828800" cy="25400"/>
          </a:xfrm>
          <a:prstGeom prst="rect">
            <a:avLst/>
          </a:prstGeom>
          <a:solidFill>
            <a:srgbClr val="C977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85800"/>
            <a:ext cx="11094415" cy="77724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alibri"/>
              </a:rPr>
              <a:t>Splitting the Neural Network Across Edge Nodes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81328"/>
            <a:ext cx="11094415" cy="19050"/>
          </a:xfrm>
          <a:prstGeom prst="rect">
            <a:avLst/>
          </a:prstGeom>
          <a:solidFill>
            <a:srgbClr val="CFCB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29487" y="2075688"/>
            <a:ext cx="1664208" cy="1115568"/>
          </a:xfrm>
          <a:prstGeom prst="roundRect">
            <a:avLst>
              <a:gd name="adj" fmla="val 8000"/>
            </a:avLst>
          </a:prstGeom>
          <a:solidFill>
            <a:srgbClr val="ECEAE4"/>
          </a:solidFill>
          <a:ln w="19050">
            <a:solidFill>
              <a:srgbClr val="CFCB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0927" y="2130552"/>
            <a:ext cx="1481328" cy="100584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alibri"/>
              </a:rPr>
              <a:t>INPUT</a:t>
            </a:r>
          </a:p>
        </p:txBody>
      </p:sp>
      <p:sp>
        <p:nvSpPr>
          <p:cNvPr id="9" name="Rectangle 8"/>
          <p:cNvSpPr/>
          <p:nvPr/>
        </p:nvSpPr>
        <p:spPr>
          <a:xfrm>
            <a:off x="3096615" y="2075688"/>
            <a:ext cx="1664208" cy="1115568"/>
          </a:xfrm>
          <a:prstGeom prst="roundRect">
            <a:avLst>
              <a:gd name="adj" fmla="val 8000"/>
            </a:avLst>
          </a:prstGeom>
          <a:solidFill>
            <a:srgbClr val="C9772E"/>
          </a:solidFill>
          <a:ln w="19050">
            <a:solidFill>
              <a:srgbClr val="C977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88055" y="2130552"/>
            <a:ext cx="1481328" cy="100584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STAGE 1</a:t>
            </a:r>
          </a:p>
          <a:p>
            <a:pPr algn="ctr"/>
            <a:r>
              <a:rPr sz="1400" b="0">
                <a:solidFill>
                  <a:srgbClr val="FFFFFF"/>
                </a:solidFill>
                <a:latin typeface="Calibri"/>
              </a:rPr>
              <a:t>Node 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263743" y="2075688"/>
            <a:ext cx="1664208" cy="1115568"/>
          </a:xfrm>
          <a:prstGeom prst="roundRect">
            <a:avLst>
              <a:gd name="adj" fmla="val 8000"/>
            </a:avLst>
          </a:prstGeom>
          <a:solidFill>
            <a:srgbClr val="C9772E"/>
          </a:solidFill>
          <a:ln w="19050">
            <a:solidFill>
              <a:srgbClr val="C977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55183" y="2130552"/>
            <a:ext cx="1481328" cy="100584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STAGE 2</a:t>
            </a:r>
          </a:p>
          <a:p>
            <a:pPr algn="ctr"/>
            <a:r>
              <a:rPr sz="1400" b="0">
                <a:solidFill>
                  <a:srgbClr val="FFFFFF"/>
                </a:solidFill>
                <a:latin typeface="Calibri"/>
              </a:rPr>
              <a:t>Node B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30871" y="2075688"/>
            <a:ext cx="1664208" cy="1115568"/>
          </a:xfrm>
          <a:prstGeom prst="roundRect">
            <a:avLst>
              <a:gd name="adj" fmla="val 8000"/>
            </a:avLst>
          </a:prstGeom>
          <a:solidFill>
            <a:srgbClr val="C9772E"/>
          </a:solidFill>
          <a:ln w="19050">
            <a:solidFill>
              <a:srgbClr val="C977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22311" y="2130552"/>
            <a:ext cx="1481328" cy="100584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STAGE 3</a:t>
            </a:r>
          </a:p>
          <a:p>
            <a:pPr algn="ctr"/>
            <a:r>
              <a:rPr sz="1400" b="0">
                <a:solidFill>
                  <a:srgbClr val="FFFFFF"/>
                </a:solidFill>
                <a:latin typeface="Calibri"/>
              </a:rPr>
              <a:t>Node C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597999" y="2075688"/>
            <a:ext cx="1664208" cy="1115568"/>
          </a:xfrm>
          <a:prstGeom prst="roundRect">
            <a:avLst>
              <a:gd name="adj" fmla="val 8000"/>
            </a:avLst>
          </a:prstGeom>
          <a:solidFill>
            <a:srgbClr val="ECEAE4"/>
          </a:solidFill>
          <a:ln w="19050">
            <a:solidFill>
              <a:srgbClr val="CFCB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89439" y="2130552"/>
            <a:ext cx="1481328" cy="100584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alibri"/>
              </a:rPr>
              <a:t>OUTPUT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593695" y="2633472"/>
            <a:ext cx="502920" cy="0"/>
          </a:xfrm>
          <a:prstGeom prst="line">
            <a:avLst/>
          </a:prstGeom>
          <a:ln w="31750">
            <a:solidFill>
              <a:srgbClr val="C9772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2433675" y="1755648"/>
            <a:ext cx="822960" cy="27432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6B6B6B"/>
                </a:solidFill>
                <a:latin typeface="Calibri"/>
              </a:rPr>
              <a:t>activation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760823" y="2633472"/>
            <a:ext cx="502920" cy="0"/>
          </a:xfrm>
          <a:prstGeom prst="line">
            <a:avLst/>
          </a:prstGeom>
          <a:ln w="31750">
            <a:solidFill>
              <a:srgbClr val="C9772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600803" y="1755648"/>
            <a:ext cx="822960" cy="27432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6B6B6B"/>
                </a:solidFill>
                <a:latin typeface="Calibri"/>
              </a:rPr>
              <a:t>activation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927951" y="2633472"/>
            <a:ext cx="502920" cy="0"/>
          </a:xfrm>
          <a:prstGeom prst="line">
            <a:avLst/>
          </a:prstGeom>
          <a:ln w="31750">
            <a:solidFill>
              <a:srgbClr val="C9772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767931" y="1755648"/>
            <a:ext cx="822960" cy="27432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6B6B6B"/>
                </a:solidFill>
                <a:latin typeface="Calibri"/>
              </a:rPr>
              <a:t>activation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095079" y="2633472"/>
            <a:ext cx="502920" cy="0"/>
          </a:xfrm>
          <a:prstGeom prst="line">
            <a:avLst/>
          </a:prstGeom>
          <a:ln w="31750">
            <a:solidFill>
              <a:srgbClr val="C9772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8935059" y="1755648"/>
            <a:ext cx="822960" cy="27432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6B6B6B"/>
                </a:solidFill>
                <a:latin typeface="Calibri"/>
              </a:rPr>
              <a:t>activation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3447288"/>
            <a:ext cx="11094415" cy="2770632"/>
          </a:xfrm>
          <a:prstGeom prst="roundRect">
            <a:avLst>
              <a:gd name="adj" fmla="val 8000"/>
            </a:avLst>
          </a:prstGeom>
          <a:solidFill>
            <a:srgbClr val="ECEAE4"/>
          </a:solidFill>
          <a:ln w="12700">
            <a:solidFill>
              <a:srgbClr val="CFCB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8640" y="3447288"/>
            <a:ext cx="64008" cy="2770632"/>
          </a:xfrm>
          <a:prstGeom prst="roundRect">
            <a:avLst>
              <a:gd name="adj" fmla="val 8000"/>
            </a:avLst>
          </a:prstGeom>
          <a:solidFill>
            <a:srgbClr val="C977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5528" y="3611880"/>
            <a:ext cx="10664647" cy="36576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C9772E"/>
                </a:solidFill>
                <a:latin typeface="Calibri"/>
              </a:rPr>
              <a:t>How It Works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5528" y="4023360"/>
            <a:ext cx="10664647" cy="2029968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2000" b="0">
                <a:solidFill>
                  <a:srgbClr val="6B6B6B"/>
                </a:solidFill>
                <a:latin typeface="Calibri"/>
              </a:rPr>
              <a:t>The DNN is partitioned into layer groups (stages).</a:t>
            </a:r>
          </a:p>
          <a:p>
            <a:pPr algn="l"/>
            <a:r>
              <a:rPr sz="2000" b="0">
                <a:solidFill>
                  <a:srgbClr val="6B6B6B"/>
                </a:solidFill>
                <a:latin typeface="Calibri"/>
              </a:rPr>
              <a:t>Each stage maps to a suitable edge node.</a:t>
            </a:r>
          </a:p>
          <a:p>
            <a:pPr algn="l"/>
            <a:r>
              <a:rPr sz="2000" b="0">
                <a:solidFill>
                  <a:srgbClr val="6B6B6B"/>
                </a:solidFill>
                <a:latin typeface="Calibri"/>
              </a:rPr>
              <a:t>Intermediate activations flow between nodes.</a:t>
            </a:r>
          </a:p>
          <a:p>
            <a:pPr algn="l"/>
            <a:r>
              <a:rPr sz="2000" b="0">
                <a:solidFill>
                  <a:srgbClr val="6B6B6B"/>
                </a:solidFill>
                <a:latin typeface="Calibri"/>
              </a:rPr>
              <a:t>If a node fails — the system finds an alternate path.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48695" y="6446520"/>
            <a:ext cx="594360" cy="32004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r"/>
            <a:r>
              <a:rPr sz="1400" b="0" i="0">
                <a:solidFill>
                  <a:srgbClr val="6B6B6B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94415" cy="292608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C9772E"/>
                </a:solidFill>
                <a:latin typeface="Calibri"/>
              </a:rPr>
              <a:t>DATOR  ·  LOCAL ORCHESTRATION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0080"/>
            <a:ext cx="1828800" cy="25400"/>
          </a:xfrm>
          <a:prstGeom prst="rect">
            <a:avLst/>
          </a:prstGeom>
          <a:solidFill>
            <a:srgbClr val="C977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85800"/>
            <a:ext cx="11094415" cy="77724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alibri"/>
              </a:rPr>
              <a:t>Work Assignment Without Central Control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81328"/>
            <a:ext cx="11094415" cy="19050"/>
          </a:xfrm>
          <a:prstGeom prst="rect">
            <a:avLst/>
          </a:prstGeom>
          <a:solidFill>
            <a:srgbClr val="CFCB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572768"/>
            <a:ext cx="5303520" cy="713232"/>
          </a:xfrm>
          <a:prstGeom prst="roundRect">
            <a:avLst>
              <a:gd name="adj" fmla="val 8000"/>
            </a:avLst>
          </a:prstGeom>
          <a:solidFill>
            <a:srgbClr val="ECEAE4"/>
          </a:solidFill>
          <a:ln w="19050">
            <a:solidFill>
              <a:srgbClr val="CFCB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627632"/>
            <a:ext cx="5120640" cy="603504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A1A1A"/>
                </a:solidFill>
                <a:latin typeface="Calibri"/>
              </a:rPr>
              <a:t>New Work Package</a:t>
            </a:r>
          </a:p>
          <a:p>
            <a:pPr algn="ctr"/>
            <a:r>
              <a:rPr sz="1400" b="0">
                <a:solidFill>
                  <a:srgbClr val="1A1A1A"/>
                </a:solidFill>
                <a:latin typeface="Calibri"/>
              </a:rPr>
              <a:t>Inference stage needs assignment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377440"/>
            <a:ext cx="5303520" cy="713232"/>
          </a:xfrm>
          <a:prstGeom prst="roundRect">
            <a:avLst>
              <a:gd name="adj" fmla="val 8000"/>
            </a:avLst>
          </a:prstGeom>
          <a:solidFill>
            <a:srgbClr val="ECEAE4"/>
          </a:solidFill>
          <a:ln w="19050">
            <a:solidFill>
              <a:srgbClr val="CFCB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432304"/>
            <a:ext cx="5120640" cy="603504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A1A1A"/>
                </a:solidFill>
                <a:latin typeface="Calibri"/>
              </a:rPr>
              <a:t>Broadcast Request</a:t>
            </a:r>
          </a:p>
          <a:p>
            <a:pPr algn="ctr"/>
            <a:r>
              <a:rPr sz="1400" b="0">
                <a:solidFill>
                  <a:srgbClr val="1A1A1A"/>
                </a:solidFill>
                <a:latin typeface="Calibri"/>
              </a:rPr>
              <a:t>Current node announces task to neighbours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182112"/>
            <a:ext cx="5303520" cy="713232"/>
          </a:xfrm>
          <a:prstGeom prst="roundRect">
            <a:avLst>
              <a:gd name="adj" fmla="val 8000"/>
            </a:avLst>
          </a:prstGeom>
          <a:solidFill>
            <a:srgbClr val="ECEAE4"/>
          </a:solidFill>
          <a:ln w="19050">
            <a:solidFill>
              <a:srgbClr val="CFCB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236976"/>
            <a:ext cx="5120640" cy="603504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A1A1A"/>
                </a:solidFill>
                <a:latin typeface="Calibri"/>
              </a:rPr>
              <a:t>Eligible Nodes Respond</a:t>
            </a:r>
          </a:p>
          <a:p>
            <a:pPr algn="ctr"/>
            <a:r>
              <a:rPr sz="1400" b="0">
                <a:solidFill>
                  <a:srgbClr val="1A1A1A"/>
                </a:solidFill>
                <a:latin typeface="Calibri"/>
              </a:rPr>
              <a:t>Nodes with capacity + module reply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986784"/>
            <a:ext cx="5303520" cy="713232"/>
          </a:xfrm>
          <a:prstGeom prst="roundRect">
            <a:avLst>
              <a:gd name="adj" fmla="val 8000"/>
            </a:avLst>
          </a:prstGeom>
          <a:solidFill>
            <a:srgbClr val="ECEAE4"/>
          </a:solidFill>
          <a:ln w="19050">
            <a:solidFill>
              <a:srgbClr val="CFCB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4041648"/>
            <a:ext cx="5120640" cy="603504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A1A1A"/>
                </a:solidFill>
                <a:latin typeface="Calibri"/>
              </a:rPr>
              <a:t>Node Accepts</a:t>
            </a:r>
          </a:p>
          <a:p>
            <a:pPr algn="ctr"/>
            <a:r>
              <a:rPr sz="1400" b="0">
                <a:solidFill>
                  <a:srgbClr val="1A1A1A"/>
                </a:solidFill>
                <a:latin typeface="Calibri"/>
              </a:rPr>
              <a:t>Best candidate dispatched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791456"/>
            <a:ext cx="5303520" cy="713232"/>
          </a:xfrm>
          <a:prstGeom prst="roundRect">
            <a:avLst>
              <a:gd name="adj" fmla="val 8000"/>
            </a:avLst>
          </a:prstGeom>
          <a:solidFill>
            <a:srgbClr val="ECEAE4"/>
          </a:solidFill>
          <a:ln w="19050">
            <a:solidFill>
              <a:srgbClr val="CFCB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846320"/>
            <a:ext cx="5120640" cy="603504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A1A1A"/>
                </a:solidFill>
                <a:latin typeface="Calibri"/>
              </a:rPr>
              <a:t>Stage Executes</a:t>
            </a:r>
          </a:p>
          <a:p>
            <a:pPr algn="ctr"/>
            <a:r>
              <a:rPr sz="1400" b="0">
                <a:solidFill>
                  <a:srgbClr val="1A1A1A"/>
                </a:solidFill>
                <a:latin typeface="Calibri"/>
              </a:rPr>
              <a:t>Result forwarded to next stage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200400" y="2286000"/>
            <a:ext cx="0" cy="91440"/>
          </a:xfrm>
          <a:prstGeom prst="line">
            <a:avLst/>
          </a:prstGeom>
          <a:ln w="25400">
            <a:solidFill>
              <a:srgbClr val="C9772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3200400" y="3090672"/>
            <a:ext cx="0" cy="91440"/>
          </a:xfrm>
          <a:prstGeom prst="line">
            <a:avLst/>
          </a:prstGeom>
          <a:ln w="25400">
            <a:solidFill>
              <a:srgbClr val="C9772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3200400" y="3895344"/>
            <a:ext cx="0" cy="91440"/>
          </a:xfrm>
          <a:prstGeom prst="line">
            <a:avLst/>
          </a:prstGeom>
          <a:ln w="25400">
            <a:solidFill>
              <a:srgbClr val="C9772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3200400" y="4700016"/>
            <a:ext cx="0" cy="91440"/>
          </a:xfrm>
          <a:prstGeom prst="line">
            <a:avLst/>
          </a:prstGeom>
          <a:ln w="25400">
            <a:solidFill>
              <a:srgbClr val="C9772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263640" y="1572768"/>
            <a:ext cx="5379415" cy="347472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C9772E"/>
                </a:solidFill>
                <a:latin typeface="Calibri"/>
              </a:rPr>
              <a:t>NODE DECISION CRITERIA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63640" y="1984248"/>
            <a:ext cx="5379415" cy="777240"/>
          </a:xfrm>
          <a:prstGeom prst="roundRect">
            <a:avLst>
              <a:gd name="adj" fmla="val 6000"/>
            </a:avLst>
          </a:prstGeom>
          <a:solidFill>
            <a:srgbClr val="ECEAE4"/>
          </a:solidFill>
          <a:ln w="12700">
            <a:solidFill>
              <a:srgbClr val="CFCB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2029968"/>
            <a:ext cx="5105095" cy="32004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C9772E"/>
                </a:solidFill>
                <a:latin typeface="Calibri"/>
              </a:rPr>
              <a:t>Module present?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2331720"/>
            <a:ext cx="5105095" cy="32004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6B6B6B"/>
                </a:solidFill>
                <a:latin typeface="Calibri"/>
              </a:rPr>
              <a:t>Does node hold the needed layer group?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63640" y="2852928"/>
            <a:ext cx="5379415" cy="777240"/>
          </a:xfrm>
          <a:prstGeom prst="roundRect">
            <a:avLst>
              <a:gd name="adj" fmla="val 6000"/>
            </a:avLst>
          </a:prstGeom>
          <a:solidFill>
            <a:srgbClr val="ECEAE4"/>
          </a:solidFill>
          <a:ln w="12700">
            <a:solidFill>
              <a:srgbClr val="CFCB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2898648"/>
            <a:ext cx="5105095" cy="32004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C9772E"/>
                </a:solidFill>
                <a:latin typeface="Calibri"/>
              </a:rPr>
              <a:t>Utilization OK?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3200400"/>
            <a:ext cx="5105095" cy="32004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6B6B6B"/>
                </a:solidFill>
                <a:latin typeface="Calibri"/>
              </a:rPr>
              <a:t>Load within acceptance threshold?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63640" y="3721608"/>
            <a:ext cx="5379415" cy="777240"/>
          </a:xfrm>
          <a:prstGeom prst="roundRect">
            <a:avLst>
              <a:gd name="adj" fmla="val 6000"/>
            </a:avLst>
          </a:prstGeom>
          <a:solidFill>
            <a:srgbClr val="ECEAE4"/>
          </a:solidFill>
          <a:ln w="12700">
            <a:solidFill>
              <a:srgbClr val="CFCB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3767328"/>
            <a:ext cx="5105095" cy="32004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C9772E"/>
                </a:solidFill>
                <a:latin typeface="Calibri"/>
              </a:rPr>
              <a:t>Hardware capable?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4069080"/>
            <a:ext cx="5105095" cy="32004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6B6B6B"/>
                </a:solidFill>
                <a:latin typeface="Calibri"/>
              </a:rPr>
              <a:t>Can execute stage efficiently?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63640" y="4681728"/>
            <a:ext cx="5379415" cy="19050"/>
          </a:xfrm>
          <a:prstGeom prst="rect">
            <a:avLst/>
          </a:prstGeom>
          <a:solidFill>
            <a:srgbClr val="CFCB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63640" y="4818888"/>
            <a:ext cx="5379415" cy="347472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1A1A1A"/>
                </a:solidFill>
                <a:latin typeface="Calibri"/>
              </a:rPr>
              <a:t>Weighted-auction factors: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63640" y="5184648"/>
            <a:ext cx="5379415" cy="73152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2000" b="0" i="0">
                <a:solidFill>
                  <a:srgbClr val="6B6B6B"/>
                </a:solidFill>
                <a:latin typeface="Calibri"/>
              </a:rPr>
              <a:t>Capability · Latency · Energy · Utilization
(Contract Net Protocol concepts)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048695" y="6446520"/>
            <a:ext cx="594360" cy="32004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r"/>
            <a:r>
              <a:rPr sz="1400" b="0" i="0">
                <a:solidFill>
                  <a:srgbClr val="6B6B6B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94415" cy="292608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C9772E"/>
                </a:solidFill>
                <a:latin typeface="Calibri"/>
              </a:rPr>
              <a:t>DATOR  ·  DYNAMIC REROUTING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0080"/>
            <a:ext cx="1828800" cy="25400"/>
          </a:xfrm>
          <a:prstGeom prst="rect">
            <a:avLst/>
          </a:prstGeom>
          <a:solidFill>
            <a:srgbClr val="C977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85800"/>
            <a:ext cx="11094415" cy="77724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alibri"/>
              </a:rPr>
              <a:t>Inference Continues Despite Node Failures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81328"/>
            <a:ext cx="11094415" cy="19050"/>
          </a:xfrm>
          <a:prstGeom prst="rect">
            <a:avLst/>
          </a:prstGeom>
          <a:solidFill>
            <a:srgbClr val="CFCB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572768"/>
            <a:ext cx="1325880" cy="1115568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F6B6B"/>
                </a:solidFill>
                <a:latin typeface="Calibri"/>
              </a:rPr>
              <a:t>Normal
A → B → 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798064"/>
            <a:ext cx="1325880" cy="1115568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B04A4A"/>
                </a:solidFill>
                <a:latin typeface="Calibri"/>
              </a:rPr>
              <a:t>Failure
B unavailable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023360"/>
            <a:ext cx="1325880" cy="1115568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C9772E"/>
                </a:solidFill>
                <a:latin typeface="Calibri"/>
              </a:rPr>
              <a:t>Recovery
A → D → C</a:t>
            </a:r>
          </a:p>
        </p:txBody>
      </p:sp>
      <p:sp>
        <p:nvSpPr>
          <p:cNvPr id="10" name="Rectangle 9"/>
          <p:cNvSpPr/>
          <p:nvPr/>
        </p:nvSpPr>
        <p:spPr>
          <a:xfrm>
            <a:off x="1965960" y="1650492"/>
            <a:ext cx="1737360" cy="960120"/>
          </a:xfrm>
          <a:prstGeom prst="roundRect">
            <a:avLst>
              <a:gd name="adj" fmla="val 8000"/>
            </a:avLst>
          </a:prstGeom>
          <a:solidFill>
            <a:srgbClr val="0F6B6B"/>
          </a:solidFill>
          <a:ln w="19050">
            <a:solidFill>
              <a:srgbClr val="0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57400" y="1705356"/>
            <a:ext cx="1554480" cy="850392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800600" y="1650492"/>
            <a:ext cx="1737360" cy="960120"/>
          </a:xfrm>
          <a:prstGeom prst="roundRect">
            <a:avLst>
              <a:gd name="adj" fmla="val 8000"/>
            </a:avLst>
          </a:prstGeom>
          <a:solidFill>
            <a:srgbClr val="0F6B6B"/>
          </a:solidFill>
          <a:ln w="19050">
            <a:solidFill>
              <a:srgbClr val="0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92040" y="1705356"/>
            <a:ext cx="1554480" cy="850392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635240" y="1650492"/>
            <a:ext cx="1737360" cy="960120"/>
          </a:xfrm>
          <a:prstGeom prst="roundRect">
            <a:avLst>
              <a:gd name="adj" fmla="val 8000"/>
            </a:avLst>
          </a:prstGeom>
          <a:solidFill>
            <a:srgbClr val="0F6B6B"/>
          </a:solidFill>
          <a:ln w="19050">
            <a:solidFill>
              <a:srgbClr val="0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26680" y="1705356"/>
            <a:ext cx="1554480" cy="850392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703320" y="2130552"/>
            <a:ext cx="1097280" cy="0"/>
          </a:xfrm>
          <a:prstGeom prst="line">
            <a:avLst/>
          </a:prstGeom>
          <a:ln w="31750">
            <a:solidFill>
              <a:srgbClr val="0F6B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6537960" y="2130552"/>
            <a:ext cx="1097280" cy="0"/>
          </a:xfrm>
          <a:prstGeom prst="line">
            <a:avLst/>
          </a:prstGeom>
          <a:ln w="31750">
            <a:solidFill>
              <a:srgbClr val="0F6B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1965960" y="2875788"/>
            <a:ext cx="1737360" cy="960120"/>
          </a:xfrm>
          <a:prstGeom prst="roundRect">
            <a:avLst>
              <a:gd name="adj" fmla="val 8000"/>
            </a:avLst>
          </a:prstGeom>
          <a:solidFill>
            <a:srgbClr val="ECEAE4"/>
          </a:solidFill>
          <a:ln w="19050">
            <a:solidFill>
              <a:srgbClr val="CFCB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057400" y="2930652"/>
            <a:ext cx="1554480" cy="850392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alibri"/>
              </a:rPr>
              <a:t>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800600" y="2875788"/>
            <a:ext cx="1737360" cy="960120"/>
          </a:xfrm>
          <a:prstGeom prst="roundRect">
            <a:avLst>
              <a:gd name="adj" fmla="val 8000"/>
            </a:avLst>
          </a:prstGeom>
          <a:solidFill>
            <a:srgbClr val="B04A4A"/>
          </a:solidFill>
          <a:ln w="19050">
            <a:solidFill>
              <a:srgbClr val="B0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92040" y="2930652"/>
            <a:ext cx="1554480" cy="850392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B  ✕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635240" y="2875788"/>
            <a:ext cx="1737360" cy="960120"/>
          </a:xfrm>
          <a:prstGeom prst="roundRect">
            <a:avLst>
              <a:gd name="adj" fmla="val 8000"/>
            </a:avLst>
          </a:prstGeom>
          <a:solidFill>
            <a:srgbClr val="ECEAE4"/>
          </a:solidFill>
          <a:ln w="19050">
            <a:solidFill>
              <a:srgbClr val="CFCB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26680" y="2930652"/>
            <a:ext cx="1554480" cy="850392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alibri"/>
              </a:rPr>
              <a:t>C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3703320" y="3355848"/>
            <a:ext cx="1097280" cy="0"/>
          </a:xfrm>
          <a:prstGeom prst="line">
            <a:avLst/>
          </a:prstGeom>
          <a:ln w="31750">
            <a:solidFill>
              <a:srgbClr val="B04A4A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6537960" y="3355848"/>
            <a:ext cx="1097280" cy="0"/>
          </a:xfrm>
          <a:prstGeom prst="line">
            <a:avLst/>
          </a:prstGeom>
          <a:ln w="19050">
            <a:solidFill>
              <a:srgbClr val="B04A4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1965960" y="4101084"/>
            <a:ext cx="1737360" cy="960120"/>
          </a:xfrm>
          <a:prstGeom prst="roundRect">
            <a:avLst>
              <a:gd name="adj" fmla="val 8000"/>
            </a:avLst>
          </a:prstGeom>
          <a:solidFill>
            <a:srgbClr val="ECEAE4"/>
          </a:solidFill>
          <a:ln w="19050">
            <a:solidFill>
              <a:srgbClr val="CFCB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057400" y="4155948"/>
            <a:ext cx="1554480" cy="850392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alibri"/>
              </a:rPr>
              <a:t>A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800600" y="4101084"/>
            <a:ext cx="1737360" cy="960120"/>
          </a:xfrm>
          <a:prstGeom prst="roundRect">
            <a:avLst>
              <a:gd name="adj" fmla="val 8000"/>
            </a:avLst>
          </a:prstGeom>
          <a:solidFill>
            <a:srgbClr val="C9772E"/>
          </a:solidFill>
          <a:ln w="19050">
            <a:solidFill>
              <a:srgbClr val="C977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892040" y="4155948"/>
            <a:ext cx="1554480" cy="850392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635240" y="4101084"/>
            <a:ext cx="1737360" cy="960120"/>
          </a:xfrm>
          <a:prstGeom prst="roundRect">
            <a:avLst>
              <a:gd name="adj" fmla="val 8000"/>
            </a:avLst>
          </a:prstGeom>
          <a:solidFill>
            <a:srgbClr val="ECEAE4"/>
          </a:solidFill>
          <a:ln w="19050">
            <a:solidFill>
              <a:srgbClr val="CFCB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26680" y="4155948"/>
            <a:ext cx="1554480" cy="850392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alibri"/>
              </a:rPr>
              <a:t>C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3703320" y="4581144"/>
            <a:ext cx="1097280" cy="0"/>
          </a:xfrm>
          <a:prstGeom prst="line">
            <a:avLst/>
          </a:prstGeom>
          <a:ln w="31750">
            <a:solidFill>
              <a:srgbClr val="C9772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6537960" y="4581144"/>
            <a:ext cx="1097280" cy="0"/>
          </a:xfrm>
          <a:prstGeom prst="line">
            <a:avLst/>
          </a:prstGeom>
          <a:ln w="31750">
            <a:solidFill>
              <a:srgbClr val="C9772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548640" y="5385816"/>
            <a:ext cx="11094415" cy="36576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C9772E"/>
                </a:solidFill>
                <a:latin typeface="Calibri"/>
              </a:rPr>
              <a:t>Fault handling is integrated into the inference path — no centralized recovery controller.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048695" y="6446520"/>
            <a:ext cx="594360" cy="32004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r"/>
            <a:r>
              <a:rPr sz="1400" b="0" i="0">
                <a:solidFill>
                  <a:srgbClr val="6B6B6B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94415" cy="292608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C9772E"/>
                </a:solidFill>
                <a:latin typeface="Calibri"/>
              </a:rPr>
              <a:t>DATOR  ·  EVALUATION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0080"/>
            <a:ext cx="1828800" cy="25400"/>
          </a:xfrm>
          <a:prstGeom prst="rect">
            <a:avLst/>
          </a:prstGeom>
          <a:solidFill>
            <a:srgbClr val="C977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85800"/>
            <a:ext cx="11094415" cy="77724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alibri"/>
              </a:rPr>
              <a:t>Performance Across Network Conditions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81328"/>
            <a:ext cx="11094415" cy="19050"/>
          </a:xfrm>
          <a:prstGeom prst="rect">
            <a:avLst/>
          </a:prstGeom>
          <a:solidFill>
            <a:srgbClr val="CFCB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572768"/>
            <a:ext cx="2636443" cy="1874519"/>
          </a:xfrm>
          <a:prstGeom prst="roundRect">
            <a:avLst>
              <a:gd name="adj" fmla="val 8000"/>
            </a:avLst>
          </a:prstGeom>
          <a:solidFill>
            <a:srgbClr val="ECEAE4"/>
          </a:solidFill>
          <a:ln w="12700">
            <a:solidFill>
              <a:srgbClr val="CFCB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572768"/>
            <a:ext cx="64008" cy="1874519"/>
          </a:xfrm>
          <a:prstGeom prst="roundRect">
            <a:avLst>
              <a:gd name="adj" fmla="val 8000"/>
            </a:avLst>
          </a:prstGeom>
          <a:solidFill>
            <a:srgbClr val="C977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8" y="1737360"/>
            <a:ext cx="2206675" cy="36576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C9772E"/>
                </a:solidFill>
                <a:latin typeface="Calibri"/>
              </a:rPr>
              <a:t>Stable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8" y="2148840"/>
            <a:ext cx="2206675" cy="1133855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2000" b="0">
                <a:solidFill>
                  <a:srgbClr val="6B6B6B"/>
                </a:solidFill>
                <a:latin typeface="Calibri"/>
              </a:rPr>
              <a:t>No node failures</a:t>
            </a:r>
          </a:p>
          <a:p>
            <a:pPr algn="l"/>
            <a:r>
              <a:rPr sz="2000" b="0">
                <a:solidFill>
                  <a:srgbClr val="6B6B6B"/>
                </a:solidFill>
                <a:latin typeface="Calibri"/>
              </a:rPr>
              <a:t>Baseline performance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67963" y="1572768"/>
            <a:ext cx="2636443" cy="1874519"/>
          </a:xfrm>
          <a:prstGeom prst="roundRect">
            <a:avLst>
              <a:gd name="adj" fmla="val 8000"/>
            </a:avLst>
          </a:prstGeom>
          <a:solidFill>
            <a:srgbClr val="ECEAE4"/>
          </a:solidFill>
          <a:ln w="12700">
            <a:solidFill>
              <a:srgbClr val="CFCB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67963" y="1572768"/>
            <a:ext cx="64008" cy="1874519"/>
          </a:xfrm>
          <a:prstGeom prst="roundRect">
            <a:avLst>
              <a:gd name="adj" fmla="val 8000"/>
            </a:avLst>
          </a:prstGeom>
          <a:solidFill>
            <a:srgbClr val="C977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14851" y="1737360"/>
            <a:ext cx="2206675" cy="36576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C9772E"/>
                </a:solidFill>
                <a:latin typeface="Calibri"/>
              </a:rPr>
              <a:t>Unstable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14851" y="2148840"/>
            <a:ext cx="2206675" cy="1133855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2000" b="0">
                <a:solidFill>
                  <a:srgbClr val="6B6B6B"/>
                </a:solidFill>
                <a:latin typeface="Calibri"/>
              </a:rPr>
              <a:t>Intermittent node failures</a:t>
            </a:r>
          </a:p>
          <a:p>
            <a:pPr algn="l"/>
            <a:r>
              <a:rPr sz="2000" b="0">
                <a:solidFill>
                  <a:srgbClr val="6B6B6B"/>
                </a:solidFill>
                <a:latin typeface="Calibri"/>
              </a:rPr>
              <a:t>System continues via rerouting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87287" y="1572768"/>
            <a:ext cx="2636443" cy="1874519"/>
          </a:xfrm>
          <a:prstGeom prst="roundRect">
            <a:avLst>
              <a:gd name="adj" fmla="val 8000"/>
            </a:avLst>
          </a:prstGeom>
          <a:solidFill>
            <a:srgbClr val="ECEAE4"/>
          </a:solidFill>
          <a:ln w="12700">
            <a:solidFill>
              <a:srgbClr val="CFCB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87287" y="1572768"/>
            <a:ext cx="64008" cy="1874519"/>
          </a:xfrm>
          <a:prstGeom prst="roundRect">
            <a:avLst>
              <a:gd name="adj" fmla="val 8000"/>
            </a:avLst>
          </a:prstGeom>
          <a:solidFill>
            <a:srgbClr val="C977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34175" y="1737360"/>
            <a:ext cx="2206675" cy="36576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C9772E"/>
                </a:solidFill>
                <a:latin typeface="Calibri"/>
              </a:rPr>
              <a:t>Impaired Comm.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34175" y="2148840"/>
            <a:ext cx="2206675" cy="1133855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2000" b="0">
                <a:solidFill>
                  <a:srgbClr val="6B6B6B"/>
                </a:solidFill>
                <a:latin typeface="Calibri"/>
              </a:rPr>
              <a:t>5% message loss</a:t>
            </a:r>
          </a:p>
          <a:p>
            <a:pPr algn="l"/>
            <a:r>
              <a:rPr sz="2000" b="0">
                <a:solidFill>
                  <a:srgbClr val="6B6B6B"/>
                </a:solidFill>
                <a:latin typeface="Calibri"/>
              </a:rPr>
              <a:t>Reduced throughput, stable ops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06611" y="1572768"/>
            <a:ext cx="2636443" cy="1874519"/>
          </a:xfrm>
          <a:prstGeom prst="roundRect">
            <a:avLst>
              <a:gd name="adj" fmla="val 8000"/>
            </a:avLst>
          </a:prstGeom>
          <a:solidFill>
            <a:srgbClr val="ECEAE4"/>
          </a:solidFill>
          <a:ln w="12700">
            <a:solidFill>
              <a:srgbClr val="CFCB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006611" y="1572768"/>
            <a:ext cx="64008" cy="1874519"/>
          </a:xfrm>
          <a:prstGeom prst="roundRect">
            <a:avLst>
              <a:gd name="adj" fmla="val 8000"/>
            </a:avLst>
          </a:prstGeom>
          <a:solidFill>
            <a:srgbClr val="B0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53499" y="1737360"/>
            <a:ext cx="2206675" cy="36576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B04A4A"/>
                </a:solidFill>
                <a:latin typeface="Calibri"/>
              </a:rPr>
              <a:t>Severe Comm.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53499" y="2148840"/>
            <a:ext cx="2206675" cy="1133855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2000" b="0">
                <a:solidFill>
                  <a:srgbClr val="6B6B6B"/>
                </a:solidFill>
                <a:latin typeface="Calibri"/>
              </a:rPr>
              <a:t>~10× longer transmissions</a:t>
            </a:r>
          </a:p>
          <a:p>
            <a:pPr algn="l"/>
            <a:r>
              <a:rPr sz="2000" b="0">
                <a:solidFill>
                  <a:srgbClr val="6B6B6B"/>
                </a:solidFill>
                <a:latin typeface="Calibri"/>
              </a:rPr>
              <a:t>System approaches saturation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3584447"/>
            <a:ext cx="11094415" cy="2633473"/>
          </a:xfrm>
          <a:prstGeom prst="roundRect">
            <a:avLst>
              <a:gd name="adj" fmla="val 8000"/>
            </a:avLst>
          </a:prstGeom>
          <a:solidFill>
            <a:srgbClr val="ECEAE4"/>
          </a:solidFill>
          <a:ln w="19050">
            <a:solidFill>
              <a:srgbClr val="C977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3694175"/>
            <a:ext cx="10545775" cy="32004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C9772E"/>
                </a:solidFill>
                <a:latin typeface="Calibri"/>
              </a:rPr>
              <a:t>General Performance Pattern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" y="4023359"/>
            <a:ext cx="54864" cy="384048"/>
          </a:xfrm>
          <a:prstGeom prst="rect">
            <a:avLst/>
          </a:prstGeom>
          <a:solidFill>
            <a:srgbClr val="0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5840" y="4023359"/>
            <a:ext cx="2286000" cy="384048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F6B6B"/>
                </a:solidFill>
                <a:latin typeface="Calibri"/>
              </a:rPr>
              <a:t>Low load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74720" y="4023359"/>
            <a:ext cx="7772400" cy="384048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2000" b="0" i="0">
                <a:solidFill>
                  <a:srgbClr val="6B6B6B"/>
                </a:solidFill>
                <a:latin typeface="Calibri"/>
              </a:rPr>
              <a:t>Latency remains relatively low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2960" y="4526279"/>
            <a:ext cx="54864" cy="384048"/>
          </a:xfrm>
          <a:prstGeom prst="rect">
            <a:avLst/>
          </a:prstGeom>
          <a:solidFill>
            <a:srgbClr val="C977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5840" y="4526279"/>
            <a:ext cx="2286000" cy="384048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C9772E"/>
                </a:solidFill>
                <a:latin typeface="Calibri"/>
              </a:rPr>
              <a:t>Increasing load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74720" y="4526279"/>
            <a:ext cx="7772400" cy="384048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2000" b="0" i="0">
                <a:solidFill>
                  <a:srgbClr val="6B6B6B"/>
                </a:solidFill>
                <a:latin typeface="Calibri"/>
              </a:rPr>
              <a:t>More nodes join distributed execution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5029199"/>
            <a:ext cx="54864" cy="384048"/>
          </a:xfrm>
          <a:prstGeom prst="rect">
            <a:avLst/>
          </a:prstGeom>
          <a:solidFill>
            <a:srgbClr val="B0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5840" y="5029199"/>
            <a:ext cx="2286000" cy="384048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B04A4A"/>
                </a:solidFill>
                <a:latin typeface="Calibri"/>
              </a:rPr>
              <a:t>Near saturation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74720" y="5029199"/>
            <a:ext cx="7772400" cy="384048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2000" b="0" i="0">
                <a:solidFill>
                  <a:srgbClr val="6B6B6B"/>
                </a:solidFill>
                <a:latin typeface="Calibri"/>
              </a:rPr>
              <a:t>Throughput &amp; latency approach capacity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" y="5577839"/>
            <a:ext cx="10545775" cy="384048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1A1A1A"/>
                </a:solidFill>
                <a:latin typeface="Calibri"/>
              </a:rPr>
              <a:t>Designed to maintain operation even when not all nodes and links are permanently available.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048695" y="6446520"/>
            <a:ext cx="594360" cy="32004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r"/>
            <a:r>
              <a:rPr sz="1400" b="0" i="0">
                <a:solidFill>
                  <a:srgbClr val="6B6B6B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94415" cy="292608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6B6B6B"/>
                </a:solidFill>
                <a:latin typeface="Calibri"/>
              </a:rPr>
              <a:t>COMPARATIVE ANALYSIS  ·  1 OF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94415" cy="77724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alibri"/>
              </a:rPr>
              <a:t>Main Question &amp; Method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81328"/>
            <a:ext cx="11094415" cy="19050"/>
          </a:xfrm>
          <a:prstGeom prst="rect">
            <a:avLst/>
          </a:prstGeom>
          <a:solidFill>
            <a:srgbClr val="CFCB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017520" y="1572768"/>
            <a:ext cx="2814218" cy="566928"/>
          </a:xfrm>
          <a:prstGeom prst="roundRect">
            <a:avLst>
              <a:gd name="adj" fmla="val 6000"/>
            </a:avLst>
          </a:prstGeom>
          <a:solidFill>
            <a:srgbClr val="1F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17520" y="1572768"/>
            <a:ext cx="2814218" cy="566928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ASET</a:t>
            </a:r>
          </a:p>
        </p:txBody>
      </p:sp>
      <p:sp>
        <p:nvSpPr>
          <p:cNvPr id="8" name="Rectangle 7"/>
          <p:cNvSpPr/>
          <p:nvPr/>
        </p:nvSpPr>
        <p:spPr>
          <a:xfrm>
            <a:off x="5923178" y="1572768"/>
            <a:ext cx="2814218" cy="566928"/>
          </a:xfrm>
          <a:prstGeom prst="roundRect">
            <a:avLst>
              <a:gd name="adj" fmla="val 6000"/>
            </a:avLst>
          </a:prstGeom>
          <a:solidFill>
            <a:srgbClr val="0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23178" y="1572768"/>
            <a:ext cx="2814218" cy="566928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Flocky</a:t>
            </a:r>
          </a:p>
        </p:txBody>
      </p:sp>
      <p:sp>
        <p:nvSpPr>
          <p:cNvPr id="10" name="Rectangle 9"/>
          <p:cNvSpPr/>
          <p:nvPr/>
        </p:nvSpPr>
        <p:spPr>
          <a:xfrm>
            <a:off x="8828836" y="1572768"/>
            <a:ext cx="2814218" cy="566928"/>
          </a:xfrm>
          <a:prstGeom prst="roundRect">
            <a:avLst>
              <a:gd name="adj" fmla="val 6000"/>
            </a:avLst>
          </a:prstGeom>
          <a:solidFill>
            <a:srgbClr val="C977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28836" y="1572768"/>
            <a:ext cx="2814218" cy="566928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DATOR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231136"/>
            <a:ext cx="2286000" cy="1283208"/>
          </a:xfrm>
          <a:prstGeom prst="roundRect">
            <a:avLst>
              <a:gd name="adj" fmla="val 4000"/>
            </a:avLst>
          </a:prstGeom>
          <a:solidFill>
            <a:srgbClr val="ECEAE4"/>
          </a:solidFill>
          <a:ln w="9525">
            <a:solidFill>
              <a:srgbClr val="CFCB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340864"/>
            <a:ext cx="2057400" cy="1146048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A1A1A"/>
                </a:solidFill>
                <a:latin typeface="Calibri"/>
              </a:rPr>
              <a:t>Main
Question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17520" y="2231136"/>
            <a:ext cx="2814218" cy="1283208"/>
          </a:xfrm>
          <a:prstGeom prst="roundRect">
            <a:avLst>
              <a:gd name="adj" fmla="val 4000"/>
            </a:avLst>
          </a:prstGeom>
          <a:solidFill>
            <a:srgbClr val="F7F5F0"/>
          </a:solidFill>
          <a:ln w="9525">
            <a:solidFill>
              <a:srgbClr val="CFCB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127248" y="2322576"/>
            <a:ext cx="2594762" cy="1146048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Calibri"/>
              </a:rPr>
              <a:t>Which scheduling policy
for the current state?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23178" y="2231136"/>
            <a:ext cx="2814218" cy="1283208"/>
          </a:xfrm>
          <a:prstGeom prst="roundRect">
            <a:avLst>
              <a:gd name="adj" fmla="val 4000"/>
            </a:avLst>
          </a:prstGeom>
          <a:solidFill>
            <a:srgbClr val="F7F5F0"/>
          </a:solidFill>
          <a:ln w="9525">
            <a:solidFill>
              <a:srgbClr val="CFCB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32906" y="2322576"/>
            <a:ext cx="2594762" cy="1146048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Calibri"/>
              </a:rPr>
              <a:t>How can orchestration
be decentralized?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828836" y="2231136"/>
            <a:ext cx="2814218" cy="1283208"/>
          </a:xfrm>
          <a:prstGeom prst="roundRect">
            <a:avLst>
              <a:gd name="adj" fmla="val 4000"/>
            </a:avLst>
          </a:prstGeom>
          <a:solidFill>
            <a:srgbClr val="F7F5F0"/>
          </a:solidFill>
          <a:ln w="9525">
            <a:solidFill>
              <a:srgbClr val="CFCB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38564" y="2322576"/>
            <a:ext cx="2594762" cy="1146048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Calibri"/>
              </a:rPr>
              <a:t>How can inference survive
dynamic nodes &amp; links?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3560064"/>
            <a:ext cx="2286000" cy="1283208"/>
          </a:xfrm>
          <a:prstGeom prst="roundRect">
            <a:avLst>
              <a:gd name="adj" fmla="val 4000"/>
            </a:avLst>
          </a:prstGeom>
          <a:solidFill>
            <a:srgbClr val="ECEAE4"/>
          </a:solidFill>
          <a:ln w="9525">
            <a:solidFill>
              <a:srgbClr val="CFCB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3669792"/>
            <a:ext cx="2057400" cy="1146048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A1A1A"/>
                </a:solidFill>
                <a:latin typeface="Calibri"/>
              </a:rPr>
              <a:t>Method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017520" y="3560064"/>
            <a:ext cx="2814218" cy="1283208"/>
          </a:xfrm>
          <a:prstGeom prst="roundRect">
            <a:avLst>
              <a:gd name="adj" fmla="val 4000"/>
            </a:avLst>
          </a:prstGeom>
          <a:solidFill>
            <a:srgbClr val="F7F5F0"/>
          </a:solidFill>
          <a:ln w="9525">
            <a:solidFill>
              <a:srgbClr val="CFCB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127248" y="3651504"/>
            <a:ext cx="2594762" cy="1146048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Calibri"/>
              </a:rPr>
              <a:t>Deep Q-Network
Policy selection via DRL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23178" y="3560064"/>
            <a:ext cx="2814218" cy="1283208"/>
          </a:xfrm>
          <a:prstGeom prst="roundRect">
            <a:avLst>
              <a:gd name="adj" fmla="val 4000"/>
            </a:avLst>
          </a:prstGeom>
          <a:solidFill>
            <a:srgbClr val="F7F5F0"/>
          </a:solidFill>
          <a:ln w="9525">
            <a:solidFill>
              <a:srgbClr val="CFCB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32906" y="3651504"/>
            <a:ext cx="2594762" cy="1146048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Calibri"/>
              </a:rPr>
              <a:t>Intent + OAM + Metadata
Decentralized discovery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828836" y="3560064"/>
            <a:ext cx="2814218" cy="1283208"/>
          </a:xfrm>
          <a:prstGeom prst="roundRect">
            <a:avLst>
              <a:gd name="adj" fmla="val 4000"/>
            </a:avLst>
          </a:prstGeom>
          <a:solidFill>
            <a:srgbClr val="F7F5F0"/>
          </a:solidFill>
          <a:ln w="9525">
            <a:solidFill>
              <a:srgbClr val="CFCB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938564" y="3651504"/>
            <a:ext cx="2594762" cy="1146048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Calibri"/>
              </a:rPr>
              <a:t>Multi-stage distributed
Local negotiation + rerouting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4888992"/>
            <a:ext cx="2286000" cy="1283208"/>
          </a:xfrm>
          <a:prstGeom prst="roundRect">
            <a:avLst>
              <a:gd name="adj" fmla="val 4000"/>
            </a:avLst>
          </a:prstGeom>
          <a:solidFill>
            <a:srgbClr val="ECEAE4"/>
          </a:solidFill>
          <a:ln w="9525">
            <a:solidFill>
              <a:srgbClr val="CFCB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" y="4998720"/>
            <a:ext cx="2057400" cy="1146048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A1A1A"/>
                </a:solidFill>
                <a:latin typeface="Calibri"/>
              </a:rPr>
              <a:t>Decision
Level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017520" y="4888992"/>
            <a:ext cx="2814218" cy="1283208"/>
          </a:xfrm>
          <a:prstGeom prst="roundRect">
            <a:avLst>
              <a:gd name="adj" fmla="val 4000"/>
            </a:avLst>
          </a:prstGeom>
          <a:solidFill>
            <a:srgbClr val="F7F5F0"/>
          </a:solidFill>
          <a:ln w="9525">
            <a:solidFill>
              <a:srgbClr val="CFCB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127248" y="4980432"/>
            <a:ext cx="2594762" cy="1146048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Calibri"/>
              </a:rPr>
              <a:t>Scheduling policy
selection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923178" y="4888992"/>
            <a:ext cx="2814218" cy="1283208"/>
          </a:xfrm>
          <a:prstGeom prst="roundRect">
            <a:avLst>
              <a:gd name="adj" fmla="val 4000"/>
            </a:avLst>
          </a:prstGeom>
          <a:solidFill>
            <a:srgbClr val="F7F5F0"/>
          </a:solidFill>
          <a:ln w="9525">
            <a:solidFill>
              <a:srgbClr val="CFCB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32906" y="4980432"/>
            <a:ext cx="2594762" cy="1146048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Calibri"/>
              </a:rPr>
              <a:t>App/component
placement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828836" y="4888992"/>
            <a:ext cx="2814218" cy="1283208"/>
          </a:xfrm>
          <a:prstGeom prst="roundRect">
            <a:avLst>
              <a:gd name="adj" fmla="val 4000"/>
            </a:avLst>
          </a:prstGeom>
          <a:solidFill>
            <a:srgbClr val="F7F5F0"/>
          </a:solidFill>
          <a:ln w="9525">
            <a:solidFill>
              <a:srgbClr val="CFCB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938564" y="4980432"/>
            <a:ext cx="2594762" cy="1146048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Calibri"/>
              </a:rPr>
              <a:t>Inference-stage
assignment &amp; routing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048695" y="6446520"/>
            <a:ext cx="594360" cy="32004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r"/>
            <a:r>
              <a:rPr sz="1400" b="0" i="0">
                <a:solidFill>
                  <a:srgbClr val="6B6B6B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94415" cy="292608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6B6B6B"/>
                </a:solidFill>
                <a:latin typeface="Calibri"/>
              </a:rPr>
              <a:t>COMPARATIVE ANALYSIS  ·  2 OF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94415" cy="77724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alibri"/>
              </a:rPr>
              <a:t>Strengths &amp; Challenges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81328"/>
            <a:ext cx="11094415" cy="19050"/>
          </a:xfrm>
          <a:prstGeom prst="rect">
            <a:avLst/>
          </a:prstGeom>
          <a:solidFill>
            <a:srgbClr val="CFCB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017520" y="1572768"/>
            <a:ext cx="2814218" cy="566928"/>
          </a:xfrm>
          <a:prstGeom prst="roundRect">
            <a:avLst>
              <a:gd name="adj" fmla="val 6000"/>
            </a:avLst>
          </a:prstGeom>
          <a:solidFill>
            <a:srgbClr val="1F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17520" y="1572768"/>
            <a:ext cx="2814218" cy="566928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ASET</a:t>
            </a:r>
          </a:p>
        </p:txBody>
      </p:sp>
      <p:sp>
        <p:nvSpPr>
          <p:cNvPr id="8" name="Rectangle 7"/>
          <p:cNvSpPr/>
          <p:nvPr/>
        </p:nvSpPr>
        <p:spPr>
          <a:xfrm>
            <a:off x="5923178" y="1572768"/>
            <a:ext cx="2814218" cy="566928"/>
          </a:xfrm>
          <a:prstGeom prst="roundRect">
            <a:avLst>
              <a:gd name="adj" fmla="val 6000"/>
            </a:avLst>
          </a:prstGeom>
          <a:solidFill>
            <a:srgbClr val="0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23178" y="1572768"/>
            <a:ext cx="2814218" cy="566928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Flocky</a:t>
            </a:r>
          </a:p>
        </p:txBody>
      </p:sp>
      <p:sp>
        <p:nvSpPr>
          <p:cNvPr id="10" name="Rectangle 9"/>
          <p:cNvSpPr/>
          <p:nvPr/>
        </p:nvSpPr>
        <p:spPr>
          <a:xfrm>
            <a:off x="8828836" y="1572768"/>
            <a:ext cx="2814218" cy="566928"/>
          </a:xfrm>
          <a:prstGeom prst="roundRect">
            <a:avLst>
              <a:gd name="adj" fmla="val 6000"/>
            </a:avLst>
          </a:prstGeom>
          <a:solidFill>
            <a:srgbClr val="C977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28836" y="1572768"/>
            <a:ext cx="2814218" cy="566928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DATOR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231136"/>
            <a:ext cx="2286000" cy="1283208"/>
          </a:xfrm>
          <a:prstGeom prst="roundRect">
            <a:avLst>
              <a:gd name="adj" fmla="val 4000"/>
            </a:avLst>
          </a:prstGeom>
          <a:solidFill>
            <a:srgbClr val="ECEAE4"/>
          </a:solidFill>
          <a:ln w="9525">
            <a:solidFill>
              <a:srgbClr val="CFCB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340864"/>
            <a:ext cx="2057400" cy="1146048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A1A1A"/>
                </a:solidFill>
                <a:latin typeface="Calibri"/>
              </a:rPr>
              <a:t>Key
Strength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17520" y="2231136"/>
            <a:ext cx="2814218" cy="1283208"/>
          </a:xfrm>
          <a:prstGeom prst="roundRect">
            <a:avLst>
              <a:gd name="adj" fmla="val 4000"/>
            </a:avLst>
          </a:prstGeom>
          <a:solidFill>
            <a:srgbClr val="F7F5F0"/>
          </a:solidFill>
          <a:ln w="9525">
            <a:solidFill>
              <a:srgbClr val="CFCB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127248" y="2322576"/>
            <a:ext cx="2594762" cy="1146048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Calibri"/>
              </a:rPr>
              <a:t>Workload / network
adaptation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23178" y="2231136"/>
            <a:ext cx="2814218" cy="1283208"/>
          </a:xfrm>
          <a:prstGeom prst="roundRect">
            <a:avLst>
              <a:gd name="adj" fmla="val 4000"/>
            </a:avLst>
          </a:prstGeom>
          <a:solidFill>
            <a:srgbClr val="F7F5F0"/>
          </a:solidFill>
          <a:ln w="9525">
            <a:solidFill>
              <a:srgbClr val="CFCB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32906" y="2322576"/>
            <a:ext cx="2594762" cy="1146048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Calibri"/>
              </a:rPr>
              <a:t>Decentralized coordination
&amp; local knowledge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828836" y="2231136"/>
            <a:ext cx="2814218" cy="1283208"/>
          </a:xfrm>
          <a:prstGeom prst="roundRect">
            <a:avLst>
              <a:gd name="adj" fmla="val 4000"/>
            </a:avLst>
          </a:prstGeom>
          <a:solidFill>
            <a:srgbClr val="F7F5F0"/>
          </a:solidFill>
          <a:ln w="9525">
            <a:solidFill>
              <a:srgbClr val="CFCB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38564" y="2322576"/>
            <a:ext cx="2594762" cy="1146048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Calibri"/>
              </a:rPr>
              <a:t>Self-organization
&amp; resilience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3560064"/>
            <a:ext cx="2286000" cy="1283208"/>
          </a:xfrm>
          <a:prstGeom prst="roundRect">
            <a:avLst>
              <a:gd name="adj" fmla="val 4000"/>
            </a:avLst>
          </a:prstGeom>
          <a:solidFill>
            <a:srgbClr val="ECEAE4"/>
          </a:solidFill>
          <a:ln w="9525">
            <a:solidFill>
              <a:srgbClr val="CFCB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3669792"/>
            <a:ext cx="2057400" cy="1146048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A1A1A"/>
                </a:solidFill>
                <a:latin typeface="Calibri"/>
              </a:rPr>
              <a:t>Challenge
Addressed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017520" y="3560064"/>
            <a:ext cx="2814218" cy="1283208"/>
          </a:xfrm>
          <a:prstGeom prst="roundRect">
            <a:avLst>
              <a:gd name="adj" fmla="val 4000"/>
            </a:avLst>
          </a:prstGeom>
          <a:solidFill>
            <a:srgbClr val="F7F5F0"/>
          </a:solidFill>
          <a:ln w="9525">
            <a:solidFill>
              <a:srgbClr val="CFCB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127248" y="3651504"/>
            <a:ext cx="2594762" cy="1146048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Calibri"/>
              </a:rPr>
              <a:t>Changing system
conditions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23178" y="3560064"/>
            <a:ext cx="2814218" cy="1283208"/>
          </a:xfrm>
          <a:prstGeom prst="roundRect">
            <a:avLst>
              <a:gd name="adj" fmla="val 4000"/>
            </a:avLst>
          </a:prstGeom>
          <a:solidFill>
            <a:srgbClr val="F7F5F0"/>
          </a:solidFill>
          <a:ln w="9525">
            <a:solidFill>
              <a:srgbClr val="CFCB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32906" y="3651504"/>
            <a:ext cx="2594762" cy="1146048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Calibri"/>
              </a:rPr>
              <a:t>Scalable decentralized
orchestration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828836" y="3560064"/>
            <a:ext cx="2814218" cy="1283208"/>
          </a:xfrm>
          <a:prstGeom prst="roundRect">
            <a:avLst>
              <a:gd name="adj" fmla="val 4000"/>
            </a:avLst>
          </a:prstGeom>
          <a:solidFill>
            <a:srgbClr val="F7F5F0"/>
          </a:solidFill>
          <a:ln w="9525">
            <a:solidFill>
              <a:srgbClr val="CFCB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938564" y="3651504"/>
            <a:ext cx="2594762" cy="1146048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Calibri"/>
              </a:rPr>
              <a:t>Node / link failures
&amp; dynamic environments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4888992"/>
            <a:ext cx="2286000" cy="1283208"/>
          </a:xfrm>
          <a:prstGeom prst="roundRect">
            <a:avLst>
              <a:gd name="adj" fmla="val 4000"/>
            </a:avLst>
          </a:prstGeom>
          <a:solidFill>
            <a:srgbClr val="ECEAE4"/>
          </a:solidFill>
          <a:ln w="9525">
            <a:solidFill>
              <a:srgbClr val="CFCB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" y="4998720"/>
            <a:ext cx="2057400" cy="1146048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A1A1A"/>
                </a:solidFill>
                <a:latin typeface="Calibri"/>
              </a:rPr>
              <a:t>Not
Competing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017520" y="4888992"/>
            <a:ext cx="2814218" cy="1283208"/>
          </a:xfrm>
          <a:prstGeom prst="roundRect">
            <a:avLst>
              <a:gd name="adj" fmla="val 4000"/>
            </a:avLst>
          </a:prstGeom>
          <a:solidFill>
            <a:srgbClr val="F7F5F0"/>
          </a:solidFill>
          <a:ln w="9525">
            <a:solidFill>
              <a:srgbClr val="CFCB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127248" y="4980432"/>
            <a:ext cx="2594762" cy="1146048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Calibri"/>
              </a:rPr>
              <a:t>Adaptive decision
making (layer 1)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923178" y="4888992"/>
            <a:ext cx="2814218" cy="1283208"/>
          </a:xfrm>
          <a:prstGeom prst="roundRect">
            <a:avLst>
              <a:gd name="adj" fmla="val 4000"/>
            </a:avLst>
          </a:prstGeom>
          <a:solidFill>
            <a:srgbClr val="F7F5F0"/>
          </a:solidFill>
          <a:ln w="9525">
            <a:solidFill>
              <a:srgbClr val="CFCB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32906" y="4980432"/>
            <a:ext cx="2594762" cy="1146048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Calibri"/>
              </a:rPr>
              <a:t>Decentralized coordination
(layer 2)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828836" y="4888992"/>
            <a:ext cx="2814218" cy="1283208"/>
          </a:xfrm>
          <a:prstGeom prst="roundRect">
            <a:avLst>
              <a:gd name="adj" fmla="val 4000"/>
            </a:avLst>
          </a:prstGeom>
          <a:solidFill>
            <a:srgbClr val="F7F5F0"/>
          </a:solidFill>
          <a:ln w="9525">
            <a:solidFill>
              <a:srgbClr val="CFCB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938564" y="4980432"/>
            <a:ext cx="2594762" cy="1146048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Calibri"/>
              </a:rPr>
              <a:t>Dynamic execution
&amp; recovery (layer 3)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048695" y="6446520"/>
            <a:ext cx="594360" cy="32004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r"/>
            <a:r>
              <a:rPr sz="1400" b="0" i="0">
                <a:solidFill>
                  <a:srgbClr val="6B6B6B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94415" cy="292608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6B6B6B"/>
                </a:solidFill>
                <a:latin typeface="Calibri"/>
              </a:rPr>
              <a:t>SYNTHESIS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94415" cy="77724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alibri"/>
              </a:rPr>
              <a:t>Three Papers · One Problem Space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81328"/>
            <a:ext cx="11094415" cy="19050"/>
          </a:xfrm>
          <a:prstGeom prst="rect">
            <a:avLst/>
          </a:prstGeom>
          <a:solidFill>
            <a:srgbClr val="CFCB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72768"/>
            <a:ext cx="3576218" cy="1828800"/>
          </a:xfrm>
          <a:prstGeom prst="roundRect">
            <a:avLst>
              <a:gd name="adj" fmla="val 8000"/>
            </a:avLst>
          </a:prstGeom>
          <a:solidFill>
            <a:srgbClr val="ECEAE4"/>
          </a:solidFill>
          <a:ln w="19050">
            <a:solidFill>
              <a:srgbClr val="CFCB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572768"/>
            <a:ext cx="3576218" cy="54864"/>
          </a:xfrm>
          <a:prstGeom prst="rect">
            <a:avLst/>
          </a:prstGeom>
          <a:solidFill>
            <a:srgbClr val="1F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82496"/>
            <a:ext cx="3210458" cy="54864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F4E8C"/>
                </a:solidFill>
                <a:latin typeface="Calibri"/>
              </a:rPr>
              <a:t>ASET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231136"/>
            <a:ext cx="3210458" cy="347472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1A1A1A"/>
                </a:solidFill>
                <a:latin typeface="Calibri"/>
              </a:rPr>
              <a:t>Adaptive Scheduling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596896"/>
            <a:ext cx="3210458" cy="621792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2000" b="0" i="0">
                <a:solidFill>
                  <a:srgbClr val="6B6B6B"/>
                </a:solidFill>
                <a:latin typeface="Calibri"/>
              </a:rPr>
              <a:t>State-aware policy selection via DRL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07738" y="1572768"/>
            <a:ext cx="3576218" cy="1828800"/>
          </a:xfrm>
          <a:prstGeom prst="roundRect">
            <a:avLst>
              <a:gd name="adj" fmla="val 8000"/>
            </a:avLst>
          </a:prstGeom>
          <a:solidFill>
            <a:srgbClr val="ECEAE4"/>
          </a:solidFill>
          <a:ln w="19050">
            <a:solidFill>
              <a:srgbClr val="CFCB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07738" y="1572768"/>
            <a:ext cx="3576218" cy="54864"/>
          </a:xfrm>
          <a:prstGeom prst="rect">
            <a:avLst/>
          </a:prstGeom>
          <a:solidFill>
            <a:srgbClr val="0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90618" y="1682496"/>
            <a:ext cx="3210458" cy="54864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0F6B6B"/>
                </a:solidFill>
                <a:latin typeface="Calibri"/>
              </a:rPr>
              <a:t>Flocky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90618" y="2231136"/>
            <a:ext cx="3210458" cy="347472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1A1A1A"/>
                </a:solidFill>
                <a:latin typeface="Calibri"/>
              </a:rPr>
              <a:t>Decentralized Orchestration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90618" y="2596896"/>
            <a:ext cx="3210458" cy="621792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2000" b="0" i="0">
                <a:solidFill>
                  <a:srgbClr val="6B6B6B"/>
                </a:solidFill>
                <a:latin typeface="Calibri"/>
              </a:rPr>
              <a:t>Intent + OAM + local discovery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66836" y="1572768"/>
            <a:ext cx="3576218" cy="1828800"/>
          </a:xfrm>
          <a:prstGeom prst="roundRect">
            <a:avLst>
              <a:gd name="adj" fmla="val 8000"/>
            </a:avLst>
          </a:prstGeom>
          <a:solidFill>
            <a:srgbClr val="ECEAE4"/>
          </a:solidFill>
          <a:ln w="19050">
            <a:solidFill>
              <a:srgbClr val="CFCB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66836" y="1572768"/>
            <a:ext cx="3576218" cy="54864"/>
          </a:xfrm>
          <a:prstGeom prst="rect">
            <a:avLst/>
          </a:prstGeom>
          <a:solidFill>
            <a:srgbClr val="C977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49716" y="1682496"/>
            <a:ext cx="3210458" cy="54864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C9772E"/>
                </a:solidFill>
                <a:latin typeface="Calibri"/>
              </a:rPr>
              <a:t>DATOR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2231136"/>
            <a:ext cx="3210458" cy="347472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1A1A1A"/>
                </a:solidFill>
                <a:latin typeface="Calibri"/>
              </a:rPr>
              <a:t>Dynamic Resilient Inference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2596896"/>
            <a:ext cx="3210458" cy="621792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2000" b="0" i="0">
                <a:solidFill>
                  <a:srgbClr val="6B6B6B"/>
                </a:solidFill>
                <a:latin typeface="Calibri"/>
              </a:rPr>
              <a:t>Multi-stage + rerouting + self-org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291029" y="3401568"/>
            <a:ext cx="3804818" cy="457200"/>
          </a:xfrm>
          <a:prstGeom prst="line">
            <a:avLst/>
          </a:prstGeom>
          <a:ln w="19050">
            <a:solidFill>
              <a:srgbClr val="6B6B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6050127" y="3401568"/>
            <a:ext cx="45720" cy="457200"/>
          </a:xfrm>
          <a:prstGeom prst="line">
            <a:avLst/>
          </a:prstGeom>
          <a:ln w="19050">
            <a:solidFill>
              <a:srgbClr val="6B6B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6095847" y="3401568"/>
            <a:ext cx="3713378" cy="457200"/>
          </a:xfrm>
          <a:prstGeom prst="line">
            <a:avLst/>
          </a:prstGeom>
          <a:ln w="19050">
            <a:solidFill>
              <a:srgbClr val="6B6B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548640" y="3858768"/>
            <a:ext cx="11094415" cy="2313432"/>
          </a:xfrm>
          <a:prstGeom prst="roundRect">
            <a:avLst>
              <a:gd name="adj" fmla="val 8000"/>
            </a:avLst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4087368"/>
            <a:ext cx="10545775" cy="54864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INTELLIGENT DISTRIBUTED EDGE AI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4727448"/>
            <a:ext cx="1684477" cy="566928"/>
          </a:xfrm>
          <a:prstGeom prst="roundRect">
            <a:avLst>
              <a:gd name="adj" fmla="val 6000"/>
            </a:avLst>
          </a:prstGeom>
          <a:noFill/>
          <a:ln w="19050">
            <a:solidFill>
              <a:srgbClr val="1F4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4727448"/>
            <a:ext cx="1684477" cy="566928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1F4E8C"/>
                </a:solidFill>
                <a:latin typeface="Calibri"/>
              </a:rPr>
              <a:t>Observe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80589" y="4727448"/>
            <a:ext cx="1684477" cy="566928"/>
          </a:xfrm>
          <a:prstGeom prst="roundRect">
            <a:avLst>
              <a:gd name="adj" fmla="val 6000"/>
            </a:avLst>
          </a:prstGeom>
          <a:noFill/>
          <a:ln w="19050">
            <a:solidFill>
              <a:srgbClr val="1F4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580589" y="4727448"/>
            <a:ext cx="1684477" cy="566928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1F4E8C"/>
                </a:solidFill>
                <a:latin typeface="Calibri"/>
              </a:rPr>
              <a:t>Decide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38218" y="4727448"/>
            <a:ext cx="1684477" cy="566928"/>
          </a:xfrm>
          <a:prstGeom prst="roundRect">
            <a:avLst>
              <a:gd name="adj" fmla="val 6000"/>
            </a:avLst>
          </a:prstGeom>
          <a:noFill/>
          <a:ln w="19050">
            <a:solidFill>
              <a:srgbClr val="0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338218" y="4727448"/>
            <a:ext cx="1684477" cy="566928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0F6B6B"/>
                </a:solidFill>
                <a:latin typeface="Calibri"/>
              </a:rPr>
              <a:t>Coordinate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95847" y="4727448"/>
            <a:ext cx="1684477" cy="566928"/>
          </a:xfrm>
          <a:prstGeom prst="roundRect">
            <a:avLst>
              <a:gd name="adj" fmla="val 6000"/>
            </a:avLst>
          </a:prstGeom>
          <a:noFill/>
          <a:ln w="19050">
            <a:solidFill>
              <a:srgbClr val="0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95847" y="4727448"/>
            <a:ext cx="1684477" cy="566928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0F6B6B"/>
                </a:solidFill>
                <a:latin typeface="Calibri"/>
              </a:rPr>
              <a:t>Execute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853476" y="4727448"/>
            <a:ext cx="1684477" cy="566928"/>
          </a:xfrm>
          <a:prstGeom prst="roundRect">
            <a:avLst>
              <a:gd name="adj" fmla="val 6000"/>
            </a:avLst>
          </a:prstGeom>
          <a:noFill/>
          <a:ln w="19050">
            <a:solidFill>
              <a:srgbClr val="C977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853476" y="4727448"/>
            <a:ext cx="1684477" cy="566928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C9772E"/>
                </a:solidFill>
                <a:latin typeface="Calibri"/>
              </a:rPr>
              <a:t>Adapt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611105" y="4727448"/>
            <a:ext cx="1684477" cy="566928"/>
          </a:xfrm>
          <a:prstGeom prst="roundRect">
            <a:avLst>
              <a:gd name="adj" fmla="val 6000"/>
            </a:avLst>
          </a:prstGeom>
          <a:noFill/>
          <a:ln w="19050">
            <a:solidFill>
              <a:srgbClr val="C977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611105" y="4727448"/>
            <a:ext cx="1684477" cy="566928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C9772E"/>
                </a:solidFill>
                <a:latin typeface="Calibri"/>
              </a:rPr>
              <a:t>Recover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" y="5367528"/>
            <a:ext cx="10545775" cy="45720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ctr"/>
            <a:r>
              <a:rPr sz="2000" b="0" i="0">
                <a:solidFill>
                  <a:srgbClr val="6B6B6B"/>
                </a:solidFill>
                <a:latin typeface="Calibri"/>
              </a:rPr>
              <a:t>Adaptive scheduling  +  Decentralized orchestration  +  Resilient inference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48695" y="6446520"/>
            <a:ext cx="594360" cy="32004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r"/>
            <a:r>
              <a:rPr sz="1400" b="0" i="0">
                <a:solidFill>
                  <a:srgbClr val="6B6B6B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94415" cy="292608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6B6B6B"/>
                </a:solidFill>
                <a:latin typeface="Calibri"/>
              </a:rPr>
              <a:t>FUTURE DIRECTIONS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94415" cy="77724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alibri"/>
              </a:rPr>
              <a:t>Open Questions in Edge AI Coordination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81328"/>
            <a:ext cx="11094415" cy="19050"/>
          </a:xfrm>
          <a:prstGeom prst="rect">
            <a:avLst/>
          </a:prstGeom>
          <a:solidFill>
            <a:srgbClr val="CFCB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72768"/>
            <a:ext cx="5029200" cy="2194560"/>
          </a:xfrm>
          <a:prstGeom prst="roundRect">
            <a:avLst>
              <a:gd name="adj" fmla="val 8000"/>
            </a:avLst>
          </a:prstGeom>
          <a:solidFill>
            <a:srgbClr val="ECEAE4"/>
          </a:solidFill>
          <a:ln w="12700">
            <a:solidFill>
              <a:srgbClr val="CFCB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737360"/>
            <a:ext cx="4663440" cy="36576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Calibri"/>
              </a:rPr>
              <a:t>Demonstrated by the Three Papers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148840"/>
            <a:ext cx="4663440" cy="1453896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2000" b="0">
                <a:solidFill>
                  <a:srgbClr val="6B6B6B"/>
                </a:solidFill>
                <a:latin typeface="Calibri"/>
              </a:rPr>
              <a:t>Adaptive scheduling (ASET)</a:t>
            </a:r>
          </a:p>
          <a:p>
            <a:pPr algn="l"/>
            <a:r>
              <a:rPr sz="2000" b="0">
                <a:solidFill>
                  <a:srgbClr val="6B6B6B"/>
                </a:solidFill>
                <a:latin typeface="Calibri"/>
              </a:rPr>
              <a:t>Decentralized orchestration (Flocky)</a:t>
            </a:r>
          </a:p>
          <a:p>
            <a:pPr algn="l"/>
            <a:r>
              <a:rPr sz="2000" b="0">
                <a:solidFill>
                  <a:srgbClr val="6B6B6B"/>
                </a:solidFill>
                <a:latin typeface="Calibri"/>
              </a:rPr>
              <a:t>Dynamic self-organization (DATOR)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0" y="1572768"/>
            <a:ext cx="2767431" cy="701040"/>
          </a:xfrm>
          <a:prstGeom prst="roundRect">
            <a:avLst>
              <a:gd name="adj" fmla="val 6000"/>
            </a:avLst>
          </a:prstGeom>
          <a:solidFill>
            <a:srgbClr val="ECEAE4"/>
          </a:solidFill>
          <a:ln w="12700">
            <a:solidFill>
              <a:srgbClr val="CFCB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1618488"/>
            <a:ext cx="2493111" cy="60960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Calibri"/>
              </a:rPr>
              <a:t>Richer state-aware scheduling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875623" y="1572768"/>
            <a:ext cx="2767431" cy="701040"/>
          </a:xfrm>
          <a:prstGeom prst="roundRect">
            <a:avLst>
              <a:gd name="adj" fmla="val 6000"/>
            </a:avLst>
          </a:prstGeom>
          <a:solidFill>
            <a:srgbClr val="ECEAE4"/>
          </a:solidFill>
          <a:ln w="12700">
            <a:solidFill>
              <a:srgbClr val="CFCB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12783" y="1618488"/>
            <a:ext cx="2493111" cy="60960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Calibri"/>
              </a:rPr>
              <a:t>Decentralized discovery at scale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0" y="2365248"/>
            <a:ext cx="2767431" cy="701040"/>
          </a:xfrm>
          <a:prstGeom prst="roundRect">
            <a:avLst>
              <a:gd name="adj" fmla="val 6000"/>
            </a:avLst>
          </a:prstGeom>
          <a:solidFill>
            <a:srgbClr val="ECEAE4"/>
          </a:solidFill>
          <a:ln w="12700">
            <a:solidFill>
              <a:srgbClr val="CFCB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80760" y="2410968"/>
            <a:ext cx="2493111" cy="60960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Calibri"/>
              </a:rPr>
              <a:t>Energy-aware dynamic routing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875623" y="2365248"/>
            <a:ext cx="2767431" cy="701040"/>
          </a:xfrm>
          <a:prstGeom prst="roundRect">
            <a:avLst>
              <a:gd name="adj" fmla="val 6000"/>
            </a:avLst>
          </a:prstGeom>
          <a:solidFill>
            <a:srgbClr val="ECEAE4"/>
          </a:solidFill>
          <a:ln w="12700">
            <a:solidFill>
              <a:srgbClr val="CFCB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12783" y="2410968"/>
            <a:ext cx="2493111" cy="60960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Calibri"/>
              </a:rPr>
              <a:t>Multimodal AI inference at edge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43600" y="3157728"/>
            <a:ext cx="2767431" cy="701040"/>
          </a:xfrm>
          <a:prstGeom prst="roundRect">
            <a:avLst>
              <a:gd name="adj" fmla="val 6000"/>
            </a:avLst>
          </a:prstGeom>
          <a:solidFill>
            <a:srgbClr val="ECEAE4"/>
          </a:solidFill>
          <a:ln w="12700">
            <a:solidFill>
              <a:srgbClr val="CFCB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080760" y="3203448"/>
            <a:ext cx="2493111" cy="60960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Calibri"/>
              </a:rPr>
              <a:t>Cross-layer integration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875623" y="3157728"/>
            <a:ext cx="2767431" cy="701040"/>
          </a:xfrm>
          <a:prstGeom prst="roundRect">
            <a:avLst>
              <a:gd name="adj" fmla="val 6000"/>
            </a:avLst>
          </a:prstGeom>
          <a:solidFill>
            <a:srgbClr val="ECEAE4"/>
          </a:solidFill>
          <a:ln w="12700">
            <a:solidFill>
              <a:srgbClr val="CFCB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12783" y="3203448"/>
            <a:ext cx="2493111" cy="60960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Calibri"/>
              </a:rPr>
              <a:t>Fault tolerance in large clusters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3904488"/>
            <a:ext cx="11094415" cy="2313432"/>
          </a:xfrm>
          <a:prstGeom prst="roundRect">
            <a:avLst>
              <a:gd name="adj" fmla="val 8000"/>
            </a:avLst>
          </a:prstGeom>
          <a:solidFill>
            <a:srgbClr val="ECEAE4"/>
          </a:solidFill>
          <a:ln w="12700">
            <a:solidFill>
              <a:srgbClr val="CFCB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4069080"/>
            <a:ext cx="10728655" cy="36576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Calibri"/>
              </a:rPr>
              <a:t>Integration Vision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4480560"/>
            <a:ext cx="10728655" cy="1572768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2000" b="0">
                <a:solidFill>
                  <a:srgbClr val="6B6B6B"/>
                </a:solidFill>
                <a:latin typeface="Calibri"/>
              </a:rPr>
              <a:t>A unified edge system that can simultaneously: observe state,</a:t>
            </a:r>
          </a:p>
          <a:p>
            <a:pPr algn="l"/>
            <a:r>
              <a:rPr sz="2000" b="0">
                <a:solidFill>
                  <a:srgbClr val="6B6B6B"/>
                </a:solidFill>
                <a:latin typeface="Calibri"/>
              </a:rPr>
              <a:t>select resources, coordinate nodes, adapt, and recover.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48695" y="6446520"/>
            <a:ext cx="594360" cy="32004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r"/>
            <a:r>
              <a:rPr sz="1400" b="0" i="0">
                <a:solidFill>
                  <a:srgbClr val="6B6B6B"/>
                </a:solidFill>
                <a:latin typeface="Calibri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94415" cy="292608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6B6B6B"/>
                </a:solidFill>
                <a:latin typeface="Calibri"/>
              </a:rP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94415" cy="77724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alibri"/>
              </a:rPr>
              <a:t>Key Takeaways &amp; References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81328"/>
            <a:ext cx="11094415" cy="19050"/>
          </a:xfrm>
          <a:prstGeom prst="rect">
            <a:avLst/>
          </a:prstGeom>
          <a:solidFill>
            <a:srgbClr val="CFCB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72768"/>
            <a:ext cx="3576218" cy="1691640"/>
          </a:xfrm>
          <a:prstGeom prst="roundRect">
            <a:avLst>
              <a:gd name="adj" fmla="val 8000"/>
            </a:avLst>
          </a:prstGeom>
          <a:solidFill>
            <a:srgbClr val="ECEAE4"/>
          </a:solidFill>
          <a:ln w="12700">
            <a:solidFill>
              <a:srgbClr val="CFCB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572768"/>
            <a:ext cx="64008" cy="1691640"/>
          </a:xfrm>
          <a:prstGeom prst="roundRect">
            <a:avLst>
              <a:gd name="adj" fmla="val 8000"/>
            </a:avLst>
          </a:prstGeom>
          <a:solidFill>
            <a:srgbClr val="1F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5528" y="1737360"/>
            <a:ext cx="3146450" cy="36576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F4E8C"/>
                </a:solidFill>
                <a:latin typeface="Calibri"/>
              </a:rPr>
              <a:t>ASET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8" y="2148840"/>
            <a:ext cx="3146450" cy="950976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2000" b="0">
                <a:solidFill>
                  <a:srgbClr val="6B6B6B"/>
                </a:solidFill>
                <a:latin typeface="Calibri"/>
              </a:rPr>
              <a:t>Deep Q-Learning meta-scheduler</a:t>
            </a:r>
          </a:p>
          <a:p>
            <a:pPr algn="l"/>
            <a:r>
              <a:rPr sz="2000" b="0">
                <a:solidFill>
                  <a:srgbClr val="6B6B6B"/>
                </a:solidFill>
                <a:latin typeface="Calibri"/>
              </a:rPr>
              <a:t>Selects policy, not node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07738" y="1572768"/>
            <a:ext cx="3576218" cy="1691640"/>
          </a:xfrm>
          <a:prstGeom prst="roundRect">
            <a:avLst>
              <a:gd name="adj" fmla="val 8000"/>
            </a:avLst>
          </a:prstGeom>
          <a:solidFill>
            <a:srgbClr val="ECEAE4"/>
          </a:solidFill>
          <a:ln w="12700">
            <a:solidFill>
              <a:srgbClr val="CFCB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07738" y="1572768"/>
            <a:ext cx="64008" cy="1691640"/>
          </a:xfrm>
          <a:prstGeom prst="roundRect">
            <a:avLst>
              <a:gd name="adj" fmla="val 8000"/>
            </a:avLst>
          </a:prstGeom>
          <a:solidFill>
            <a:srgbClr val="0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54626" y="1737360"/>
            <a:ext cx="3146450" cy="36576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0F6B6B"/>
                </a:solidFill>
                <a:latin typeface="Calibri"/>
              </a:rPr>
              <a:t>Flocky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54626" y="2148840"/>
            <a:ext cx="3146450" cy="950976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2000" b="0">
                <a:solidFill>
                  <a:srgbClr val="6B6B6B"/>
                </a:solidFill>
                <a:latin typeface="Calibri"/>
              </a:rPr>
              <a:t>Decentralized OAM orchestration</a:t>
            </a:r>
          </a:p>
          <a:p>
            <a:pPr algn="l"/>
            <a:r>
              <a:rPr sz="2000" b="0">
                <a:solidFill>
                  <a:srgbClr val="6B6B6B"/>
                </a:solidFill>
                <a:latin typeface="Calibri"/>
              </a:rPr>
              <a:t>Local discovery and matching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66836" y="1572768"/>
            <a:ext cx="3576218" cy="1691640"/>
          </a:xfrm>
          <a:prstGeom prst="roundRect">
            <a:avLst>
              <a:gd name="adj" fmla="val 8000"/>
            </a:avLst>
          </a:prstGeom>
          <a:solidFill>
            <a:srgbClr val="ECEAE4"/>
          </a:solidFill>
          <a:ln w="12700">
            <a:solidFill>
              <a:srgbClr val="CFCB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66836" y="1572768"/>
            <a:ext cx="64008" cy="1691640"/>
          </a:xfrm>
          <a:prstGeom prst="roundRect">
            <a:avLst>
              <a:gd name="adj" fmla="val 8000"/>
            </a:avLst>
          </a:prstGeom>
          <a:solidFill>
            <a:srgbClr val="C977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13724" y="1737360"/>
            <a:ext cx="3146450" cy="36576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C9772E"/>
                </a:solidFill>
                <a:latin typeface="Calibri"/>
              </a:rPr>
              <a:t>DATOR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13724" y="2148840"/>
            <a:ext cx="3146450" cy="950976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2000" b="0">
                <a:solidFill>
                  <a:srgbClr val="6B6B6B"/>
                </a:solidFill>
                <a:latin typeface="Calibri"/>
              </a:rPr>
              <a:t>Self-organized neural inference</a:t>
            </a:r>
          </a:p>
          <a:p>
            <a:pPr algn="l"/>
            <a:r>
              <a:rPr sz="2000" b="0">
                <a:solidFill>
                  <a:srgbClr val="6B6B6B"/>
                </a:solidFill>
                <a:latin typeface="Calibri"/>
              </a:rPr>
              <a:t>Dynamic rerouting resilience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401568"/>
            <a:ext cx="11094415" cy="438912"/>
          </a:xfrm>
          <a:prstGeom prst="roundRect">
            <a:avLst>
              <a:gd name="adj" fmla="val 6000"/>
            </a:avLst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447288"/>
            <a:ext cx="10545775" cy="347472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Adaptive Scheduling  +  Decentralized Orchestration  +  Resilient Inference  =  Intelligent Edge AI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3977640"/>
            <a:ext cx="11094415" cy="2240280"/>
          </a:xfrm>
          <a:prstGeom prst="roundRect">
            <a:avLst>
              <a:gd name="adj" fmla="val 6000"/>
            </a:avLst>
          </a:prstGeom>
          <a:solidFill>
            <a:srgbClr val="ECEAE4"/>
          </a:solidFill>
          <a:ln w="12700">
            <a:solidFill>
              <a:srgbClr val="CFCB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4069080"/>
            <a:ext cx="10728655" cy="292608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6B6B6B"/>
                </a:solidFill>
                <a:latin typeface="Calibri"/>
              </a:rPr>
              <a:t>References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4389120"/>
            <a:ext cx="10728655" cy="41148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6B6B6B"/>
                </a:solidFill>
                <a:latin typeface="Calibri"/>
              </a:rPr>
              <a:t>[1]  G. Castellano et al., "Scheduling Inference Workloads in the Computing Continuum with RL," IEEE ICDCS Wkshps, 2025, pp. 297-302. DOI: 10.1109/ICDCSW63273.2025.00056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4892040"/>
            <a:ext cx="10728655" cy="41148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6B6B6B"/>
                </a:solidFill>
                <a:latin typeface="Calibri"/>
              </a:rPr>
              <a:t>[2]  T. Goethals et al., "Flocky: Decentralized Intent-based Edge Orchestration Using OAM," IEEE TSC, vol. 19, no. 1, pp. 380-395, 2026. DOI: 10.1109/TSC.2025.3631387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394960"/>
            <a:ext cx="10728655" cy="41148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6B6B6B"/>
                </a:solidFill>
                <a:latin typeface="Calibri"/>
              </a:rPr>
              <a:t>[3]  M. Schrauth et al., "Self-Organized Neural Network Inference in Dynamic Edge Networks," Applied Sciences, vol. 15, no. 23, 12615, 2025. DOI: 10.3390/app152312615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48695" y="6446520"/>
            <a:ext cx="594360" cy="320040"/>
          </a:xfrm>
          <a:prstGeom prst="rect">
            <a:avLst/>
          </a:prstGeom>
          <a:noFill/>
        </p:spPr>
        <p:txBody>
          <a:bodyPr wrap="square" autofit="noAutofit" lIns="0" rIns="0" tIns="0" bIns="0">
            <a:spAutoFit/>
          </a:bodyPr>
          <a:lstStyle/>
          <a:p>
            <a:pPr algn="r"/>
            <a:r>
              <a:rPr sz="1400" b="0" i="0">
                <a:solidFill>
                  <a:srgbClr val="6B6B6B"/>
                </a:solidFill>
                <a:latin typeface="Calibri"/>
              </a:rPr>
              <a:t>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